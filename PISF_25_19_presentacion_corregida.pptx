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6.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8" r:id="rId6"/>
    <p:sldId id="269" r:id="rId7"/>
    <p:sldId id="260" r:id="rId8"/>
    <p:sldId id="270" r:id="rId9"/>
    <p:sldId id="261" r:id="rId10"/>
    <p:sldId id="262" r:id="rId11"/>
    <p:sldId id="263" r:id="rId12"/>
    <p:sldId id="264" r:id="rId13"/>
    <p:sldId id="265" r:id="rId14"/>
    <p:sldId id="266" r:id="rId15"/>
    <p:sldId id="267" r:id="rId16"/>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CBAA8B-9EAD-DB42-B2A5-688690C41DC4}" v="2" dt="2026-10-19T03:03:26.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p:scale>
          <a:sx n="141" d="100"/>
          <a:sy n="141" d="100"/>
        </p:scale>
        <p:origin x="-1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EQUIEL HAFID ORDONEZ GUISCASHO" userId="87971aca-5659-4d56-a308-33b835c317ad" providerId="ADAL" clId="{848B1F76-08DE-57D6-ABBA-6C8D0533C1E2}"/>
    <pc:docChg chg="custSel modSld">
      <pc:chgData name="EZEQUIEL HAFID ORDONEZ GUISCASHO" userId="87971aca-5659-4d56-a308-33b835c317ad" providerId="ADAL" clId="{848B1F76-08DE-57D6-ABBA-6C8D0533C1E2}" dt="2026-10-19T03:03:26.362" v="6"/>
      <pc:docMkLst>
        <pc:docMk/>
      </pc:docMkLst>
      <pc:sldChg chg="addSp delSp modSp mod">
        <pc:chgData name="EZEQUIEL HAFID ORDONEZ GUISCASHO" userId="87971aca-5659-4d56-a308-33b835c317ad" providerId="ADAL" clId="{848B1F76-08DE-57D6-ABBA-6C8D0533C1E2}" dt="2026-10-19T03:03:26.362" v="6"/>
        <pc:sldMkLst>
          <pc:docMk/>
          <pc:sldMk cId="1895771411" sldId="270"/>
        </pc:sldMkLst>
        <pc:picChg chg="del mod">
          <ac:chgData name="EZEQUIEL HAFID ORDONEZ GUISCASHO" userId="87971aca-5659-4d56-a308-33b835c317ad" providerId="ADAL" clId="{848B1F76-08DE-57D6-ABBA-6C8D0533C1E2}" dt="2026-10-19T02:49:09.978" v="2" actId="478"/>
          <ac:picMkLst>
            <pc:docMk/>
            <pc:sldMk cId="1895771411" sldId="270"/>
            <ac:picMk id="7" creationId="{16973E4D-9526-1AD2-B9A0-470A978B8842}"/>
          </ac:picMkLst>
        </pc:picChg>
        <pc:picChg chg="add del mod">
          <ac:chgData name="EZEQUIEL HAFID ORDONEZ GUISCASHO" userId="87971aca-5659-4d56-a308-33b835c317ad" providerId="ADAL" clId="{848B1F76-08DE-57D6-ABBA-6C8D0533C1E2}" dt="2026-10-19T03:03:25.774" v="5" actId="478"/>
          <ac:picMkLst>
            <pc:docMk/>
            <pc:sldMk cId="1895771411" sldId="270"/>
            <ac:picMk id="8" creationId="{B5201EAB-8FEA-C752-9834-14D286E054B9}"/>
          </ac:picMkLst>
        </pc:picChg>
        <pc:picChg chg="add mod">
          <ac:chgData name="EZEQUIEL HAFID ORDONEZ GUISCASHO" userId="87971aca-5659-4d56-a308-33b835c317ad" providerId="ADAL" clId="{848B1F76-08DE-57D6-ABBA-6C8D0533C1E2}" dt="2026-10-19T03:03:26.362" v="6"/>
          <ac:picMkLst>
            <pc:docMk/>
            <pc:sldMk cId="1895771411" sldId="270"/>
            <ac:picMk id="9" creationId="{1B915472-23A5-100D-24E8-10BDAD4C137E}"/>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MX"/>
  <c:roundedCorners val="1"/>
  <c:style val="2"/>
  <c:chart>
    <c:autoTitleDeleted val="1"/>
    <c:plotArea>
      <c:layout/>
      <c:barChart>
        <c:barDir val="col"/>
        <c:grouping val="clustered"/>
        <c:varyColors val="0"/>
        <c:ser>
          <c:idx val="0"/>
          <c:order val="0"/>
          <c:tx>
            <c:v>Requeridas por el medio laboral</c:v>
          </c:tx>
          <c:spPr>
            <a:solidFill>
              <a:srgbClr val="102B46"/>
            </a:solidFill>
          </c:spPr>
          <c:invertIfNegative val="0"/>
          <c:dLbls>
            <c:spPr>
              <a:noFill/>
              <a:ln>
                <a:noFill/>
              </a:ln>
              <a:effectLst/>
            </c:spPr>
            <c:txPr>
              <a:bodyPr anchorCtr="1"/>
              <a:lstStyle/>
              <a:p>
                <a:pPr>
                  <a:defRPr sz="1350">
                    <a:latin typeface="DejaVu Sans"/>
                    <a:ea typeface="DejaVu Sans"/>
                    <a:cs typeface="DejaVu Sans"/>
                  </a:defRPr>
                </a:pPr>
                <a:endParaRPr lang="es-EC"/>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Trabajo en grupo</c:v>
                </c:pt>
                <c:pt idx="1">
                  <c:v>Organización</c:v>
                </c:pt>
                <c:pt idx="2">
                  <c:v>Comunicación</c:v>
                </c:pt>
                <c:pt idx="3">
                  <c:v>Liderazgo</c:v>
                </c:pt>
              </c:strCache>
            </c:strRef>
          </c:cat>
          <c:val>
            <c:numRef>
              <c:f>'Chart Data'!$B$2:$B$5</c:f>
              <c:numCache>
                <c:formatCode>General</c:formatCode>
                <c:ptCount val="4"/>
                <c:pt idx="0">
                  <c:v>120</c:v>
                </c:pt>
                <c:pt idx="1">
                  <c:v>124</c:v>
                </c:pt>
                <c:pt idx="2">
                  <c:v>125</c:v>
                </c:pt>
                <c:pt idx="3">
                  <c:v>128</c:v>
                </c:pt>
              </c:numCache>
            </c:numRef>
          </c:val>
          <c:extLst>
            <c:ext xmlns:c16="http://schemas.microsoft.com/office/drawing/2014/chart" uri="{C3380CC4-5D6E-409C-BE32-E72D297353CC}">
              <c16:uniqueId val="{00000000-F8D3-A646-87C8-E4BB1FB28CA3}"/>
            </c:ext>
          </c:extLst>
        </c:ser>
        <c:ser>
          <c:idx val="1"/>
          <c:order val="1"/>
          <c:tx>
            <c:v>Desarrolladas en la EPN</c:v>
          </c:tx>
          <c:spPr>
            <a:solidFill>
              <a:srgbClr val="007F7B"/>
            </a:solidFill>
          </c:spPr>
          <c:invertIfNegative val="0"/>
          <c:dLbls>
            <c:spPr>
              <a:noFill/>
              <a:ln>
                <a:noFill/>
              </a:ln>
              <a:effectLst/>
            </c:spPr>
            <c:txPr>
              <a:bodyPr anchorCtr="1"/>
              <a:lstStyle/>
              <a:p>
                <a:pPr>
                  <a:defRPr sz="1350">
                    <a:latin typeface="DejaVu Sans"/>
                    <a:ea typeface="DejaVu Sans"/>
                    <a:cs typeface="DejaVu Sans"/>
                  </a:defRPr>
                </a:pPr>
                <a:endParaRPr lang="es-EC"/>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Trabajo en grupo</c:v>
                </c:pt>
                <c:pt idx="1">
                  <c:v>Organización</c:v>
                </c:pt>
                <c:pt idx="2">
                  <c:v>Comunicación</c:v>
                </c:pt>
                <c:pt idx="3">
                  <c:v>Liderazgo</c:v>
                </c:pt>
              </c:strCache>
            </c:strRef>
          </c:cat>
          <c:val>
            <c:numRef>
              <c:f>'Chart Data'!$D$2:$D$5</c:f>
              <c:numCache>
                <c:formatCode>General</c:formatCode>
                <c:ptCount val="4"/>
                <c:pt idx="0">
                  <c:v>47</c:v>
                </c:pt>
                <c:pt idx="1">
                  <c:v>74</c:v>
                </c:pt>
                <c:pt idx="2">
                  <c:v>26</c:v>
                </c:pt>
                <c:pt idx="3">
                  <c:v>22</c:v>
                </c:pt>
              </c:numCache>
            </c:numRef>
          </c:val>
          <c:extLst>
            <c:ext xmlns:c16="http://schemas.microsoft.com/office/drawing/2014/chart" uri="{C3380CC4-5D6E-409C-BE32-E72D297353CC}">
              <c16:uniqueId val="{00000001-F8D3-A646-87C8-E4BB1FB28CA3}"/>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DejaVu Sans"/>
                <a:ea typeface="DejaVu Sans"/>
                <a:cs typeface="DejaVu Sans"/>
              </a:defRPr>
            </a:pPr>
            <a:endParaRPr lang="es-EC"/>
          </a:p>
        </c:txPr>
        <c:crossAx val="48672768"/>
        <c:crosses val="autoZero"/>
        <c:auto val="1"/>
        <c:lblAlgn val="ctr"/>
        <c:lblOffset val="100"/>
        <c:noMultiLvlLbl val="1"/>
      </c:catAx>
      <c:valAx>
        <c:axId val="48672768"/>
        <c:scaling>
          <c:orientation val="minMax"/>
          <c:max val="150"/>
          <c:min val="0"/>
        </c:scaling>
        <c:delete val="0"/>
        <c:axPos val="l"/>
        <c:majorGridlines>
          <c:spPr>
            <a:ln w="9525">
              <a:solidFill>
                <a:srgbClr val="D7DED9"/>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DejaVu Sans"/>
                <a:ea typeface="DejaVu Sans"/>
                <a:cs typeface="DejaVu Sans"/>
              </a:defRPr>
            </a:pPr>
            <a:endParaRPr lang="es-EC"/>
          </a:p>
        </c:txPr>
        <c:crossAx val="48650112"/>
        <c:crosses val="autoZero"/>
        <c:crossBetween val="between"/>
      </c:valAx>
      <c:spPr>
        <a:solidFill>
          <a:srgbClr val="F6F5F0"/>
        </a:solidFill>
      </c:spPr>
    </c:plotArea>
    <c:legend>
      <c:legendPos val="b"/>
      <c:overlay val="0"/>
      <c:txPr>
        <a:bodyPr anchorCtr="1"/>
        <a:lstStyle/>
        <a:p>
          <a:pPr>
            <a:defRPr sz="1350">
              <a:latin typeface="DejaVu Sans"/>
              <a:ea typeface="DejaVu Sans"/>
              <a:cs typeface="DejaVu Sans"/>
            </a:defRPr>
          </a:pPr>
          <a:endParaRPr lang="es-EC"/>
        </a:p>
      </c:txPr>
    </c:legend>
    <c:plotVisOnly val="1"/>
    <c:dispBlanksAs val="zero"/>
    <c:showDLblsOverMax val="1"/>
  </c:chart>
  <c:spPr>
    <a:solidFill>
      <a:srgbClr val="F6F5F0"/>
    </a:solidFill>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0:03.853"/>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1,'50'0,"1"0,45 0,-40 1,2 0,-1 1,0-1,0 1,2 0,12-1,0 0,-18 0,0 0,11 0,-4 0,7 0,-10 1,-21-2,2 1,24-1,8 0,13 0,-26 0,-2 1,-27 0,16 0,-6-1,-2-1,-12 1,-7-1,-6 1,8 1,-4-1,8 1,-11-1,-1-1,-2 1,2 0,2 0,0 0,-4 0,0-1,3 1,0-1,7 1,3 0,-3 0,-2 0,-11 0,-5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0:28.148"/>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0,'57'2,"-4"-1,-8-1,-11 0,-2 0,-6 0,1 1,6-1,2 1,2-1,0 0,-14 0,30 2,-26 0,24 0,-31-1,-6-1,-8 1,6-1,11 1,15 0,-5 0,10 1,-19-1,3 1,-1-1,2 1,13 0,1 1,2-1,-8 1,1 0,3-2,-8 0,34-1,-14 2,40 0,2 2,-21-2,8 0,-34-1,15-1,-5 1,5-1,-7-1,-5 1,-12-2,-3 1,-5 0,7 1,6-1,9 1,-1 0,-2-1,-4 1,2-1,19 1,-2 1,20 0,-16 1,1-1,-11-1,-12 0,-7 0,15-1,2 1,28 0,4 1,-34 0,11 0,-49-2,15 1,-10-1,14 1,-2 0,17 0,-22-1,2 0,-18 0,-4 1,-2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0:29.915"/>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1,'54'3,"31"2,1-3,-27 0,1 0,-9-2,-1 0,49 0,-14 0,-23-1,-15 1,-11-1,-9 1,8-1,0 0,16 0,-8 1,2 0,-18 0,-9 0,-7 0,-1 0,0 0,6 0,3 0,7 0,4 1,0-1,2 1,-6-1,2 0,-13 0,1 0,-7 1,-1 0,1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0:34.598"/>
    </inkml:context>
    <inkml:brush xml:id="br0">
      <inkml:brushProperty name="width" value="0.035" units="cm"/>
      <inkml:brushProperty name="height" value="0.035" units="cm"/>
      <inkml:brushProperty name="color" value="#E71224"/>
    </inkml:brush>
  </inkml:definitions>
  <inkml:trace contextRef="#ctx0" brushRef="#br0">1 11 24575,'3'0'0,"0"0"0,2 0 0,2 1 0,3-1 0,1 1 0,-1-1 0,1 0 0,-1 0 0,1 0 0,-2 0 0,0 0 0,-3 0 0,2 0 0,-3 0 0,0 0 0,-1 0 0,2 0 0,-1 0 0,2 0 0,-2-1 0,1 1 0,-5-1 0,0 0 0,1-3 0,-1 2 0,1-1 0,-2 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0:36.398"/>
    </inkml:context>
    <inkml:brush xml:id="br0">
      <inkml:brushProperty name="width" value="0.035" units="cm"/>
      <inkml:brushProperty name="height" value="0.035" units="cm"/>
      <inkml:brushProperty name="color" value="#E71224"/>
    </inkml:brush>
  </inkml:definitions>
  <inkml:trace contextRef="#ctx0" brushRef="#br0">35 0 24575,'12'4'0,"-2"0"0,3 1 0,-2 0 0,0-2 0,-5-1 0,-1 0 0,-3-1 0,-1-1 0,0 1 0,-5 0 0,-4 3 0,0 0 0,-2 1 0,6-3 0,1 0 0,1 0 0,1-1 0,-2-1 0,-1 3 0,-1-1 0,1 1 0,2-1 0,1-1 0,-2 1 0,-1 1 0,0 1 0,1-1 0,0-1 0,2 0 0,-1-1 0,1 0 0,0 0 0,1 0 0,-1 0 0,0 1 0,0-2 0,0 1 0,0 1 0,0-1 0,0 1 0,-1-1 0,1 1 0,-1 0 0,0-1 0,-1-1 0,1 0 0,-2-3 0,3-1 0,0 1 0,1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1:45.666"/>
    </inkml:context>
    <inkml:brush xml:id="br0">
      <inkml:brushProperty name="width" value="0.035" units="cm"/>
      <inkml:brushProperty name="height" value="0.035" units="cm"/>
      <inkml:brushProperty name="color" value="#E71224"/>
    </inkml:brush>
  </inkml:definitions>
  <inkml:trace contextRef="#ctx0" brushRef="#br0">42 1 24575,'-5'19'0,"0"0"0,-5 13 0,3-5 0,1-4 0,2-4 0,2-3 0,1-3 0,0 7 0,0-3 0,1 6 0,1-6 0,0 0 0,1-2 0,1-2 0,1-1 0,3-1 0,3 1 0,6 2 0,-1-1 0,2-2 0,-7-5 0,1-1 0,-1-2 0,2-1 0,2 0 0,1-1 0,0 1 0,-5-2 0,0 0 0,-3-1 0,1-1 0,0 1 0,0-1 0,0 1 0,-4 0 0,-3 0 0,-1 0 0,-1 0 0,0-1 0,0 2 0,0-1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1:46.883"/>
    </inkml:context>
    <inkml:brush xml:id="br0">
      <inkml:brushProperty name="width" value="0.035" units="cm"/>
      <inkml:brushProperty name="height" value="0.035" units="cm"/>
      <inkml:brushProperty name="color" value="#E71224"/>
    </inkml:brush>
  </inkml:definitions>
  <inkml:trace contextRef="#ctx0" brushRef="#br0">23 0 24575,'4'5'0,"1"2"0,1 2 0,2 1 0,1 1 0,1-2 0,2 0 0,-5-3 0,-1 0 0,-10-1 0,-3 4 0,-9 8 0,1-1 0,-4 2 0,10-7 0,2-4 0,5-5 0,1-1 0,0 0 0,-2 1 0,2 0 0,-2-2 0,3 1 0,-1-1 0,2-3 0,0 2 0,1-2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1:48.800"/>
    </inkml:context>
    <inkml:brush xml:id="br0">
      <inkml:brushProperty name="width" value="0.035" units="cm"/>
      <inkml:brushProperty name="height" value="0.035" units="cm"/>
      <inkml:brushProperty name="color" value="#E71224"/>
    </inkml:brush>
  </inkml:definitions>
  <inkml:trace contextRef="#ctx0" brushRef="#br0">104 1 24575,'-2'16'0,"1"-5"0,-3 16 0,1-7 0,0 4 0,1-2 0,0-4 0,1-4 0,0-3 0,1-4 0,-1 2 0,1-2 0,-1 2 0,1-2 0,-1 2 0,1-2 0,-1-2 0,1-2 0,-1-3 0,0 0 0,0-1 0,0 1 0,-1-1 0,-1 0 0,-1 1 0,-3-1 0,-2 0 0,-1 1 0,-1-1 0,0 1 0,2 0 0,1 0 0,6 0 0,2 0 0,3 0 0,-1 0 0,4 0 0,5 0 0,6 0 0,8 0 0,-11 0 0,0 0 0,-13 0 0,1 0 0,2 0 0,3 0 0,2 0 0,1 0 0,-3 0 0,-3 1 0,2-1 0,1 1 0,2 0 0,-2 0 0,-5-1 0,-2 0 0,-3 0 0,0-1 0,-2-8 0,3 6 0,0-5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1:49.716"/>
    </inkml:context>
    <inkml:brush xml:id="br0">
      <inkml:brushProperty name="width" value="0.035" units="cm"/>
      <inkml:brushProperty name="height" value="0.035" units="cm"/>
      <inkml:brushProperty name="color" value="#E71224"/>
    </inkml:brush>
  </inkml:definitions>
  <inkml:trace contextRef="#ctx0" brushRef="#br0">0 0 24575,'5'2'0,"5"1"0,4 0 0,11 3 0,-3-2 0,6 0 0,-4-2 0,-8-1 0,-1 0 0,-10-1 0,1 0 0,4 0 0,2 0 0,0 0 0,-3 0 0,-3 1 0,-5-1 0,2 0 0,-3 0 0,0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1:52.233"/>
    </inkml:context>
    <inkml:brush xml:id="br0">
      <inkml:brushProperty name="width" value="0.035" units="cm"/>
      <inkml:brushProperty name="height" value="0.035" units="cm"/>
      <inkml:brushProperty name="color" value="#E71224"/>
    </inkml:brush>
  </inkml:definitions>
  <inkml:trace contextRef="#ctx0" brushRef="#br0">56 0 24575,'0'10'0,"-2"0"0,0 4 0,-2-2 0,0 2 0,1 0 0,0-1 0,0-1 0,0 0 0,1 2 0,-1-2 0,1 1 0,1-6 0,-1 0 0,1-1 0,0 4 0,-3 5 0,1 1 0,0-4 0,1-4 0,0-4 0,1 1 0,-2 3 0,2-3 0,0-3 0,3-10 0,5-5 0,-1-2 0,3-1 0,-5 6 0,2-1 0,-3 2 0,5-5 0,-3 5 0,3-6 0,-2 5 0,-1 0 0,-1 1 0,-1-1 0,-2 4 0,1 0 0,-1 2 0,0 1 0,-1 1 0,1-1 0,0 0 0,1-3 0,-1 0 0,0 2 0,-1 0 0,1 2 0,-1-1 0,1 1 0,0 0 0,-1 0 0,0 1 0,0 0 0,0-1 0,0 1 0,0-1 0,0 1 0,1 1 0,0-1 0,1 4 0,3 4 0,7 10 0,1 0 0,6 4 0,-4-7 0,-2-2 0,-5-4 0,0 2 0,0-1 0,3 2 0,-5-3 0,2 3 0,-4-2 0,0 3 0,0-2 0,-2-1 0,0-4 0,-1-3 0,-1-1 0,-1-1 0,-1 0 0,1 0 0,0 0 0,1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1:53.599"/>
    </inkml:context>
    <inkml:brush xml:id="br0">
      <inkml:brushProperty name="width" value="0.035" units="cm"/>
      <inkml:brushProperty name="height" value="0.035" units="cm"/>
      <inkml:brushProperty name="color" value="#E71224"/>
    </inkml:brush>
  </inkml:definitions>
  <inkml:trace contextRef="#ctx0" brushRef="#br0">1 24 24575,'8'0'0,"1"0"0,4-1 0,7-2 0,-4 2 0,-1-1 0,-3 0 0,-5 0 0,2 0 0,-3 0 0,0 0 0,-3 2 0,2-1 0,-2 0 0,-1 1 0,3-1 0,0 1 0,1-1 0,-1 0 0,-2 0 0,0 1 0,1-1 0,0 1 0,-3 0 0,0 0 0,-2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2:32.03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5,'83'3,"4"-1,-23-2,-6 0,-24 0,-8 0,0 1,6-1,4-1,-2 0,-5-1,1 0,2 0,21 0,-8 1,10 1,-16 0,-2 1,3 0,1 0,13 1,-16-2,10 0,-17 1,11 0,-8 1,8-1,-8-1,7 1,-3 0,8 0,-9 1,4-2,12 2,-7-1,15 1,-18-1,4 0,-7-1,9 0,-5 0,8 0,4 0,-2 0,4 0,-5 2,18 1,-5-2,22 2,-21-2,-9 0,-18-2,-8 1,10-1,19 1,-10 0,8-1,-33 1,-1 0,-12-1,10 1,2-2,7 0,-9 1,-7-1,-11 2,6 0,2 0,11 0,0 0,-2 1,-6-1,-4 0,1 0,3 0,1 0,0 0,-7 0,2 0,-4 0,4-1,-3 1,1-1,1 1,7 0,11 0,2 0,-4 0,-12 0,-14 0,-2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2:34.657"/>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1,'62'0,"7"0,-4 0,0 0,-16 0,-9 0,-2 0,5 0,0 0,3 0,-13 0,-8 0,7 0,18 0,25 0,11 0,-12 0,-19 1,-18 0,0 0,4 1,18 0,-9 1,15 0,-17 1,8 0,-15-1,-6-1,-15-1,-7-1,-4 1,9 0,5 0,7 0,1 0,-4 0,1-1,6 1,-4-1,9 2,-13-2,2 1,-7-1,-5 1,-4-1,-4 0,9 0,16 0,-2 0,3 0,-18 0,-7 0,0 0,3 1,0-1,2 0,-4 0,0 0,12-1,-11 1,9-2,-10 2,-5-1,1 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2:49.917"/>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17,'60'0,"1"0,-10 0,1 0,-13 0,-1 0,-6 0,6-1,-2 0,12-1,-3 0,15 1,-6 1,2 0,-13 0,-7 0,-3 0,1 0,2 0,-2-1,-3 1,1-2,-4 1,7-1,3 0,1 0,0 2,-8 0,12 0,-6 2,19 0,-5 1,7 0,-11-2,-2 0,-12 0,3 0,-5 0,7 0,-10-1,5 1,-4-1,10 0,11 0,1 0,8 0,-9 0,-10 0,2 1,-6 0,8 1,6-2,-7 0,2 0,-15 0,-4 0,-10 0,3 0,2 0,12 0,8 0,0-1,-4 1,-3 0,-11-1,5 1,-13-1,7 1,-1 0,1 0,-4 0,-7-1,-3 1,2 0,2-1,-2 1,1-2,-2 1,9 1,-1 0,-3 0,-5-1,-9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2:52.18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10,'64'-3,"4"0,-12 1,-4 1,-1 1,6 1,29 1,1-1,-30 1,2 0,33 0,-13 0,-18-1,-20-2,11 1,9-1,-4 0,-5 0,-9 1,-8-2,5 1,-3 0,-5 0,-4 1,-4 0,10 0,-2 1,16 1,-15 0,9 1,-12-2,4 0,5 1,1-1,0 0,-1 0,-5-1,16 0,1 1,20-1,-10 1,0-1,-17 1,-9-1,-1 2,-7-2,-1 1,-7-1,5 1,4 0,10-1,-3 1,-3-1,-4 1,1-1,2 0,1 0,-4 0,-3 0,9 1,6 0,18 0,3 0,-13-1,-13 1,-20-1,-4 0,0 0,1 0,1-1,-3-1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2:54.200"/>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17,'84'-3,"-34"1,1 0,8 0,3 0,18 1,3 2,-7-1,3 1,20 1,-1 1,-24-2,-1 1,9-2,-4 0,19 0,-12-3,-27 0,11 0,-4 1,18 0,-26 1,12 1,-21-1,19 2,5 0,6 0,-12 1,-21-1,-20 0,-2-1,1 0,12 0,2 0,5 0,-1 0,3 1,-1-1,-1 2,13 0,3 0,-8 0,-5 0,-29-2,0 1,-8-1,1 0,-4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3:15.951"/>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7,'38'1,"-6"-1,-15 1,-2-2,0 0,4-1,8 2,-1-2,5 2,-6-1,0 1,-2-1,0 1,-1-1,-2 1,-1 0,0 0,3 0,8 1,3-1,0 1,-3 1,-1 0,2-1,27 2,-4-1,25 2,-35-2,2-1,-30-1,-2 1,-8-1,-1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3:17.93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6,'72'-1,"-5"0,-17-1,0 2,-6-1,0 0,-6 2,2 0,-11 0,-1 1,-10-2,4 1,11-1,8 1,2 0,-5 2,-11-2,-5 0,4 0,-1 0,10-1,-1 2,0-2,-4 1,-2 0,-4 1,4 0,-4 0,0-1,-1 0,-2 0,-5-1,-2 0,-8 0,14 1,-2-1,14 1,-12 0,2-1,-11 1,2-1,-1 0,-5 0,2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3:31.718"/>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1,'39'2,"-1"1,-1-2,-4 2,21-2,-14 1,21-2,-12 0,11 0,23 0,3 0,-29 1,1 1,39 0,-37 1,1-1,-6 0,1 0,10 0,1 0,-11-1,-1 0,2-1,-1 1,31-2,0 0,-10 0,3-1,-17-1,0 1,-18 1,0 0,-7 1,10 0,-2-1,11 0,-11 0,10 1,-13 1,16 0,3 0,11 1,-18-1,0 0,-18 1,3-2,-2 1,-6-1,3 1,-6 0,16 1,-1-2,-14 1,2-1,-23 0,2 0,-2 0,5-1,1 1,-3-1,4 0,0 1,3 0,0 0,-8 0,-4-1,11 1,-1-1,2 1,-6-1,-13 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3:34.151"/>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6,'43'-1,"8"-1,7 1,17-1,13 2,0 0,-37 1,0-1,34 1,-29 0,0-1,33 1,-32 1,0 1,30-1,-34 1,0-1,36 0,8 0,-24-2,-6 2,-8 0,1 1,-4-1,4 0,-10-2,1 2,8-1,-7 1,8 1,-17-1,-5 0,-10-1,2 0,7 0,-1 0,1 0,-10 0,0-1,4 1,-1-1,3 1,-10-1,-5 1,-8 0,2-1,2 0,22 0,15 0,-2 0,2 0,-28 0,-7 0,-10 0,3 0,2-1,2 1,1-1,-6 1,2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3:46.255"/>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0,'66'6,"-12"-3,-8-1,-14-1,2 0,6-1,6 0,20-2,-7 2,18-2,-10 3,20 0,-1 0,6 1,-21-2,-7 1,-16-1,12 0,-6 0,16 0,-8 0,7 0,-4 0,2 1,10 1,-9-1,13 3,-12-3,2 3,5-4,-4 2,0-1,-8 1,-5-1,-4 0,-11 0,1-1,-14 0,5-1,-2 1,-4 0,-9 0,-4 0,1 0,10-2,5 2,10-1,-11 1,7 0,6 2,-2-1,7 1,-17-1,-11 0,-9-1,-8 0,6 0,1 0,11 0,-3 0,-2 0,-7 0,-7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3:48.675"/>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0,'48'0,"18"1,22 0,-10 0,-22-1,-1 0,18 2,-18-2,3 2,-8-1,0 1,5-1,1 1,7-1,0 0,-5 1,-1-1,-4 0,-2 0,35 1,-29-1,0 0,-10 0,5-1,-16 1,4-1,5 2,17-1,-3 2,3-3,-29 1,11 0,-11 1,22-1,-5 0,3-1,-5 0,-2 1,10 0,-3 0,2 0,-20-1,-8 0,-15 0,-2 1,10-1,29 2,19 2,32-2,-43 1,-7-3,-49 0,6 0,10 0,12 0,6 1,-8 0,-10-1,-12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3:51.03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15,'55'-1,"0"-1,4 1,2 0,24 0,2 0,-15 0,2-1,22 2,-2-1,-32 0,-2 0,13 1,0 0,-4 0,-2 0,-2 1,0-1,-2 1,-3-1,29 1,-26-1,-6 0,-11 0,11 0,-11 0,1 0,-8 0,5 0,9 0,-4 0,-8 0,-2-1,6-1,13 1,-3 0,-9 2,-16-1,-5 0,8 2,4-2,3 1,-13-1,-8 0,-6 0,9 0,1 0,-2 0,-10 0,6 0,-6 1,17-1,-13 0,-1 0,5 0,-7 0,12 0,-13 0,0 0,-2 0,6 0,-3 0,-1 0,-8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3:52.868"/>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14,'60'-2,"2"-1,-1 0,9 0,15 2,-6-1,6 2,-23 0,-10 0,-18 1,-2-1,-1 1,9-1,-12 0,1 0,-18 0,-2 0,3 0,11 0,11 0,2 0,-10 0,-13 0,-12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4:06.88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1,'89'0,"7"0,-40 1,1 0,32 1,-37 0,0-1,34 0,-18 0,4 0,-1 1,3 0,25 0,2 1,-20 2,-1-1,4-2,-4 0,-19 1,-4-1,-1-1,-3 0,45 1,0-1,-46 0,0-1,33 1,1-1,-18 0,-15 0,-5 0,-1-1,14 1,18-2,-14 1,-7 0,-40 0,-3 0,-6 1,35 0,-2 0,14 0,-19 0,-19-1,6 1,-2-2,12 2,-6-1,-8 1,-7 0,-3 0,4 0,6 0,4 0,-4-1,-4 1,-6 0,0 0,9-1,5 0,7 1,-6-1,-12 0,-9 1,-4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4:09.392"/>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4,'57'-1,"4"0,-14 0,-1 1,-12-1,-4 1,0 0,2 0,1 0,10 0,1 0,6 0,-7 2,0-1,-17 1,1-1,-8-1,4 0,5 0,-1 0,-4-1,-6 1,-4-1,-1 1,5-1,4-1,-4 2,-3-1,-1 1,-9 0,11 0,-2 0,-1 0,-1 0,-6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4:18.668"/>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4,'97'-2,"-42"1,1 0,-5 1,2 0,23 1,4-1,3 0,5 1,-17 0,3-1,0 1,4 0,0 0,0 1,-1-1,-1 2,0-1,-1 0,-2 1,-2 0,15 0,-5 0,-6-1,-2 0,-4-2,-1 0,-5 0,0 1,6-1,-1 1,-10-1,-2 0,-1 0,0-1,4-1,-2-1,30 0,-34 0,0 2,19-1,23 1,-3 0,-38 1,2 0,3 0,1 0,-1 0,-1 0,40-1,-12 1,-23-1,12 3,-4-2,7 2,-7-2,-3 1,5-1,-22 1,16-1,-33 1,21 0,-10 0,16 0,-5 1,13-1,-19 1,4-1,-7 0,8 0,22-1,-24 1,11-1,-30 0,7 0,-10 0,0 0,12 1,12 1,8-1,-16 1,-24-2,-20 0,-6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9T00:44:20.485"/>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9,'44'-2,"34"1,6 0,15 0,-7 1,-40-2,-8 2,8-1,21 1,-13 0,-2 1,-25-1,-7 1,2-1,0 1,19 0,2 0,7-1,-23 0,-10 0,-9 1,22-1,27 1,4-1,-8 0,-23 0,-25 0,-2 0,5 0,3 0,23 0,-11 0,2 0,-13 0,0 0,-5 0,0 0,-10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a:t>
            </a:r>
          </a:p>
          <a:p>
            <a:r>
              <a:t>El propósito es acordar cómo ejecutar el estudio con un enfoque viable. Presentaré el contexto, el instrumento, los antecedentes y la propuesta metodológica. Reservaremos la mayor parte de la hora para discutir y asignar próximos pasos. El equipo registrado lo integran María Elena Cruz Artieda, directora; Miguel Alfonso Flores Sánchez, codirector; Paulina Fabiola Zary Corral y Tania Aleyda Acosta Hurtado, colaboradoras. David Pinto apoya la coordinación operativa. </a:t>
            </a:r>
          </a:p>
          <a:p>
            <a:endParaRPr/>
          </a:p>
          <a:p>
            <a:r>
              <a:t>FUENTES</a:t>
            </a:r>
          </a:p>
          <a:p>
            <a:r>
              <a:t>Documento base: PIS-1531-MARIA ELENA (1).pdf, pp. 1–4, 11–13 y 19–20. Los cambios metodológicos proceden de acuerdos comunicados por David Pinto el 17 de octubre de 2026; pendientes de formalización institucional.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a:t>
            </a:r>
          </a:p>
          <a:p>
            <a:r>
              <a:t>Nos interesa la preparación que los estudiantes perciben después de una experiencia de prácticas. El documento base plantea relacionar antecedentes académicos con competencias y desempeño. En la propuesta actual, el eje es la encuesta estudiantil vinculada a las notas. Por eso debemos hablar de competencias percibidas cuando la medida proviene de la autoevaluación. La regresión identificará asociaciones; no demostrará por sí sola efectos causales ni éxito laboral objetivo.</a:t>
            </a:r>
          </a:p>
          <a:p>
            <a:endParaRPr/>
          </a:p>
          <a:p>
            <a:r>
              <a:t>FUENTES</a:t>
            </a:r>
          </a:p>
          <a:p>
            <a:r>
              <a:t>Documento base: PIS-1531-MARIA ELENA (1).pdf, pp. 1–4, 11–13 y 19–20. Los cambios metodológicos proceden de acuerdos comunicados por David Pinto el 17 de octubre de 2026; pendientes de formalización institucional.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GUION SUGERIDO</a:t>
            </a:r>
          </a:p>
          <a:p>
            <a:r>
              <a:rPr dirty="0"/>
              <a:t>Para responder </a:t>
            </a:r>
            <a:r>
              <a:rPr dirty="0" err="1"/>
              <a:t>nuestra</a:t>
            </a:r>
            <a:r>
              <a:rPr dirty="0"/>
              <a:t> </a:t>
            </a:r>
            <a:r>
              <a:rPr dirty="0" err="1"/>
              <a:t>pregunta</a:t>
            </a:r>
            <a:r>
              <a:rPr dirty="0"/>
              <a:t> </a:t>
            </a:r>
            <a:r>
              <a:rPr dirty="0" err="1"/>
              <a:t>necesitamos</a:t>
            </a:r>
            <a:r>
              <a:rPr dirty="0"/>
              <a:t> </a:t>
            </a:r>
            <a:r>
              <a:rPr dirty="0" err="1"/>
              <a:t>conocer</a:t>
            </a:r>
            <a:r>
              <a:rPr dirty="0"/>
              <a:t> dos </a:t>
            </a:r>
            <a:r>
              <a:rPr dirty="0" err="1"/>
              <a:t>cosas</a:t>
            </a:r>
            <a:r>
              <a:rPr dirty="0"/>
              <a:t> de las </a:t>
            </a:r>
            <a:r>
              <a:rPr dirty="0" err="1"/>
              <a:t>mismas</a:t>
            </a:r>
            <a:r>
              <a:rPr dirty="0"/>
              <a:t> personas: sus </a:t>
            </a:r>
            <a:r>
              <a:rPr dirty="0" err="1"/>
              <a:t>antecedentes</a:t>
            </a:r>
            <a:r>
              <a:rPr dirty="0"/>
              <a:t> </a:t>
            </a:r>
            <a:r>
              <a:rPr dirty="0" err="1"/>
              <a:t>académicos</a:t>
            </a:r>
            <a:r>
              <a:rPr dirty="0"/>
              <a:t> y </a:t>
            </a:r>
            <a:r>
              <a:rPr dirty="0" err="1"/>
              <a:t>cómo</a:t>
            </a:r>
            <a:r>
              <a:rPr dirty="0"/>
              <a:t> </a:t>
            </a:r>
            <a:r>
              <a:rPr dirty="0" err="1"/>
              <a:t>valoran</a:t>
            </a:r>
            <a:r>
              <a:rPr dirty="0"/>
              <a:t> sus </a:t>
            </a:r>
            <a:r>
              <a:rPr dirty="0" err="1"/>
              <a:t>competencias</a:t>
            </a:r>
            <a:r>
              <a:rPr dirty="0"/>
              <a:t>. Primero </a:t>
            </a:r>
            <a:r>
              <a:rPr dirty="0" err="1"/>
              <a:t>seleccionaremos</a:t>
            </a:r>
            <a:r>
              <a:rPr dirty="0"/>
              <a:t> </a:t>
            </a:r>
            <a:r>
              <a:rPr dirty="0" err="1"/>
              <a:t>estudiantes</a:t>
            </a:r>
            <a:r>
              <a:rPr dirty="0"/>
              <a:t> </a:t>
            </a:r>
            <a:r>
              <a:rPr dirty="0" err="1"/>
              <a:t>que</a:t>
            </a:r>
            <a:r>
              <a:rPr dirty="0"/>
              <a:t> </a:t>
            </a:r>
            <a:r>
              <a:rPr dirty="0" err="1"/>
              <a:t>cumplan</a:t>
            </a:r>
            <a:r>
              <a:rPr dirty="0"/>
              <a:t> el </a:t>
            </a:r>
            <a:r>
              <a:rPr dirty="0" err="1"/>
              <a:t>criterio</a:t>
            </a:r>
            <a:r>
              <a:rPr dirty="0"/>
              <a:t> de </a:t>
            </a:r>
            <a:r>
              <a:rPr dirty="0" err="1"/>
              <a:t>prácticas</a:t>
            </a:r>
            <a:r>
              <a:rPr dirty="0"/>
              <a:t> </a:t>
            </a:r>
            <a:r>
              <a:rPr dirty="0" err="1"/>
              <a:t>recientes</a:t>
            </a:r>
            <a:r>
              <a:rPr dirty="0"/>
              <a:t>, </a:t>
            </a:r>
            <a:r>
              <a:rPr dirty="0" err="1"/>
              <a:t>mediante</a:t>
            </a:r>
            <a:r>
              <a:rPr dirty="0"/>
              <a:t> el </a:t>
            </a:r>
            <a:r>
              <a:rPr dirty="0" err="1"/>
              <a:t>diseño</a:t>
            </a:r>
            <a:r>
              <a:rPr dirty="0"/>
              <a:t> </a:t>
            </a:r>
            <a:r>
              <a:rPr dirty="0" err="1"/>
              <a:t>que</a:t>
            </a:r>
            <a:r>
              <a:rPr dirty="0"/>
              <a:t> </a:t>
            </a:r>
            <a:r>
              <a:rPr dirty="0" err="1"/>
              <a:t>acordemos</a:t>
            </a:r>
            <a:r>
              <a:rPr dirty="0"/>
              <a:t>. </a:t>
            </a:r>
            <a:r>
              <a:rPr dirty="0" err="1"/>
              <a:t>Después</a:t>
            </a:r>
            <a:r>
              <a:rPr dirty="0"/>
              <a:t> </a:t>
            </a:r>
            <a:r>
              <a:rPr dirty="0" err="1"/>
              <a:t>reuniremos</a:t>
            </a:r>
            <a:r>
              <a:rPr dirty="0"/>
              <a:t> las </a:t>
            </a:r>
            <a:r>
              <a:rPr dirty="0" err="1"/>
              <a:t>notas</a:t>
            </a:r>
            <a:r>
              <a:rPr dirty="0"/>
              <a:t> de </a:t>
            </a:r>
            <a:r>
              <a:rPr dirty="0" err="1"/>
              <a:t>Comunicación</a:t>
            </a:r>
            <a:r>
              <a:rPr dirty="0"/>
              <a:t> Oral y </a:t>
            </a:r>
            <a:r>
              <a:rPr dirty="0" err="1"/>
              <a:t>Escrita</a:t>
            </a:r>
            <a:r>
              <a:rPr dirty="0"/>
              <a:t> y del examen de media </a:t>
            </a:r>
            <a:r>
              <a:rPr dirty="0" err="1"/>
              <a:t>carrera</a:t>
            </a:r>
            <a:r>
              <a:rPr dirty="0"/>
              <a:t>, con </a:t>
            </a:r>
            <a:r>
              <a:rPr dirty="0" err="1"/>
              <a:t>autorización</a:t>
            </a:r>
            <a:r>
              <a:rPr dirty="0"/>
              <a:t>, y </a:t>
            </a:r>
            <a:r>
              <a:rPr dirty="0" err="1"/>
              <a:t>aplicaremos</a:t>
            </a:r>
            <a:r>
              <a:rPr dirty="0"/>
              <a:t> el CECTGRA. El </a:t>
            </a:r>
            <a:r>
              <a:rPr dirty="0" err="1"/>
              <a:t>cuestionario</a:t>
            </a:r>
            <a:r>
              <a:rPr dirty="0"/>
              <a:t> es la </a:t>
            </a:r>
            <a:r>
              <a:rPr dirty="0" err="1"/>
              <a:t>herramienta</a:t>
            </a:r>
            <a:r>
              <a:rPr dirty="0"/>
              <a:t> </a:t>
            </a:r>
            <a:r>
              <a:rPr dirty="0" err="1"/>
              <a:t>que</a:t>
            </a:r>
            <a:r>
              <a:rPr dirty="0"/>
              <a:t> </a:t>
            </a:r>
            <a:r>
              <a:rPr dirty="0" err="1"/>
              <a:t>nos</a:t>
            </a:r>
            <a:r>
              <a:rPr dirty="0"/>
              <a:t> </a:t>
            </a:r>
            <a:r>
              <a:rPr dirty="0" err="1"/>
              <a:t>permitirá</a:t>
            </a:r>
            <a:r>
              <a:rPr dirty="0"/>
              <a:t> </a:t>
            </a:r>
            <a:r>
              <a:rPr dirty="0" err="1"/>
              <a:t>convertir</a:t>
            </a:r>
            <a:r>
              <a:rPr dirty="0"/>
              <a:t> </a:t>
            </a:r>
            <a:r>
              <a:rPr dirty="0" err="1"/>
              <a:t>esas</a:t>
            </a:r>
            <a:r>
              <a:rPr dirty="0"/>
              <a:t> </a:t>
            </a:r>
            <a:r>
              <a:rPr dirty="0" err="1"/>
              <a:t>valoraciones</a:t>
            </a:r>
            <a:r>
              <a:rPr dirty="0"/>
              <a:t> </a:t>
            </a:r>
            <a:r>
              <a:rPr dirty="0" err="1"/>
              <a:t>en</a:t>
            </a:r>
            <a:r>
              <a:rPr dirty="0"/>
              <a:t> </a:t>
            </a:r>
            <a:r>
              <a:rPr dirty="0" err="1"/>
              <a:t>información</a:t>
            </a:r>
            <a:r>
              <a:rPr dirty="0"/>
              <a:t> </a:t>
            </a:r>
            <a:r>
              <a:rPr dirty="0" err="1"/>
              <a:t>organizada</a:t>
            </a:r>
            <a:r>
              <a:rPr dirty="0"/>
              <a:t> para el </a:t>
            </a:r>
            <a:r>
              <a:rPr dirty="0" err="1"/>
              <a:t>análisis</a:t>
            </a:r>
            <a:r>
              <a:rPr dirty="0"/>
              <a:t>. </a:t>
            </a:r>
            <a:r>
              <a:rPr dirty="0" err="1"/>
              <a:t>Uniremos</a:t>
            </a:r>
            <a:r>
              <a:rPr dirty="0"/>
              <a:t> ambas </a:t>
            </a:r>
            <a:r>
              <a:rPr dirty="0" err="1"/>
              <a:t>fuentes</a:t>
            </a:r>
            <a:r>
              <a:rPr dirty="0"/>
              <a:t> </a:t>
            </a:r>
            <a:r>
              <a:rPr dirty="0" err="1"/>
              <a:t>mediante</a:t>
            </a:r>
            <a:r>
              <a:rPr dirty="0"/>
              <a:t> un </a:t>
            </a:r>
            <a:r>
              <a:rPr dirty="0" err="1"/>
              <a:t>código</a:t>
            </a:r>
            <a:r>
              <a:rPr dirty="0"/>
              <a:t> </a:t>
            </a:r>
            <a:r>
              <a:rPr dirty="0" err="1"/>
              <a:t>por</a:t>
            </a:r>
            <a:r>
              <a:rPr dirty="0"/>
              <a:t> </a:t>
            </a:r>
            <a:r>
              <a:rPr dirty="0" err="1"/>
              <a:t>estudiante</a:t>
            </a:r>
            <a:r>
              <a:rPr dirty="0"/>
              <a:t> y </a:t>
            </a:r>
            <a:r>
              <a:rPr dirty="0" err="1"/>
              <a:t>estudiaremos</a:t>
            </a:r>
            <a:r>
              <a:rPr dirty="0"/>
              <a:t> </a:t>
            </a:r>
            <a:r>
              <a:rPr dirty="0" err="1"/>
              <a:t>su</a:t>
            </a:r>
            <a:r>
              <a:rPr dirty="0"/>
              <a:t> </a:t>
            </a:r>
            <a:r>
              <a:rPr dirty="0" err="1"/>
              <a:t>relación</a:t>
            </a:r>
            <a:r>
              <a:rPr dirty="0"/>
              <a:t>. </a:t>
            </a:r>
            <a:r>
              <a:rPr dirty="0" err="1"/>
              <a:t>Finalmente</a:t>
            </a:r>
            <a:r>
              <a:rPr dirty="0"/>
              <a:t> </a:t>
            </a:r>
            <a:r>
              <a:rPr dirty="0" err="1"/>
              <a:t>discutiremos</a:t>
            </a:r>
            <a:r>
              <a:rPr dirty="0"/>
              <a:t> </a:t>
            </a:r>
            <a:r>
              <a:rPr dirty="0" err="1"/>
              <a:t>qué</a:t>
            </a:r>
            <a:r>
              <a:rPr dirty="0"/>
              <a:t> </a:t>
            </a:r>
            <a:r>
              <a:rPr dirty="0" err="1"/>
              <a:t>necesidades</a:t>
            </a:r>
            <a:r>
              <a:rPr dirty="0"/>
              <a:t> de </a:t>
            </a:r>
            <a:r>
              <a:rPr dirty="0" err="1"/>
              <a:t>formación</a:t>
            </a:r>
            <a:r>
              <a:rPr dirty="0"/>
              <a:t> </a:t>
            </a:r>
            <a:r>
              <a:rPr dirty="0" err="1"/>
              <a:t>sugieren</a:t>
            </a:r>
            <a:r>
              <a:rPr dirty="0"/>
              <a:t> </a:t>
            </a:r>
            <a:r>
              <a:rPr dirty="0" err="1"/>
              <a:t>los</a:t>
            </a:r>
            <a:r>
              <a:rPr dirty="0"/>
              <a:t> </a:t>
            </a:r>
            <a:r>
              <a:rPr dirty="0" err="1"/>
              <a:t>resultados</a:t>
            </a:r>
            <a:r>
              <a:rPr dirty="0"/>
              <a:t>. El CECTGRA </a:t>
            </a:r>
            <a:r>
              <a:rPr dirty="0" err="1"/>
              <a:t>recoge</a:t>
            </a:r>
            <a:r>
              <a:rPr dirty="0"/>
              <a:t> </a:t>
            </a:r>
            <a:r>
              <a:rPr dirty="0" err="1"/>
              <a:t>percepciones</a:t>
            </a:r>
            <a:r>
              <a:rPr dirty="0"/>
              <a:t>, </a:t>
            </a:r>
            <a:r>
              <a:rPr dirty="0" err="1"/>
              <a:t>por</a:t>
            </a:r>
            <a:r>
              <a:rPr dirty="0"/>
              <a:t> lo </a:t>
            </a:r>
            <a:r>
              <a:rPr dirty="0" err="1"/>
              <a:t>que</a:t>
            </a:r>
            <a:r>
              <a:rPr dirty="0"/>
              <a:t> no equivale a </a:t>
            </a:r>
            <a:r>
              <a:rPr dirty="0" err="1"/>
              <a:t>observar</a:t>
            </a:r>
            <a:r>
              <a:rPr dirty="0"/>
              <a:t> </a:t>
            </a:r>
            <a:r>
              <a:rPr dirty="0" err="1"/>
              <a:t>directamente</a:t>
            </a:r>
            <a:r>
              <a:rPr dirty="0"/>
              <a:t> el </a:t>
            </a:r>
            <a:r>
              <a:rPr dirty="0" err="1"/>
              <a:t>desempeño</a:t>
            </a:r>
            <a:r>
              <a:rPr dirty="0"/>
              <a:t> </a:t>
            </a:r>
            <a:r>
              <a:rPr dirty="0" err="1"/>
              <a:t>laboral</a:t>
            </a:r>
            <a:r>
              <a:rPr dirty="0"/>
              <a:t>. La </a:t>
            </a:r>
            <a:r>
              <a:rPr dirty="0" err="1"/>
              <a:t>dirección</a:t>
            </a:r>
            <a:r>
              <a:rPr dirty="0"/>
              <a:t> y </a:t>
            </a:r>
            <a:r>
              <a:rPr dirty="0" err="1"/>
              <a:t>codirección</a:t>
            </a:r>
            <a:r>
              <a:rPr dirty="0"/>
              <a:t> </a:t>
            </a:r>
            <a:r>
              <a:rPr dirty="0" err="1"/>
              <a:t>coordinarán</a:t>
            </a:r>
            <a:r>
              <a:rPr dirty="0"/>
              <a:t> </a:t>
            </a:r>
            <a:r>
              <a:rPr dirty="0" err="1"/>
              <a:t>responsables</a:t>
            </a:r>
            <a:r>
              <a:rPr dirty="0"/>
              <a:t>, </a:t>
            </a:r>
            <a:r>
              <a:rPr dirty="0" err="1"/>
              <a:t>acceso</a:t>
            </a:r>
            <a:r>
              <a:rPr dirty="0"/>
              <a:t> y </a:t>
            </a:r>
            <a:r>
              <a:rPr dirty="0" err="1"/>
              <a:t>fechas</a:t>
            </a:r>
            <a:r>
              <a:rPr dirty="0"/>
              <a:t>. A </a:t>
            </a:r>
            <a:r>
              <a:rPr dirty="0" err="1"/>
              <a:t>continuación</a:t>
            </a:r>
            <a:r>
              <a:rPr dirty="0"/>
              <a:t> </a:t>
            </a:r>
            <a:r>
              <a:rPr dirty="0" err="1"/>
              <a:t>explicaremos</a:t>
            </a:r>
            <a:r>
              <a:rPr dirty="0"/>
              <a:t> la </a:t>
            </a:r>
            <a:r>
              <a:rPr dirty="0" err="1"/>
              <a:t>herramienta</a:t>
            </a:r>
            <a:r>
              <a:rPr dirty="0"/>
              <a:t>, </a:t>
            </a:r>
            <a:r>
              <a:rPr dirty="0" err="1"/>
              <a:t>ahora</a:t>
            </a:r>
            <a:r>
              <a:rPr dirty="0"/>
              <a:t> </a:t>
            </a:r>
            <a:r>
              <a:rPr dirty="0" err="1"/>
              <a:t>que</a:t>
            </a:r>
            <a:r>
              <a:rPr dirty="0"/>
              <a:t> </a:t>
            </a:r>
            <a:r>
              <a:rPr dirty="0" err="1"/>
              <a:t>sabemos</a:t>
            </a:r>
            <a:r>
              <a:rPr dirty="0"/>
              <a:t> </a:t>
            </a:r>
            <a:r>
              <a:rPr dirty="0" err="1"/>
              <a:t>qué</a:t>
            </a:r>
            <a:r>
              <a:rPr dirty="0"/>
              <a:t> </a:t>
            </a:r>
            <a:r>
              <a:rPr dirty="0" err="1"/>
              <a:t>papel</a:t>
            </a:r>
            <a:r>
              <a:rPr dirty="0"/>
              <a:t> </a:t>
            </a:r>
            <a:r>
              <a:rPr dirty="0" err="1"/>
              <a:t>cumple</a:t>
            </a:r>
            <a:r>
              <a:rPr dirty="0"/>
              <a:t> </a:t>
            </a:r>
            <a:r>
              <a:rPr dirty="0" err="1"/>
              <a:t>en</a:t>
            </a:r>
            <a:r>
              <a:rPr dirty="0"/>
              <a:t> la </a:t>
            </a:r>
            <a:r>
              <a:rPr dirty="0" err="1"/>
              <a:t>ruta</a:t>
            </a:r>
            <a:r>
              <a:rPr dirty="0"/>
              <a:t>.</a:t>
            </a:r>
          </a:p>
          <a:p>
            <a:endParaRPr dirty="0"/>
          </a:p>
          <a:p>
            <a:r>
              <a:rPr dirty="0"/>
              <a:t>FUENTES</a:t>
            </a:r>
          </a:p>
          <a:p>
            <a:r>
              <a:rPr dirty="0" err="1"/>
              <a:t>Documento</a:t>
            </a:r>
            <a:r>
              <a:rPr dirty="0"/>
              <a:t> base: PIS-1531-MARIA ELENA (1).pdf, pp. 1–4, 11–13 y 19–20. Los </a:t>
            </a:r>
            <a:r>
              <a:rPr dirty="0" err="1"/>
              <a:t>cambios</a:t>
            </a:r>
            <a:r>
              <a:rPr dirty="0"/>
              <a:t> </a:t>
            </a:r>
            <a:r>
              <a:rPr dirty="0" err="1"/>
              <a:t>metodológicos</a:t>
            </a:r>
            <a:r>
              <a:rPr dirty="0"/>
              <a:t> </a:t>
            </a:r>
            <a:r>
              <a:rPr dirty="0" err="1"/>
              <a:t>proceden</a:t>
            </a:r>
            <a:r>
              <a:rPr dirty="0"/>
              <a:t> de </a:t>
            </a:r>
            <a:r>
              <a:rPr dirty="0" err="1"/>
              <a:t>acuerdos</a:t>
            </a:r>
            <a:r>
              <a:rPr dirty="0"/>
              <a:t> </a:t>
            </a:r>
            <a:r>
              <a:rPr dirty="0" err="1"/>
              <a:t>comunicados</a:t>
            </a:r>
            <a:r>
              <a:rPr dirty="0"/>
              <a:t> </a:t>
            </a:r>
            <a:r>
              <a:rPr dirty="0" err="1"/>
              <a:t>por</a:t>
            </a:r>
            <a:r>
              <a:rPr dirty="0"/>
              <a:t> David Pinto el 17 de </a:t>
            </a:r>
            <a:r>
              <a:rPr dirty="0" err="1"/>
              <a:t>octubre</a:t>
            </a:r>
            <a:r>
              <a:rPr dirty="0"/>
              <a:t> de 2026; </a:t>
            </a:r>
            <a:r>
              <a:rPr dirty="0" err="1"/>
              <a:t>pendientes</a:t>
            </a:r>
            <a:r>
              <a:rPr dirty="0"/>
              <a:t> de </a:t>
            </a:r>
            <a:r>
              <a:rPr dirty="0" err="1"/>
              <a:t>formalización</a:t>
            </a:r>
            <a:r>
              <a:rPr dirty="0"/>
              <a:t> </a:t>
            </a:r>
            <a:r>
              <a:rPr dirty="0" err="1"/>
              <a:t>institucional</a:t>
            </a:r>
            <a:r>
              <a:rPr dirty="0"/>
              <a:t>.</a:t>
            </a:r>
          </a:p>
          <a:p>
            <a:r>
              <a:rPr dirty="0"/>
              <a:t>Martínez Clares, P. y González Morga, N. (2018). Las </a:t>
            </a:r>
            <a:r>
              <a:rPr dirty="0" err="1"/>
              <a:t>competencias</a:t>
            </a:r>
            <a:r>
              <a:rPr dirty="0"/>
              <a:t> </a:t>
            </a:r>
            <a:r>
              <a:rPr dirty="0" err="1"/>
              <a:t>transversales</a:t>
            </a:r>
            <a:r>
              <a:rPr dirty="0"/>
              <a:t> </a:t>
            </a:r>
            <a:r>
              <a:rPr dirty="0" err="1"/>
              <a:t>en</a:t>
            </a:r>
            <a:r>
              <a:rPr dirty="0"/>
              <a:t> la </a:t>
            </a:r>
            <a:r>
              <a:rPr dirty="0" err="1"/>
              <a:t>universidad</a:t>
            </a:r>
            <a:r>
              <a:rPr dirty="0"/>
              <a:t>: </a:t>
            </a:r>
            <a:r>
              <a:rPr dirty="0" err="1"/>
              <a:t>propiedades</a:t>
            </a:r>
            <a:r>
              <a:rPr dirty="0"/>
              <a:t> </a:t>
            </a:r>
            <a:r>
              <a:rPr dirty="0" err="1"/>
              <a:t>psicométricas</a:t>
            </a:r>
            <a:r>
              <a:rPr dirty="0"/>
              <a:t> de un </a:t>
            </a:r>
            <a:r>
              <a:rPr dirty="0" err="1"/>
              <a:t>cuestionario</a:t>
            </a:r>
            <a:r>
              <a:rPr dirty="0"/>
              <a:t>. </a:t>
            </a:r>
            <a:r>
              <a:rPr dirty="0" err="1"/>
              <a:t>Educación</a:t>
            </a:r>
            <a:r>
              <a:rPr dirty="0"/>
              <a:t> XX1, 21(1), 231–262. https://</a:t>
            </a:r>
            <a:r>
              <a:rPr dirty="0" err="1"/>
              <a:t>doi.org</a:t>
            </a:r>
            <a:r>
              <a:rPr dirty="0"/>
              <a:t>/10.5944/educXX1.15662 . </a:t>
            </a:r>
            <a:r>
              <a:rPr dirty="0" err="1"/>
              <a:t>Texto</a:t>
            </a:r>
            <a:r>
              <a:rPr dirty="0"/>
              <a:t> </a:t>
            </a:r>
            <a:r>
              <a:rPr dirty="0" err="1"/>
              <a:t>consultado</a:t>
            </a:r>
            <a:r>
              <a:rPr dirty="0"/>
              <a:t>: https://</a:t>
            </a:r>
            <a:r>
              <a:rPr dirty="0" err="1"/>
              <a:t>www.researchgate.net</a:t>
            </a:r>
            <a:r>
              <a:rPr dirty="0"/>
              <a:t>/publication/320903625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GUION SUGERIDO</a:t>
            </a:r>
          </a:p>
          <a:p>
            <a:r>
              <a:rPr dirty="0"/>
              <a:t>El </a:t>
            </a:r>
            <a:r>
              <a:rPr dirty="0" err="1"/>
              <a:t>cuestionario</a:t>
            </a:r>
            <a:r>
              <a:rPr dirty="0"/>
              <a:t> </a:t>
            </a:r>
            <a:r>
              <a:rPr dirty="0" err="1"/>
              <a:t>contiene</a:t>
            </a:r>
            <a:r>
              <a:rPr dirty="0"/>
              <a:t> 15 </a:t>
            </a:r>
            <a:r>
              <a:rPr dirty="0" err="1"/>
              <a:t>competencias</a:t>
            </a:r>
            <a:r>
              <a:rPr dirty="0"/>
              <a:t> y 57 </a:t>
            </a:r>
            <a:r>
              <a:rPr dirty="0" err="1"/>
              <a:t>unidades</a:t>
            </a:r>
            <a:r>
              <a:rPr dirty="0"/>
              <a:t>, </a:t>
            </a:r>
            <a:r>
              <a:rPr dirty="0" err="1"/>
              <a:t>valoradas</a:t>
            </a:r>
            <a:r>
              <a:rPr dirty="0"/>
              <a:t> de 1 a 5. El CECTGRA </a:t>
            </a:r>
            <a:r>
              <a:rPr dirty="0" err="1"/>
              <a:t>evalúa</a:t>
            </a:r>
            <a:r>
              <a:rPr dirty="0"/>
              <a:t> </a:t>
            </a:r>
            <a:r>
              <a:rPr dirty="0" err="1"/>
              <a:t>competencias</a:t>
            </a:r>
            <a:r>
              <a:rPr dirty="0"/>
              <a:t> </a:t>
            </a:r>
            <a:r>
              <a:rPr dirty="0" err="1"/>
              <a:t>instrumentales</a:t>
            </a:r>
            <a:r>
              <a:rPr dirty="0"/>
              <a:t>, </a:t>
            </a:r>
            <a:r>
              <a:rPr dirty="0" err="1"/>
              <a:t>personales</a:t>
            </a:r>
            <a:r>
              <a:rPr dirty="0"/>
              <a:t> y </a:t>
            </a:r>
            <a:r>
              <a:rPr dirty="0" err="1"/>
              <a:t>sistémicas</a:t>
            </a:r>
            <a:r>
              <a:rPr dirty="0"/>
              <a:t>. </a:t>
            </a:r>
            <a:r>
              <a:rPr dirty="0" err="1"/>
              <a:t>Incluye</a:t>
            </a:r>
            <a:r>
              <a:rPr dirty="0"/>
              <a:t> </a:t>
            </a:r>
            <a:r>
              <a:rPr dirty="0" err="1"/>
              <a:t>comunicación</a:t>
            </a:r>
            <a:r>
              <a:rPr dirty="0"/>
              <a:t>, </a:t>
            </a:r>
            <a:r>
              <a:rPr dirty="0" err="1"/>
              <a:t>organización</a:t>
            </a:r>
            <a:r>
              <a:rPr dirty="0"/>
              <a:t>, </a:t>
            </a:r>
            <a:r>
              <a:rPr dirty="0" err="1"/>
              <a:t>trabajo</a:t>
            </a:r>
            <a:r>
              <a:rPr dirty="0"/>
              <a:t> </a:t>
            </a:r>
            <a:r>
              <a:rPr dirty="0" err="1"/>
              <a:t>en</a:t>
            </a:r>
            <a:r>
              <a:rPr dirty="0"/>
              <a:t> </a:t>
            </a:r>
            <a:r>
              <a:rPr dirty="0" err="1"/>
              <a:t>equipo</a:t>
            </a:r>
            <a:r>
              <a:rPr dirty="0"/>
              <a:t> y </a:t>
            </a:r>
            <a:r>
              <a:rPr dirty="0" err="1"/>
              <a:t>otras</a:t>
            </a:r>
            <a:r>
              <a:rPr dirty="0"/>
              <a:t> </a:t>
            </a:r>
            <a:r>
              <a:rPr dirty="0" err="1"/>
              <a:t>capacidades</a:t>
            </a:r>
            <a:r>
              <a:rPr dirty="0"/>
              <a:t> </a:t>
            </a:r>
            <a:r>
              <a:rPr dirty="0" err="1"/>
              <a:t>útiles</a:t>
            </a:r>
            <a:r>
              <a:rPr dirty="0"/>
              <a:t> </a:t>
            </a:r>
            <a:r>
              <a:rPr dirty="0" err="1"/>
              <a:t>en</a:t>
            </a:r>
            <a:r>
              <a:rPr dirty="0"/>
              <a:t> </a:t>
            </a:r>
            <a:r>
              <a:rPr dirty="0" err="1"/>
              <a:t>distintas</a:t>
            </a:r>
            <a:r>
              <a:rPr dirty="0"/>
              <a:t> </a:t>
            </a:r>
            <a:r>
              <a:rPr dirty="0" err="1"/>
              <a:t>profesiones</a:t>
            </a:r>
            <a:r>
              <a:rPr dirty="0"/>
              <a:t>. Para </a:t>
            </a:r>
            <a:r>
              <a:rPr dirty="0" err="1"/>
              <a:t>una</a:t>
            </a:r>
            <a:r>
              <a:rPr dirty="0"/>
              <a:t> </a:t>
            </a:r>
            <a:r>
              <a:rPr dirty="0" err="1"/>
              <a:t>capacidad</a:t>
            </a:r>
            <a:r>
              <a:rPr dirty="0"/>
              <a:t> </a:t>
            </a:r>
            <a:r>
              <a:rPr dirty="0" err="1"/>
              <a:t>como</a:t>
            </a:r>
            <a:r>
              <a:rPr dirty="0"/>
              <a:t> </a:t>
            </a:r>
            <a:r>
              <a:rPr dirty="0" err="1"/>
              <a:t>comunicar</a:t>
            </a:r>
            <a:r>
              <a:rPr dirty="0"/>
              <a:t> ideas, </a:t>
            </a:r>
            <a:r>
              <a:rPr dirty="0" err="1"/>
              <a:t>desarrollo</a:t>
            </a:r>
            <a:r>
              <a:rPr dirty="0"/>
              <a:t> </a:t>
            </a:r>
            <a:r>
              <a:rPr dirty="0" err="1"/>
              <a:t>pregunta</a:t>
            </a:r>
            <a:r>
              <a:rPr dirty="0"/>
              <a:t> </a:t>
            </a:r>
            <a:r>
              <a:rPr dirty="0" err="1"/>
              <a:t>cuánto</a:t>
            </a:r>
            <a:r>
              <a:rPr dirty="0"/>
              <a:t> se </a:t>
            </a:r>
            <a:r>
              <a:rPr dirty="0" err="1"/>
              <a:t>trabajó</a:t>
            </a:r>
            <a:r>
              <a:rPr dirty="0"/>
              <a:t> </a:t>
            </a:r>
            <a:r>
              <a:rPr dirty="0" err="1"/>
              <a:t>en</a:t>
            </a:r>
            <a:r>
              <a:rPr dirty="0"/>
              <a:t> la </a:t>
            </a:r>
            <a:r>
              <a:rPr dirty="0" err="1"/>
              <a:t>universidad</a:t>
            </a:r>
            <a:r>
              <a:rPr dirty="0"/>
              <a:t>; </a:t>
            </a:r>
            <a:r>
              <a:rPr dirty="0" err="1"/>
              <a:t>dominio</a:t>
            </a:r>
            <a:r>
              <a:rPr dirty="0"/>
              <a:t>, </a:t>
            </a:r>
            <a:r>
              <a:rPr dirty="0" err="1"/>
              <a:t>cuánto</a:t>
            </a:r>
            <a:r>
              <a:rPr dirty="0"/>
              <a:t> </a:t>
            </a:r>
            <a:r>
              <a:rPr dirty="0" err="1"/>
              <a:t>considera</a:t>
            </a:r>
            <a:r>
              <a:rPr dirty="0"/>
              <a:t> la persona </a:t>
            </a:r>
            <a:r>
              <a:rPr dirty="0" err="1"/>
              <a:t>que</a:t>
            </a:r>
            <a:r>
              <a:rPr dirty="0"/>
              <a:t> </a:t>
            </a:r>
            <a:r>
              <a:rPr dirty="0" err="1"/>
              <a:t>puede</a:t>
            </a:r>
            <a:r>
              <a:rPr dirty="0"/>
              <a:t> </a:t>
            </a:r>
            <a:r>
              <a:rPr dirty="0" err="1"/>
              <a:t>hacerlo</a:t>
            </a:r>
            <a:r>
              <a:rPr dirty="0"/>
              <a:t>; y </a:t>
            </a:r>
            <a:r>
              <a:rPr dirty="0" err="1"/>
              <a:t>relevancia</a:t>
            </a:r>
            <a:r>
              <a:rPr dirty="0"/>
              <a:t>, </a:t>
            </a:r>
            <a:r>
              <a:rPr dirty="0" err="1"/>
              <a:t>qué</a:t>
            </a:r>
            <a:r>
              <a:rPr dirty="0"/>
              <a:t> </a:t>
            </a:r>
            <a:r>
              <a:rPr dirty="0" err="1"/>
              <a:t>importancia</a:t>
            </a:r>
            <a:r>
              <a:rPr dirty="0"/>
              <a:t> le </a:t>
            </a:r>
            <a:r>
              <a:rPr dirty="0" err="1"/>
              <a:t>atribuye</a:t>
            </a:r>
            <a:r>
              <a:rPr dirty="0"/>
              <a:t> para </a:t>
            </a:r>
            <a:r>
              <a:rPr dirty="0" err="1"/>
              <a:t>su</a:t>
            </a:r>
            <a:r>
              <a:rPr dirty="0"/>
              <a:t> </a:t>
            </a:r>
            <a:r>
              <a:rPr dirty="0" err="1"/>
              <a:t>profesión</a:t>
            </a:r>
            <a:r>
              <a:rPr dirty="0"/>
              <a:t>. </a:t>
            </a:r>
            <a:r>
              <a:rPr dirty="0" err="1"/>
              <a:t>Estas</a:t>
            </a:r>
            <a:r>
              <a:rPr dirty="0"/>
              <a:t> </a:t>
            </a:r>
            <a:r>
              <a:rPr dirty="0" err="1"/>
              <a:t>tres</a:t>
            </a:r>
            <a:r>
              <a:rPr dirty="0"/>
              <a:t> </a:t>
            </a:r>
            <a:r>
              <a:rPr dirty="0" err="1"/>
              <a:t>respuestas</a:t>
            </a:r>
            <a:r>
              <a:rPr dirty="0"/>
              <a:t> </a:t>
            </a:r>
            <a:r>
              <a:rPr dirty="0" err="1"/>
              <a:t>pueden</a:t>
            </a:r>
            <a:r>
              <a:rPr dirty="0"/>
              <a:t> ser </a:t>
            </a:r>
            <a:r>
              <a:rPr dirty="0" err="1"/>
              <a:t>distintas</a:t>
            </a:r>
            <a:r>
              <a:rPr dirty="0"/>
              <a:t>. En </a:t>
            </a:r>
            <a:r>
              <a:rPr dirty="0" err="1"/>
              <a:t>su</a:t>
            </a:r>
            <a:r>
              <a:rPr dirty="0"/>
              <a:t> </a:t>
            </a:r>
            <a:r>
              <a:rPr dirty="0" err="1"/>
              <a:t>origen</a:t>
            </a:r>
            <a:r>
              <a:rPr dirty="0"/>
              <a:t> es un </a:t>
            </a:r>
            <a:r>
              <a:rPr dirty="0" err="1"/>
              <a:t>instrumento</a:t>
            </a:r>
            <a:r>
              <a:rPr dirty="0"/>
              <a:t> </a:t>
            </a:r>
            <a:r>
              <a:rPr dirty="0" err="1"/>
              <a:t>estudiantil</a:t>
            </a:r>
            <a:r>
              <a:rPr dirty="0"/>
              <a:t>. Para </a:t>
            </a:r>
            <a:r>
              <a:rPr dirty="0" err="1"/>
              <a:t>que</a:t>
            </a:r>
            <a:r>
              <a:rPr dirty="0"/>
              <a:t> un supervisor </a:t>
            </a:r>
            <a:r>
              <a:rPr dirty="0" err="1"/>
              <a:t>valore</a:t>
            </a:r>
            <a:r>
              <a:rPr dirty="0"/>
              <a:t> a </a:t>
            </a:r>
            <a:r>
              <a:rPr dirty="0" err="1"/>
              <a:t>otra</a:t>
            </a:r>
            <a:r>
              <a:rPr dirty="0"/>
              <a:t> persona </a:t>
            </a:r>
            <a:r>
              <a:rPr dirty="0" err="1"/>
              <a:t>debemos</a:t>
            </a:r>
            <a:r>
              <a:rPr dirty="0"/>
              <a:t> </a:t>
            </a:r>
            <a:r>
              <a:rPr dirty="0" err="1"/>
              <a:t>revisar</a:t>
            </a:r>
            <a:r>
              <a:rPr dirty="0"/>
              <a:t> y </a:t>
            </a:r>
            <a:r>
              <a:rPr dirty="0" err="1"/>
              <a:t>evaluar</a:t>
            </a:r>
            <a:r>
              <a:rPr dirty="0"/>
              <a:t> </a:t>
            </a:r>
            <a:r>
              <a:rPr dirty="0" err="1"/>
              <a:t>una</a:t>
            </a:r>
            <a:r>
              <a:rPr dirty="0"/>
              <a:t> </a:t>
            </a:r>
            <a:r>
              <a:rPr dirty="0" err="1"/>
              <a:t>adaptación</a:t>
            </a:r>
            <a:r>
              <a:rPr dirty="0"/>
              <a:t>.</a:t>
            </a:r>
          </a:p>
          <a:p>
            <a:endParaRPr dirty="0"/>
          </a:p>
          <a:p>
            <a:r>
              <a:rPr dirty="0"/>
              <a:t>FUENTES</a:t>
            </a:r>
          </a:p>
          <a:p>
            <a:r>
              <a:rPr dirty="0"/>
              <a:t>Martínez Clares, P. y González Morga, N. (2018). Las </a:t>
            </a:r>
            <a:r>
              <a:rPr dirty="0" err="1"/>
              <a:t>competencias</a:t>
            </a:r>
            <a:r>
              <a:rPr dirty="0"/>
              <a:t> </a:t>
            </a:r>
            <a:r>
              <a:rPr dirty="0" err="1"/>
              <a:t>transversales</a:t>
            </a:r>
            <a:r>
              <a:rPr dirty="0"/>
              <a:t> </a:t>
            </a:r>
            <a:r>
              <a:rPr dirty="0" err="1"/>
              <a:t>en</a:t>
            </a:r>
            <a:r>
              <a:rPr dirty="0"/>
              <a:t> la </a:t>
            </a:r>
            <a:r>
              <a:rPr dirty="0" err="1"/>
              <a:t>universidad</a:t>
            </a:r>
            <a:r>
              <a:rPr dirty="0"/>
              <a:t>: </a:t>
            </a:r>
            <a:r>
              <a:rPr dirty="0" err="1"/>
              <a:t>propiedades</a:t>
            </a:r>
            <a:r>
              <a:rPr dirty="0"/>
              <a:t> </a:t>
            </a:r>
            <a:r>
              <a:rPr dirty="0" err="1"/>
              <a:t>psicométricas</a:t>
            </a:r>
            <a:r>
              <a:rPr dirty="0"/>
              <a:t> de un </a:t>
            </a:r>
            <a:r>
              <a:rPr dirty="0" err="1"/>
              <a:t>cuestionario</a:t>
            </a:r>
            <a:r>
              <a:rPr dirty="0"/>
              <a:t>. </a:t>
            </a:r>
            <a:r>
              <a:rPr dirty="0" err="1"/>
              <a:t>Educación</a:t>
            </a:r>
            <a:r>
              <a:rPr dirty="0"/>
              <a:t> XX1, 21(1), 231–262. https://</a:t>
            </a:r>
            <a:r>
              <a:rPr dirty="0" err="1"/>
              <a:t>doi.org</a:t>
            </a:r>
            <a:r>
              <a:rPr dirty="0"/>
              <a:t>/10.5944/educXX1.15662 . </a:t>
            </a:r>
            <a:r>
              <a:rPr dirty="0" err="1"/>
              <a:t>Texto</a:t>
            </a:r>
            <a:r>
              <a:rPr dirty="0"/>
              <a:t> </a:t>
            </a:r>
            <a:r>
              <a:rPr dirty="0" err="1"/>
              <a:t>consultado</a:t>
            </a:r>
            <a:r>
              <a:rPr dirty="0"/>
              <a:t>: https://</a:t>
            </a:r>
            <a:r>
              <a:rPr dirty="0" err="1"/>
              <a:t>www.researchgate.net</a:t>
            </a:r>
            <a:r>
              <a:rPr dirty="0"/>
              <a:t>/publication/320903625 .</a:t>
            </a:r>
          </a:p>
          <a:p>
            <a:r>
              <a:rPr dirty="0" err="1"/>
              <a:t>Documento</a:t>
            </a:r>
            <a:r>
              <a:rPr dirty="0"/>
              <a:t> base: PIS-1531-MARIA ELENA (1).pdf, pp. 1–4, 11–13 y 19–20. Los </a:t>
            </a:r>
            <a:r>
              <a:rPr dirty="0" err="1"/>
              <a:t>cambios</a:t>
            </a:r>
            <a:r>
              <a:rPr dirty="0"/>
              <a:t> </a:t>
            </a:r>
            <a:r>
              <a:rPr dirty="0" err="1"/>
              <a:t>metodológicos</a:t>
            </a:r>
            <a:r>
              <a:rPr dirty="0"/>
              <a:t> </a:t>
            </a:r>
            <a:r>
              <a:rPr dirty="0" err="1"/>
              <a:t>proceden</a:t>
            </a:r>
            <a:r>
              <a:rPr dirty="0"/>
              <a:t> de </a:t>
            </a:r>
            <a:r>
              <a:rPr dirty="0" err="1"/>
              <a:t>acuerdos</a:t>
            </a:r>
            <a:r>
              <a:rPr dirty="0"/>
              <a:t> </a:t>
            </a:r>
            <a:r>
              <a:rPr dirty="0" err="1"/>
              <a:t>comunicados</a:t>
            </a:r>
            <a:r>
              <a:rPr dirty="0"/>
              <a:t> </a:t>
            </a:r>
            <a:r>
              <a:rPr dirty="0" err="1"/>
              <a:t>por</a:t>
            </a:r>
            <a:r>
              <a:rPr dirty="0"/>
              <a:t> David Pinto el 17 de </a:t>
            </a:r>
            <a:r>
              <a:rPr dirty="0" err="1"/>
              <a:t>octubre</a:t>
            </a:r>
            <a:r>
              <a:rPr dirty="0"/>
              <a:t> de 2026; </a:t>
            </a:r>
            <a:r>
              <a:rPr dirty="0" err="1"/>
              <a:t>pendientes</a:t>
            </a:r>
            <a:r>
              <a:rPr dirty="0"/>
              <a:t> de </a:t>
            </a:r>
            <a:r>
              <a:rPr dirty="0" err="1"/>
              <a:t>formalización</a:t>
            </a:r>
            <a:r>
              <a:rPr dirty="0"/>
              <a:t> </a:t>
            </a:r>
            <a:r>
              <a:rPr dirty="0" err="1"/>
              <a:t>institucional</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DC504-1079-F0C5-306E-38E4BBB7A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9C0E3-DC83-89CF-40DF-94D8A08B2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AE0B7-46F1-AE61-0799-276B1052CD4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2FF96D9-014A-A4BF-4274-1D3AFA8033F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02417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A46D2-FBAE-1D41-1E6E-5A83C42E3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7CFBC-8C5B-4CEE-2221-D4B3E8A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825A6-42CE-100B-792F-18B0CAA09B48}"/>
              </a:ext>
            </a:extLst>
          </p:cNvPr>
          <p:cNvSpPr>
            <a:spLocks noGrp="1"/>
          </p:cNvSpPr>
          <p:nvPr>
            <p:ph type="body" idx="1"/>
          </p:nvPr>
        </p:nvSpPr>
        <p:spPr/>
        <p:txBody>
          <a:bodyPr/>
          <a:lstStyle/>
          <a:p>
            <a:r>
              <a:rPr dirty="0"/>
              <a:t>GUION SUGERIDO</a:t>
            </a:r>
          </a:p>
          <a:p>
            <a:r>
              <a:rPr dirty="0"/>
              <a:t>El </a:t>
            </a:r>
            <a:r>
              <a:rPr dirty="0" err="1"/>
              <a:t>cuestionario</a:t>
            </a:r>
            <a:r>
              <a:rPr dirty="0"/>
              <a:t> </a:t>
            </a:r>
            <a:r>
              <a:rPr dirty="0" err="1"/>
              <a:t>contiene</a:t>
            </a:r>
            <a:r>
              <a:rPr dirty="0"/>
              <a:t> 15 </a:t>
            </a:r>
            <a:r>
              <a:rPr dirty="0" err="1"/>
              <a:t>competencias</a:t>
            </a:r>
            <a:r>
              <a:rPr dirty="0"/>
              <a:t> y 57 </a:t>
            </a:r>
            <a:r>
              <a:rPr dirty="0" err="1"/>
              <a:t>unidades</a:t>
            </a:r>
            <a:r>
              <a:rPr dirty="0"/>
              <a:t>, </a:t>
            </a:r>
            <a:r>
              <a:rPr dirty="0" err="1"/>
              <a:t>valoradas</a:t>
            </a:r>
            <a:r>
              <a:rPr dirty="0"/>
              <a:t> de 1 a 5. El CECTGRA </a:t>
            </a:r>
            <a:r>
              <a:rPr dirty="0" err="1"/>
              <a:t>evalúa</a:t>
            </a:r>
            <a:r>
              <a:rPr dirty="0"/>
              <a:t> </a:t>
            </a:r>
            <a:r>
              <a:rPr dirty="0" err="1"/>
              <a:t>competencias</a:t>
            </a:r>
            <a:r>
              <a:rPr dirty="0"/>
              <a:t> </a:t>
            </a:r>
            <a:r>
              <a:rPr dirty="0" err="1"/>
              <a:t>instrumentales</a:t>
            </a:r>
            <a:r>
              <a:rPr dirty="0"/>
              <a:t>, </a:t>
            </a:r>
            <a:r>
              <a:rPr dirty="0" err="1"/>
              <a:t>personales</a:t>
            </a:r>
            <a:r>
              <a:rPr dirty="0"/>
              <a:t> y </a:t>
            </a:r>
            <a:r>
              <a:rPr dirty="0" err="1"/>
              <a:t>sistémicas</a:t>
            </a:r>
            <a:r>
              <a:rPr dirty="0"/>
              <a:t>. </a:t>
            </a:r>
            <a:r>
              <a:rPr dirty="0" err="1"/>
              <a:t>Incluye</a:t>
            </a:r>
            <a:r>
              <a:rPr dirty="0"/>
              <a:t> </a:t>
            </a:r>
            <a:r>
              <a:rPr dirty="0" err="1"/>
              <a:t>comunicación</a:t>
            </a:r>
            <a:r>
              <a:rPr dirty="0"/>
              <a:t>, </a:t>
            </a:r>
            <a:r>
              <a:rPr dirty="0" err="1"/>
              <a:t>organización</a:t>
            </a:r>
            <a:r>
              <a:rPr dirty="0"/>
              <a:t>, </a:t>
            </a:r>
            <a:r>
              <a:rPr dirty="0" err="1"/>
              <a:t>trabajo</a:t>
            </a:r>
            <a:r>
              <a:rPr dirty="0"/>
              <a:t> </a:t>
            </a:r>
            <a:r>
              <a:rPr dirty="0" err="1"/>
              <a:t>en</a:t>
            </a:r>
            <a:r>
              <a:rPr dirty="0"/>
              <a:t> </a:t>
            </a:r>
            <a:r>
              <a:rPr dirty="0" err="1"/>
              <a:t>equipo</a:t>
            </a:r>
            <a:r>
              <a:rPr dirty="0"/>
              <a:t> y </a:t>
            </a:r>
            <a:r>
              <a:rPr dirty="0" err="1"/>
              <a:t>otras</a:t>
            </a:r>
            <a:r>
              <a:rPr dirty="0"/>
              <a:t> </a:t>
            </a:r>
            <a:r>
              <a:rPr dirty="0" err="1"/>
              <a:t>capacidades</a:t>
            </a:r>
            <a:r>
              <a:rPr dirty="0"/>
              <a:t> </a:t>
            </a:r>
            <a:r>
              <a:rPr dirty="0" err="1"/>
              <a:t>útiles</a:t>
            </a:r>
            <a:r>
              <a:rPr dirty="0"/>
              <a:t> </a:t>
            </a:r>
            <a:r>
              <a:rPr dirty="0" err="1"/>
              <a:t>en</a:t>
            </a:r>
            <a:r>
              <a:rPr dirty="0"/>
              <a:t> </a:t>
            </a:r>
            <a:r>
              <a:rPr dirty="0" err="1"/>
              <a:t>distintas</a:t>
            </a:r>
            <a:r>
              <a:rPr dirty="0"/>
              <a:t> </a:t>
            </a:r>
            <a:r>
              <a:rPr dirty="0" err="1"/>
              <a:t>profesiones</a:t>
            </a:r>
            <a:r>
              <a:rPr dirty="0"/>
              <a:t>. Para </a:t>
            </a:r>
            <a:r>
              <a:rPr dirty="0" err="1"/>
              <a:t>una</a:t>
            </a:r>
            <a:r>
              <a:rPr dirty="0"/>
              <a:t> </a:t>
            </a:r>
            <a:r>
              <a:rPr dirty="0" err="1"/>
              <a:t>capacidad</a:t>
            </a:r>
            <a:r>
              <a:rPr dirty="0"/>
              <a:t> </a:t>
            </a:r>
            <a:r>
              <a:rPr dirty="0" err="1"/>
              <a:t>como</a:t>
            </a:r>
            <a:r>
              <a:rPr dirty="0"/>
              <a:t> </a:t>
            </a:r>
            <a:r>
              <a:rPr dirty="0" err="1"/>
              <a:t>comunicar</a:t>
            </a:r>
            <a:r>
              <a:rPr dirty="0"/>
              <a:t> ideas, </a:t>
            </a:r>
            <a:r>
              <a:rPr dirty="0" err="1"/>
              <a:t>desarrollo</a:t>
            </a:r>
            <a:r>
              <a:rPr dirty="0"/>
              <a:t> </a:t>
            </a:r>
            <a:r>
              <a:rPr dirty="0" err="1"/>
              <a:t>pregunta</a:t>
            </a:r>
            <a:r>
              <a:rPr dirty="0"/>
              <a:t> </a:t>
            </a:r>
            <a:r>
              <a:rPr dirty="0" err="1"/>
              <a:t>cuánto</a:t>
            </a:r>
            <a:r>
              <a:rPr dirty="0"/>
              <a:t> se </a:t>
            </a:r>
            <a:r>
              <a:rPr dirty="0" err="1"/>
              <a:t>trabajó</a:t>
            </a:r>
            <a:r>
              <a:rPr dirty="0"/>
              <a:t> </a:t>
            </a:r>
            <a:r>
              <a:rPr dirty="0" err="1"/>
              <a:t>en</a:t>
            </a:r>
            <a:r>
              <a:rPr dirty="0"/>
              <a:t> la </a:t>
            </a:r>
            <a:r>
              <a:rPr dirty="0" err="1"/>
              <a:t>universidad</a:t>
            </a:r>
            <a:r>
              <a:rPr dirty="0"/>
              <a:t>; </a:t>
            </a:r>
            <a:r>
              <a:rPr dirty="0" err="1"/>
              <a:t>dominio</a:t>
            </a:r>
            <a:r>
              <a:rPr dirty="0"/>
              <a:t>, </a:t>
            </a:r>
            <a:r>
              <a:rPr dirty="0" err="1"/>
              <a:t>cuánto</a:t>
            </a:r>
            <a:r>
              <a:rPr dirty="0"/>
              <a:t> </a:t>
            </a:r>
            <a:r>
              <a:rPr dirty="0" err="1"/>
              <a:t>considera</a:t>
            </a:r>
            <a:r>
              <a:rPr dirty="0"/>
              <a:t> la persona </a:t>
            </a:r>
            <a:r>
              <a:rPr dirty="0" err="1"/>
              <a:t>que</a:t>
            </a:r>
            <a:r>
              <a:rPr dirty="0"/>
              <a:t> </a:t>
            </a:r>
            <a:r>
              <a:rPr dirty="0" err="1"/>
              <a:t>puede</a:t>
            </a:r>
            <a:r>
              <a:rPr dirty="0"/>
              <a:t> </a:t>
            </a:r>
            <a:r>
              <a:rPr dirty="0" err="1"/>
              <a:t>hacerlo</a:t>
            </a:r>
            <a:r>
              <a:rPr dirty="0"/>
              <a:t>; y </a:t>
            </a:r>
            <a:r>
              <a:rPr dirty="0" err="1"/>
              <a:t>relevancia</a:t>
            </a:r>
            <a:r>
              <a:rPr dirty="0"/>
              <a:t>, </a:t>
            </a:r>
            <a:r>
              <a:rPr dirty="0" err="1"/>
              <a:t>qué</a:t>
            </a:r>
            <a:r>
              <a:rPr dirty="0"/>
              <a:t> </a:t>
            </a:r>
            <a:r>
              <a:rPr dirty="0" err="1"/>
              <a:t>importancia</a:t>
            </a:r>
            <a:r>
              <a:rPr dirty="0"/>
              <a:t> le </a:t>
            </a:r>
            <a:r>
              <a:rPr dirty="0" err="1"/>
              <a:t>atribuye</a:t>
            </a:r>
            <a:r>
              <a:rPr dirty="0"/>
              <a:t> para </a:t>
            </a:r>
            <a:r>
              <a:rPr dirty="0" err="1"/>
              <a:t>su</a:t>
            </a:r>
            <a:r>
              <a:rPr dirty="0"/>
              <a:t> </a:t>
            </a:r>
            <a:r>
              <a:rPr dirty="0" err="1"/>
              <a:t>profesión</a:t>
            </a:r>
            <a:r>
              <a:rPr dirty="0"/>
              <a:t>. </a:t>
            </a:r>
            <a:r>
              <a:rPr dirty="0" err="1"/>
              <a:t>Estas</a:t>
            </a:r>
            <a:r>
              <a:rPr dirty="0"/>
              <a:t> </a:t>
            </a:r>
            <a:r>
              <a:rPr dirty="0" err="1"/>
              <a:t>tres</a:t>
            </a:r>
            <a:r>
              <a:rPr dirty="0"/>
              <a:t> </a:t>
            </a:r>
            <a:r>
              <a:rPr dirty="0" err="1"/>
              <a:t>respuestas</a:t>
            </a:r>
            <a:r>
              <a:rPr dirty="0"/>
              <a:t> </a:t>
            </a:r>
            <a:r>
              <a:rPr dirty="0" err="1"/>
              <a:t>pueden</a:t>
            </a:r>
            <a:r>
              <a:rPr dirty="0"/>
              <a:t> ser </a:t>
            </a:r>
            <a:r>
              <a:rPr dirty="0" err="1"/>
              <a:t>distintas</a:t>
            </a:r>
            <a:r>
              <a:rPr dirty="0"/>
              <a:t>. En </a:t>
            </a:r>
            <a:r>
              <a:rPr dirty="0" err="1"/>
              <a:t>su</a:t>
            </a:r>
            <a:r>
              <a:rPr dirty="0"/>
              <a:t> </a:t>
            </a:r>
            <a:r>
              <a:rPr dirty="0" err="1"/>
              <a:t>origen</a:t>
            </a:r>
            <a:r>
              <a:rPr dirty="0"/>
              <a:t> es un </a:t>
            </a:r>
            <a:r>
              <a:rPr dirty="0" err="1"/>
              <a:t>instrumento</a:t>
            </a:r>
            <a:r>
              <a:rPr dirty="0"/>
              <a:t> </a:t>
            </a:r>
            <a:r>
              <a:rPr dirty="0" err="1"/>
              <a:t>estudiantil</a:t>
            </a:r>
            <a:r>
              <a:rPr dirty="0"/>
              <a:t>. Para </a:t>
            </a:r>
            <a:r>
              <a:rPr dirty="0" err="1"/>
              <a:t>que</a:t>
            </a:r>
            <a:r>
              <a:rPr dirty="0"/>
              <a:t> un supervisor </a:t>
            </a:r>
            <a:r>
              <a:rPr dirty="0" err="1"/>
              <a:t>valore</a:t>
            </a:r>
            <a:r>
              <a:rPr dirty="0"/>
              <a:t> a </a:t>
            </a:r>
            <a:r>
              <a:rPr dirty="0" err="1"/>
              <a:t>otra</a:t>
            </a:r>
            <a:r>
              <a:rPr dirty="0"/>
              <a:t> persona </a:t>
            </a:r>
            <a:r>
              <a:rPr dirty="0" err="1"/>
              <a:t>debemos</a:t>
            </a:r>
            <a:r>
              <a:rPr dirty="0"/>
              <a:t> </a:t>
            </a:r>
            <a:r>
              <a:rPr dirty="0" err="1"/>
              <a:t>revisar</a:t>
            </a:r>
            <a:r>
              <a:rPr dirty="0"/>
              <a:t> y </a:t>
            </a:r>
            <a:r>
              <a:rPr dirty="0" err="1"/>
              <a:t>evaluar</a:t>
            </a:r>
            <a:r>
              <a:rPr dirty="0"/>
              <a:t> </a:t>
            </a:r>
            <a:r>
              <a:rPr dirty="0" err="1"/>
              <a:t>una</a:t>
            </a:r>
            <a:r>
              <a:rPr dirty="0"/>
              <a:t> </a:t>
            </a:r>
            <a:r>
              <a:rPr dirty="0" err="1"/>
              <a:t>adaptación</a:t>
            </a:r>
            <a:r>
              <a:rPr dirty="0"/>
              <a:t>.</a:t>
            </a:r>
          </a:p>
          <a:p>
            <a:endParaRPr dirty="0"/>
          </a:p>
          <a:p>
            <a:r>
              <a:rPr dirty="0"/>
              <a:t>FUENTES</a:t>
            </a:r>
          </a:p>
          <a:p>
            <a:r>
              <a:rPr dirty="0"/>
              <a:t>Martínez Clares, P. y González Morga, N. (2018). Las </a:t>
            </a:r>
            <a:r>
              <a:rPr dirty="0" err="1"/>
              <a:t>competencias</a:t>
            </a:r>
            <a:r>
              <a:rPr dirty="0"/>
              <a:t> </a:t>
            </a:r>
            <a:r>
              <a:rPr dirty="0" err="1"/>
              <a:t>transversales</a:t>
            </a:r>
            <a:r>
              <a:rPr dirty="0"/>
              <a:t> </a:t>
            </a:r>
            <a:r>
              <a:rPr dirty="0" err="1"/>
              <a:t>en</a:t>
            </a:r>
            <a:r>
              <a:rPr dirty="0"/>
              <a:t> la </a:t>
            </a:r>
            <a:r>
              <a:rPr dirty="0" err="1"/>
              <a:t>universidad</a:t>
            </a:r>
            <a:r>
              <a:rPr dirty="0"/>
              <a:t>: </a:t>
            </a:r>
            <a:r>
              <a:rPr dirty="0" err="1"/>
              <a:t>propiedades</a:t>
            </a:r>
            <a:r>
              <a:rPr dirty="0"/>
              <a:t> </a:t>
            </a:r>
            <a:r>
              <a:rPr dirty="0" err="1"/>
              <a:t>psicométricas</a:t>
            </a:r>
            <a:r>
              <a:rPr dirty="0"/>
              <a:t> de un </a:t>
            </a:r>
            <a:r>
              <a:rPr dirty="0" err="1"/>
              <a:t>cuestionario</a:t>
            </a:r>
            <a:r>
              <a:rPr dirty="0"/>
              <a:t>. </a:t>
            </a:r>
            <a:r>
              <a:rPr dirty="0" err="1"/>
              <a:t>Educación</a:t>
            </a:r>
            <a:r>
              <a:rPr dirty="0"/>
              <a:t> XX1, 21(1), 231–262. https://</a:t>
            </a:r>
            <a:r>
              <a:rPr dirty="0" err="1"/>
              <a:t>doi.org</a:t>
            </a:r>
            <a:r>
              <a:rPr dirty="0"/>
              <a:t>/10.5944/educXX1.15662 . </a:t>
            </a:r>
            <a:r>
              <a:rPr dirty="0" err="1"/>
              <a:t>Texto</a:t>
            </a:r>
            <a:r>
              <a:rPr dirty="0"/>
              <a:t> </a:t>
            </a:r>
            <a:r>
              <a:rPr dirty="0" err="1"/>
              <a:t>consultado</a:t>
            </a:r>
            <a:r>
              <a:rPr dirty="0"/>
              <a:t>: https://</a:t>
            </a:r>
            <a:r>
              <a:rPr dirty="0" err="1"/>
              <a:t>www.researchgate.net</a:t>
            </a:r>
            <a:r>
              <a:rPr dirty="0"/>
              <a:t>/publication/320903625 .</a:t>
            </a:r>
          </a:p>
          <a:p>
            <a:r>
              <a:rPr dirty="0" err="1"/>
              <a:t>Documento</a:t>
            </a:r>
            <a:r>
              <a:rPr dirty="0"/>
              <a:t> base: PIS-1531-MARIA ELENA (1).pdf, pp. 1–4, 11–13 y 19–20. Los </a:t>
            </a:r>
            <a:r>
              <a:rPr dirty="0" err="1"/>
              <a:t>cambios</a:t>
            </a:r>
            <a:r>
              <a:rPr dirty="0"/>
              <a:t> </a:t>
            </a:r>
            <a:r>
              <a:rPr dirty="0" err="1"/>
              <a:t>metodológicos</a:t>
            </a:r>
            <a:r>
              <a:rPr dirty="0"/>
              <a:t> </a:t>
            </a:r>
            <a:r>
              <a:rPr dirty="0" err="1"/>
              <a:t>proceden</a:t>
            </a:r>
            <a:r>
              <a:rPr dirty="0"/>
              <a:t> de </a:t>
            </a:r>
            <a:r>
              <a:rPr dirty="0" err="1"/>
              <a:t>acuerdos</a:t>
            </a:r>
            <a:r>
              <a:rPr dirty="0"/>
              <a:t> </a:t>
            </a:r>
            <a:r>
              <a:rPr dirty="0" err="1"/>
              <a:t>comunicados</a:t>
            </a:r>
            <a:r>
              <a:rPr dirty="0"/>
              <a:t> </a:t>
            </a:r>
            <a:r>
              <a:rPr dirty="0" err="1"/>
              <a:t>por</a:t>
            </a:r>
            <a:r>
              <a:rPr dirty="0"/>
              <a:t> David Pinto el 17 de </a:t>
            </a:r>
            <a:r>
              <a:rPr dirty="0" err="1"/>
              <a:t>octubre</a:t>
            </a:r>
            <a:r>
              <a:rPr dirty="0"/>
              <a:t> de 2026; </a:t>
            </a:r>
            <a:r>
              <a:rPr dirty="0" err="1"/>
              <a:t>pendientes</a:t>
            </a:r>
            <a:r>
              <a:rPr dirty="0"/>
              <a:t> de </a:t>
            </a:r>
            <a:r>
              <a:rPr dirty="0" err="1"/>
              <a:t>formalización</a:t>
            </a:r>
            <a:r>
              <a:rPr dirty="0"/>
              <a:t> </a:t>
            </a:r>
            <a:r>
              <a:rPr dirty="0" err="1"/>
              <a:t>institucional</a:t>
            </a:r>
            <a:r>
              <a:rPr dirty="0"/>
              <a:t>.</a:t>
            </a:r>
          </a:p>
        </p:txBody>
      </p:sp>
      <p:sp>
        <p:nvSpPr>
          <p:cNvPr id="4" name="Slide Number Placeholder 3">
            <a:extLst>
              <a:ext uri="{FF2B5EF4-FFF2-40B4-BE49-F238E27FC236}">
                <a16:creationId xmlns:a16="http://schemas.microsoft.com/office/drawing/2014/main" id="{753F7FE7-0E09-BD0D-51A9-9B962517DB2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17114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GUION SUGERIDO</a:t>
            </a:r>
          </a:p>
          <a:p>
            <a:r>
              <a:rPr dirty="0"/>
              <a:t>El </a:t>
            </a:r>
            <a:r>
              <a:rPr dirty="0" err="1"/>
              <a:t>artículo</a:t>
            </a:r>
            <a:r>
              <a:rPr dirty="0"/>
              <a:t> original de Martínez Clares y González Morga </a:t>
            </a:r>
            <a:r>
              <a:rPr dirty="0" err="1"/>
              <a:t>diseña</a:t>
            </a:r>
            <a:r>
              <a:rPr dirty="0"/>
              <a:t> el </a:t>
            </a:r>
            <a:r>
              <a:rPr dirty="0" err="1"/>
              <a:t>instrumento</a:t>
            </a:r>
            <a:r>
              <a:rPr dirty="0"/>
              <a:t> y </a:t>
            </a:r>
            <a:r>
              <a:rPr dirty="0" err="1"/>
              <a:t>aporta</a:t>
            </a:r>
            <a:r>
              <a:rPr dirty="0"/>
              <a:t> </a:t>
            </a:r>
            <a:r>
              <a:rPr dirty="0" err="1"/>
              <a:t>evidencia</a:t>
            </a:r>
            <a:r>
              <a:rPr dirty="0"/>
              <a:t> de </a:t>
            </a:r>
            <a:r>
              <a:rPr dirty="0" err="1"/>
              <a:t>contenido</a:t>
            </a:r>
            <a:r>
              <a:rPr dirty="0"/>
              <a:t>, </a:t>
            </a:r>
            <a:r>
              <a:rPr dirty="0" err="1"/>
              <a:t>consistencia</a:t>
            </a:r>
            <a:r>
              <a:rPr dirty="0"/>
              <a:t> y </a:t>
            </a:r>
            <a:r>
              <a:rPr dirty="0" err="1"/>
              <a:t>estructura</a:t>
            </a:r>
            <a:r>
              <a:rPr dirty="0"/>
              <a:t> factorial. En Perú, Noel-Cárdenas y </a:t>
            </a:r>
            <a:r>
              <a:rPr dirty="0" err="1"/>
              <a:t>colaboradores</a:t>
            </a:r>
            <a:r>
              <a:rPr dirty="0"/>
              <a:t> </a:t>
            </a:r>
            <a:r>
              <a:rPr dirty="0" err="1"/>
              <a:t>comparan</a:t>
            </a:r>
            <a:r>
              <a:rPr dirty="0"/>
              <a:t> </a:t>
            </a:r>
            <a:r>
              <a:rPr dirty="0" err="1"/>
              <a:t>carreras</a:t>
            </a:r>
            <a:r>
              <a:rPr dirty="0"/>
              <a:t> y </a:t>
            </a:r>
            <a:r>
              <a:rPr dirty="0" err="1"/>
              <a:t>encuentran</a:t>
            </a:r>
            <a:r>
              <a:rPr dirty="0"/>
              <a:t> </a:t>
            </a:r>
            <a:r>
              <a:rPr dirty="0" err="1"/>
              <a:t>diferencias</a:t>
            </a:r>
            <a:r>
              <a:rPr dirty="0"/>
              <a:t> </a:t>
            </a:r>
            <a:r>
              <a:rPr dirty="0" err="1"/>
              <a:t>instrumentales</a:t>
            </a:r>
            <a:r>
              <a:rPr dirty="0"/>
              <a:t>, </a:t>
            </a:r>
            <a:r>
              <a:rPr dirty="0" err="1"/>
              <a:t>pero</a:t>
            </a:r>
            <a:r>
              <a:rPr dirty="0"/>
              <a:t> no </a:t>
            </a:r>
            <a:r>
              <a:rPr dirty="0" err="1"/>
              <a:t>en</a:t>
            </a:r>
            <a:r>
              <a:rPr dirty="0"/>
              <a:t> </a:t>
            </a:r>
            <a:r>
              <a:rPr dirty="0" err="1"/>
              <a:t>los</a:t>
            </a:r>
            <a:r>
              <a:rPr dirty="0"/>
              <a:t> </a:t>
            </a:r>
            <a:r>
              <a:rPr dirty="0" err="1"/>
              <a:t>otros</a:t>
            </a:r>
            <a:r>
              <a:rPr dirty="0"/>
              <a:t> </a:t>
            </a:r>
            <a:r>
              <a:rPr dirty="0" err="1"/>
              <a:t>grupos</a:t>
            </a:r>
            <a:r>
              <a:rPr dirty="0"/>
              <a:t>. </a:t>
            </a:r>
            <a:r>
              <a:rPr dirty="0" err="1"/>
              <a:t>Reportan</a:t>
            </a:r>
            <a:r>
              <a:rPr dirty="0"/>
              <a:t> alfa de 0,91 sin </a:t>
            </a:r>
            <a:r>
              <a:rPr dirty="0" err="1"/>
              <a:t>detallar</a:t>
            </a:r>
            <a:r>
              <a:rPr dirty="0"/>
              <a:t> </a:t>
            </a:r>
            <a:r>
              <a:rPr dirty="0" err="1"/>
              <a:t>suficientemente</a:t>
            </a:r>
            <a:r>
              <a:rPr dirty="0"/>
              <a:t> </a:t>
            </a:r>
            <a:r>
              <a:rPr dirty="0" err="1"/>
              <a:t>su</a:t>
            </a:r>
            <a:r>
              <a:rPr dirty="0"/>
              <a:t> </a:t>
            </a:r>
            <a:r>
              <a:rPr dirty="0" err="1"/>
              <a:t>cálculo</a:t>
            </a:r>
            <a:r>
              <a:rPr dirty="0"/>
              <a:t>, y no publican el </a:t>
            </a:r>
            <a:r>
              <a:rPr dirty="0" err="1"/>
              <a:t>formulario</a:t>
            </a:r>
            <a:r>
              <a:rPr dirty="0"/>
              <a:t> </a:t>
            </a:r>
            <a:r>
              <a:rPr dirty="0" err="1"/>
              <a:t>completo</a:t>
            </a:r>
            <a:r>
              <a:rPr dirty="0"/>
              <a:t>. En Europa, </a:t>
            </a:r>
            <a:r>
              <a:rPr dirty="0" err="1"/>
              <a:t>Cánovas</a:t>
            </a:r>
            <a:r>
              <a:rPr dirty="0"/>
              <a:t>-Alvarez y </a:t>
            </a:r>
            <a:r>
              <a:rPr dirty="0" err="1"/>
              <a:t>colaboradores</a:t>
            </a:r>
            <a:r>
              <a:rPr dirty="0"/>
              <a:t> </a:t>
            </a:r>
            <a:r>
              <a:rPr dirty="0" err="1"/>
              <a:t>traducen</a:t>
            </a:r>
            <a:r>
              <a:rPr dirty="0"/>
              <a:t> y </a:t>
            </a:r>
            <a:r>
              <a:rPr dirty="0" err="1"/>
              <a:t>adaptan</a:t>
            </a:r>
            <a:r>
              <a:rPr dirty="0"/>
              <a:t> 57 </a:t>
            </a:r>
            <a:r>
              <a:rPr dirty="0" err="1"/>
              <a:t>ítems</a:t>
            </a:r>
            <a:r>
              <a:rPr dirty="0"/>
              <a:t>, con </a:t>
            </a:r>
            <a:r>
              <a:rPr dirty="0" err="1"/>
              <a:t>evaluación</a:t>
            </a:r>
            <a:r>
              <a:rPr dirty="0"/>
              <a:t> antes y </a:t>
            </a:r>
            <a:r>
              <a:rPr dirty="0" err="1"/>
              <a:t>después</a:t>
            </a:r>
            <a:r>
              <a:rPr dirty="0"/>
              <a:t> de un </a:t>
            </a:r>
            <a:r>
              <a:rPr dirty="0" err="1"/>
              <a:t>programa</a:t>
            </a:r>
            <a:r>
              <a:rPr dirty="0"/>
              <a:t> de </a:t>
            </a:r>
            <a:r>
              <a:rPr dirty="0" err="1"/>
              <a:t>liderazgo</a:t>
            </a:r>
            <a:r>
              <a:rPr dirty="0"/>
              <a:t>. No </a:t>
            </a:r>
            <a:r>
              <a:rPr dirty="0" err="1"/>
              <a:t>encuentran</a:t>
            </a:r>
            <a:r>
              <a:rPr dirty="0"/>
              <a:t> </a:t>
            </a:r>
            <a:r>
              <a:rPr dirty="0" err="1"/>
              <a:t>mejora</a:t>
            </a:r>
            <a:r>
              <a:rPr dirty="0"/>
              <a:t> </a:t>
            </a:r>
            <a:r>
              <a:rPr dirty="0" err="1"/>
              <a:t>significativa</a:t>
            </a:r>
            <a:r>
              <a:rPr dirty="0"/>
              <a:t> global </a:t>
            </a:r>
            <a:r>
              <a:rPr dirty="0" err="1"/>
              <a:t>en</a:t>
            </a:r>
            <a:r>
              <a:rPr dirty="0"/>
              <a:t> las </a:t>
            </a:r>
            <a:r>
              <a:rPr dirty="0" err="1"/>
              <a:t>percepciones</a:t>
            </a:r>
            <a:r>
              <a:rPr dirty="0"/>
              <a:t>. La </a:t>
            </a:r>
            <a:r>
              <a:rPr dirty="0" err="1"/>
              <a:t>participación</a:t>
            </a:r>
            <a:r>
              <a:rPr dirty="0"/>
              <a:t> de </a:t>
            </a:r>
            <a:r>
              <a:rPr dirty="0" err="1"/>
              <a:t>mentores</a:t>
            </a:r>
            <a:r>
              <a:rPr dirty="0"/>
              <a:t> no </a:t>
            </a:r>
            <a:r>
              <a:rPr dirty="0" err="1"/>
              <a:t>convierte</a:t>
            </a:r>
            <a:r>
              <a:rPr dirty="0"/>
              <a:t> </a:t>
            </a:r>
            <a:r>
              <a:rPr dirty="0" err="1"/>
              <a:t>esa</a:t>
            </a:r>
            <a:r>
              <a:rPr dirty="0"/>
              <a:t> </a:t>
            </a:r>
            <a:r>
              <a:rPr dirty="0" err="1"/>
              <a:t>aplicación</a:t>
            </a:r>
            <a:r>
              <a:rPr dirty="0"/>
              <a:t> </a:t>
            </a:r>
            <a:r>
              <a:rPr dirty="0" err="1"/>
              <a:t>en</a:t>
            </a:r>
            <a:r>
              <a:rPr dirty="0"/>
              <a:t> </a:t>
            </a:r>
            <a:r>
              <a:rPr dirty="0" err="1"/>
              <a:t>una</a:t>
            </a:r>
            <a:r>
              <a:rPr dirty="0"/>
              <a:t> </a:t>
            </a:r>
            <a:r>
              <a:rPr dirty="0" err="1"/>
              <a:t>validación</a:t>
            </a:r>
            <a:r>
              <a:rPr dirty="0"/>
              <a:t> de </a:t>
            </a:r>
            <a:r>
              <a:rPr dirty="0" err="1"/>
              <a:t>una</a:t>
            </a:r>
            <a:r>
              <a:rPr dirty="0"/>
              <a:t> </a:t>
            </a:r>
            <a:r>
              <a:rPr dirty="0" err="1"/>
              <a:t>encuesta</a:t>
            </a:r>
            <a:r>
              <a:rPr dirty="0"/>
              <a:t> </a:t>
            </a:r>
            <a:r>
              <a:rPr dirty="0" err="1"/>
              <a:t>respondida</a:t>
            </a:r>
            <a:r>
              <a:rPr dirty="0"/>
              <a:t> </a:t>
            </a:r>
            <a:r>
              <a:rPr dirty="0" err="1"/>
              <a:t>por</a:t>
            </a:r>
            <a:r>
              <a:rPr dirty="0"/>
              <a:t> </a:t>
            </a:r>
            <a:r>
              <a:rPr dirty="0" err="1"/>
              <a:t>supervisores</a:t>
            </a:r>
            <a:r>
              <a:rPr dirty="0"/>
              <a:t>.</a:t>
            </a:r>
          </a:p>
          <a:p>
            <a:endParaRPr dirty="0"/>
          </a:p>
          <a:p>
            <a:r>
              <a:rPr dirty="0"/>
              <a:t>FUENTES</a:t>
            </a:r>
          </a:p>
          <a:p>
            <a:r>
              <a:rPr dirty="0"/>
              <a:t>Martínez Clares, P. y González Morga, N. (2018). Las </a:t>
            </a:r>
            <a:r>
              <a:rPr dirty="0" err="1"/>
              <a:t>competencias</a:t>
            </a:r>
            <a:r>
              <a:rPr dirty="0"/>
              <a:t> </a:t>
            </a:r>
            <a:r>
              <a:rPr dirty="0" err="1"/>
              <a:t>transversales</a:t>
            </a:r>
            <a:r>
              <a:rPr dirty="0"/>
              <a:t> </a:t>
            </a:r>
            <a:r>
              <a:rPr dirty="0" err="1"/>
              <a:t>en</a:t>
            </a:r>
            <a:r>
              <a:rPr dirty="0"/>
              <a:t> la </a:t>
            </a:r>
            <a:r>
              <a:rPr dirty="0" err="1"/>
              <a:t>universidad</a:t>
            </a:r>
            <a:r>
              <a:rPr dirty="0"/>
              <a:t>: </a:t>
            </a:r>
            <a:r>
              <a:rPr dirty="0" err="1"/>
              <a:t>propiedades</a:t>
            </a:r>
            <a:r>
              <a:rPr dirty="0"/>
              <a:t> </a:t>
            </a:r>
            <a:r>
              <a:rPr dirty="0" err="1"/>
              <a:t>psicométricas</a:t>
            </a:r>
            <a:r>
              <a:rPr dirty="0"/>
              <a:t> de un </a:t>
            </a:r>
            <a:r>
              <a:rPr dirty="0" err="1"/>
              <a:t>cuestionario</a:t>
            </a:r>
            <a:r>
              <a:rPr dirty="0"/>
              <a:t>. </a:t>
            </a:r>
            <a:r>
              <a:rPr dirty="0" err="1"/>
              <a:t>Educación</a:t>
            </a:r>
            <a:r>
              <a:rPr dirty="0"/>
              <a:t> XX1, 21(1), 231–262. https://</a:t>
            </a:r>
            <a:r>
              <a:rPr dirty="0" err="1"/>
              <a:t>doi.org</a:t>
            </a:r>
            <a:r>
              <a:rPr dirty="0"/>
              <a:t>/10.5944/educXX1.15662 . </a:t>
            </a:r>
            <a:r>
              <a:rPr dirty="0" err="1"/>
              <a:t>Texto</a:t>
            </a:r>
            <a:r>
              <a:rPr dirty="0"/>
              <a:t> </a:t>
            </a:r>
            <a:r>
              <a:rPr dirty="0" err="1"/>
              <a:t>consultado</a:t>
            </a:r>
            <a:r>
              <a:rPr dirty="0"/>
              <a:t>: https://</a:t>
            </a:r>
            <a:r>
              <a:rPr dirty="0" err="1"/>
              <a:t>www.researchgate.net</a:t>
            </a:r>
            <a:r>
              <a:rPr dirty="0"/>
              <a:t>/publication/320903625 .</a:t>
            </a:r>
          </a:p>
          <a:p>
            <a:r>
              <a:rPr dirty="0"/>
              <a:t>Noel-Cárdenas, S. et al. (2025). Competency Development for Employability: A Comparative Analysis by University Majors. LACCEI. https://</a:t>
            </a:r>
            <a:r>
              <a:rPr dirty="0" err="1"/>
              <a:t>doi.org</a:t>
            </a:r>
            <a:r>
              <a:rPr dirty="0"/>
              <a:t>/10.18687/LACCEI2025.1.1.815 . </a:t>
            </a:r>
            <a:r>
              <a:rPr dirty="0" err="1"/>
              <a:t>Texto</a:t>
            </a:r>
            <a:r>
              <a:rPr dirty="0"/>
              <a:t>: https://</a:t>
            </a:r>
            <a:r>
              <a:rPr dirty="0" err="1"/>
              <a:t>proceedings.laccei.org</a:t>
            </a:r>
            <a:r>
              <a:rPr dirty="0"/>
              <a:t>/</a:t>
            </a:r>
            <a:r>
              <a:rPr dirty="0" err="1"/>
              <a:t>index.php</a:t>
            </a:r>
            <a:r>
              <a:rPr dirty="0"/>
              <a:t>/</a:t>
            </a:r>
            <a:r>
              <a:rPr dirty="0" err="1"/>
              <a:t>laccei</a:t>
            </a:r>
            <a:r>
              <a:rPr dirty="0"/>
              <a:t>/article/download/3813/3804/7348 .</a:t>
            </a:r>
          </a:p>
          <a:p>
            <a:r>
              <a:rPr dirty="0" err="1"/>
              <a:t>Cánovas</a:t>
            </a:r>
            <a:r>
              <a:rPr dirty="0"/>
              <a:t>-Alvarez, F. J. et al. (2020). Effects of a sport leadership </a:t>
            </a:r>
            <a:r>
              <a:rPr dirty="0" err="1"/>
              <a:t>programme</a:t>
            </a:r>
            <a:r>
              <a:rPr dirty="0"/>
              <a:t> on the perceptions of university students about their leadership competencies. Cultura, Ciencia y </a:t>
            </a:r>
            <a:r>
              <a:rPr dirty="0" err="1"/>
              <a:t>Deporte</a:t>
            </a:r>
            <a:r>
              <a:rPr dirty="0"/>
              <a:t>, 15(45), 429–446. https://</a:t>
            </a:r>
            <a:r>
              <a:rPr dirty="0" err="1"/>
              <a:t>doi.org</a:t>
            </a:r>
            <a:r>
              <a:rPr dirty="0"/>
              <a:t>/10.12800/ccd.v15i45.1530 . </a:t>
            </a:r>
            <a:r>
              <a:rPr dirty="0" err="1"/>
              <a:t>Texto</a:t>
            </a:r>
            <a:r>
              <a:rPr dirty="0"/>
              <a:t>: https://</a:t>
            </a:r>
            <a:r>
              <a:rPr dirty="0" err="1"/>
              <a:t>shura.shu.ac.uk</a:t>
            </a:r>
            <a:r>
              <a:rPr dirty="0"/>
              <a:t>/26845/1/1530509.pdf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CE06-DA90-CD87-BC1D-214D5D42E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F563AB-9662-BFE3-8DA9-701EE2F6E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90183-28C9-78C4-9D49-0F8ACEBDDA5A}"/>
              </a:ext>
            </a:extLst>
          </p:cNvPr>
          <p:cNvSpPr>
            <a:spLocks noGrp="1"/>
          </p:cNvSpPr>
          <p:nvPr>
            <p:ph type="body" idx="1"/>
          </p:nvPr>
        </p:nvSpPr>
        <p:spPr/>
        <p:txBody>
          <a:bodyPr/>
          <a:lstStyle/>
          <a:p>
            <a:r>
              <a:rPr dirty="0"/>
              <a:t>GUION SUGERIDO</a:t>
            </a:r>
          </a:p>
          <a:p>
            <a:r>
              <a:rPr dirty="0"/>
              <a:t>El </a:t>
            </a:r>
            <a:r>
              <a:rPr dirty="0" err="1"/>
              <a:t>artículo</a:t>
            </a:r>
            <a:r>
              <a:rPr dirty="0"/>
              <a:t> original de Martínez Clares y González Morga </a:t>
            </a:r>
            <a:r>
              <a:rPr dirty="0" err="1"/>
              <a:t>diseña</a:t>
            </a:r>
            <a:r>
              <a:rPr dirty="0"/>
              <a:t> el </a:t>
            </a:r>
            <a:r>
              <a:rPr dirty="0" err="1"/>
              <a:t>instrumento</a:t>
            </a:r>
            <a:r>
              <a:rPr dirty="0"/>
              <a:t> y </a:t>
            </a:r>
            <a:r>
              <a:rPr dirty="0" err="1"/>
              <a:t>aporta</a:t>
            </a:r>
            <a:r>
              <a:rPr dirty="0"/>
              <a:t> </a:t>
            </a:r>
            <a:r>
              <a:rPr dirty="0" err="1"/>
              <a:t>evidencia</a:t>
            </a:r>
            <a:r>
              <a:rPr dirty="0"/>
              <a:t> de </a:t>
            </a:r>
            <a:r>
              <a:rPr dirty="0" err="1"/>
              <a:t>contenido</a:t>
            </a:r>
            <a:r>
              <a:rPr dirty="0"/>
              <a:t>, </a:t>
            </a:r>
            <a:r>
              <a:rPr dirty="0" err="1"/>
              <a:t>consistencia</a:t>
            </a:r>
            <a:r>
              <a:rPr dirty="0"/>
              <a:t> y </a:t>
            </a:r>
            <a:r>
              <a:rPr dirty="0" err="1"/>
              <a:t>estructura</a:t>
            </a:r>
            <a:r>
              <a:rPr dirty="0"/>
              <a:t> factorial. En Perú, Noel-Cárdenas y </a:t>
            </a:r>
            <a:r>
              <a:rPr dirty="0" err="1"/>
              <a:t>colaboradores</a:t>
            </a:r>
            <a:r>
              <a:rPr dirty="0"/>
              <a:t> </a:t>
            </a:r>
            <a:r>
              <a:rPr dirty="0" err="1"/>
              <a:t>comparan</a:t>
            </a:r>
            <a:r>
              <a:rPr dirty="0"/>
              <a:t> </a:t>
            </a:r>
            <a:r>
              <a:rPr dirty="0" err="1"/>
              <a:t>carreras</a:t>
            </a:r>
            <a:r>
              <a:rPr dirty="0"/>
              <a:t> y </a:t>
            </a:r>
            <a:r>
              <a:rPr dirty="0" err="1"/>
              <a:t>encuentran</a:t>
            </a:r>
            <a:r>
              <a:rPr dirty="0"/>
              <a:t> </a:t>
            </a:r>
            <a:r>
              <a:rPr dirty="0" err="1"/>
              <a:t>diferencias</a:t>
            </a:r>
            <a:r>
              <a:rPr dirty="0"/>
              <a:t> </a:t>
            </a:r>
            <a:r>
              <a:rPr dirty="0" err="1"/>
              <a:t>instrumentales</a:t>
            </a:r>
            <a:r>
              <a:rPr dirty="0"/>
              <a:t>, </a:t>
            </a:r>
            <a:r>
              <a:rPr dirty="0" err="1"/>
              <a:t>pero</a:t>
            </a:r>
            <a:r>
              <a:rPr dirty="0"/>
              <a:t> no </a:t>
            </a:r>
            <a:r>
              <a:rPr dirty="0" err="1"/>
              <a:t>en</a:t>
            </a:r>
            <a:r>
              <a:rPr dirty="0"/>
              <a:t> </a:t>
            </a:r>
            <a:r>
              <a:rPr dirty="0" err="1"/>
              <a:t>los</a:t>
            </a:r>
            <a:r>
              <a:rPr dirty="0"/>
              <a:t> </a:t>
            </a:r>
            <a:r>
              <a:rPr dirty="0" err="1"/>
              <a:t>otros</a:t>
            </a:r>
            <a:r>
              <a:rPr dirty="0"/>
              <a:t> </a:t>
            </a:r>
            <a:r>
              <a:rPr dirty="0" err="1"/>
              <a:t>grupos</a:t>
            </a:r>
            <a:r>
              <a:rPr dirty="0"/>
              <a:t>. </a:t>
            </a:r>
            <a:r>
              <a:rPr dirty="0" err="1"/>
              <a:t>Reportan</a:t>
            </a:r>
            <a:r>
              <a:rPr dirty="0"/>
              <a:t> alfa de 0,91 sin </a:t>
            </a:r>
            <a:r>
              <a:rPr dirty="0" err="1"/>
              <a:t>detallar</a:t>
            </a:r>
            <a:r>
              <a:rPr dirty="0"/>
              <a:t> </a:t>
            </a:r>
            <a:r>
              <a:rPr dirty="0" err="1"/>
              <a:t>suficientemente</a:t>
            </a:r>
            <a:r>
              <a:rPr dirty="0"/>
              <a:t> </a:t>
            </a:r>
            <a:r>
              <a:rPr dirty="0" err="1"/>
              <a:t>su</a:t>
            </a:r>
            <a:r>
              <a:rPr dirty="0"/>
              <a:t> </a:t>
            </a:r>
            <a:r>
              <a:rPr dirty="0" err="1"/>
              <a:t>cálculo</a:t>
            </a:r>
            <a:r>
              <a:rPr dirty="0"/>
              <a:t>, y no publican el </a:t>
            </a:r>
            <a:r>
              <a:rPr dirty="0" err="1"/>
              <a:t>formulario</a:t>
            </a:r>
            <a:r>
              <a:rPr dirty="0"/>
              <a:t> </a:t>
            </a:r>
            <a:r>
              <a:rPr dirty="0" err="1"/>
              <a:t>completo</a:t>
            </a:r>
            <a:r>
              <a:rPr dirty="0"/>
              <a:t>. En Europa, </a:t>
            </a:r>
            <a:r>
              <a:rPr dirty="0" err="1"/>
              <a:t>Cánovas</a:t>
            </a:r>
            <a:r>
              <a:rPr dirty="0"/>
              <a:t>-Alvarez y </a:t>
            </a:r>
            <a:r>
              <a:rPr dirty="0" err="1"/>
              <a:t>colaboradores</a:t>
            </a:r>
            <a:r>
              <a:rPr dirty="0"/>
              <a:t> </a:t>
            </a:r>
            <a:r>
              <a:rPr dirty="0" err="1"/>
              <a:t>traducen</a:t>
            </a:r>
            <a:r>
              <a:rPr dirty="0"/>
              <a:t> y </a:t>
            </a:r>
            <a:r>
              <a:rPr dirty="0" err="1"/>
              <a:t>adaptan</a:t>
            </a:r>
            <a:r>
              <a:rPr dirty="0"/>
              <a:t> 57 </a:t>
            </a:r>
            <a:r>
              <a:rPr dirty="0" err="1"/>
              <a:t>ítems</a:t>
            </a:r>
            <a:r>
              <a:rPr dirty="0"/>
              <a:t>, con </a:t>
            </a:r>
            <a:r>
              <a:rPr dirty="0" err="1"/>
              <a:t>evaluación</a:t>
            </a:r>
            <a:r>
              <a:rPr dirty="0"/>
              <a:t> antes y </a:t>
            </a:r>
            <a:r>
              <a:rPr dirty="0" err="1"/>
              <a:t>después</a:t>
            </a:r>
            <a:r>
              <a:rPr dirty="0"/>
              <a:t> de un </a:t>
            </a:r>
            <a:r>
              <a:rPr dirty="0" err="1"/>
              <a:t>programa</a:t>
            </a:r>
            <a:r>
              <a:rPr dirty="0"/>
              <a:t> de </a:t>
            </a:r>
            <a:r>
              <a:rPr dirty="0" err="1"/>
              <a:t>liderazgo</a:t>
            </a:r>
            <a:r>
              <a:rPr dirty="0"/>
              <a:t>. No </a:t>
            </a:r>
            <a:r>
              <a:rPr dirty="0" err="1"/>
              <a:t>encuentran</a:t>
            </a:r>
            <a:r>
              <a:rPr dirty="0"/>
              <a:t> </a:t>
            </a:r>
            <a:r>
              <a:rPr dirty="0" err="1"/>
              <a:t>mejora</a:t>
            </a:r>
            <a:r>
              <a:rPr dirty="0"/>
              <a:t> </a:t>
            </a:r>
            <a:r>
              <a:rPr dirty="0" err="1"/>
              <a:t>significativa</a:t>
            </a:r>
            <a:r>
              <a:rPr dirty="0"/>
              <a:t> global </a:t>
            </a:r>
            <a:r>
              <a:rPr dirty="0" err="1"/>
              <a:t>en</a:t>
            </a:r>
            <a:r>
              <a:rPr dirty="0"/>
              <a:t> las </a:t>
            </a:r>
            <a:r>
              <a:rPr dirty="0" err="1"/>
              <a:t>percepciones</a:t>
            </a:r>
            <a:r>
              <a:rPr dirty="0"/>
              <a:t>. La </a:t>
            </a:r>
            <a:r>
              <a:rPr dirty="0" err="1"/>
              <a:t>participación</a:t>
            </a:r>
            <a:r>
              <a:rPr dirty="0"/>
              <a:t> de </a:t>
            </a:r>
            <a:r>
              <a:rPr dirty="0" err="1"/>
              <a:t>mentores</a:t>
            </a:r>
            <a:r>
              <a:rPr dirty="0"/>
              <a:t> no </a:t>
            </a:r>
            <a:r>
              <a:rPr dirty="0" err="1"/>
              <a:t>convierte</a:t>
            </a:r>
            <a:r>
              <a:rPr dirty="0"/>
              <a:t> </a:t>
            </a:r>
            <a:r>
              <a:rPr dirty="0" err="1"/>
              <a:t>esa</a:t>
            </a:r>
            <a:r>
              <a:rPr dirty="0"/>
              <a:t> </a:t>
            </a:r>
            <a:r>
              <a:rPr dirty="0" err="1"/>
              <a:t>aplicación</a:t>
            </a:r>
            <a:r>
              <a:rPr dirty="0"/>
              <a:t> </a:t>
            </a:r>
            <a:r>
              <a:rPr dirty="0" err="1"/>
              <a:t>en</a:t>
            </a:r>
            <a:r>
              <a:rPr dirty="0"/>
              <a:t> </a:t>
            </a:r>
            <a:r>
              <a:rPr dirty="0" err="1"/>
              <a:t>una</a:t>
            </a:r>
            <a:r>
              <a:rPr dirty="0"/>
              <a:t> </a:t>
            </a:r>
            <a:r>
              <a:rPr dirty="0" err="1"/>
              <a:t>validación</a:t>
            </a:r>
            <a:r>
              <a:rPr dirty="0"/>
              <a:t> de </a:t>
            </a:r>
            <a:r>
              <a:rPr dirty="0" err="1"/>
              <a:t>una</a:t>
            </a:r>
            <a:r>
              <a:rPr dirty="0"/>
              <a:t> </a:t>
            </a:r>
            <a:r>
              <a:rPr dirty="0" err="1"/>
              <a:t>encuesta</a:t>
            </a:r>
            <a:r>
              <a:rPr dirty="0"/>
              <a:t> </a:t>
            </a:r>
            <a:r>
              <a:rPr dirty="0" err="1"/>
              <a:t>respondida</a:t>
            </a:r>
            <a:r>
              <a:rPr dirty="0"/>
              <a:t> </a:t>
            </a:r>
            <a:r>
              <a:rPr dirty="0" err="1"/>
              <a:t>por</a:t>
            </a:r>
            <a:r>
              <a:rPr dirty="0"/>
              <a:t> </a:t>
            </a:r>
            <a:r>
              <a:rPr dirty="0" err="1"/>
              <a:t>supervisores</a:t>
            </a:r>
            <a:r>
              <a:rPr dirty="0"/>
              <a:t>.</a:t>
            </a:r>
          </a:p>
          <a:p>
            <a:endParaRPr dirty="0"/>
          </a:p>
          <a:p>
            <a:r>
              <a:rPr dirty="0"/>
              <a:t>FUENTES</a:t>
            </a:r>
          </a:p>
          <a:p>
            <a:r>
              <a:rPr dirty="0"/>
              <a:t>Martínez Clares, P. y González Morga, N. (2018). Las </a:t>
            </a:r>
            <a:r>
              <a:rPr dirty="0" err="1"/>
              <a:t>competencias</a:t>
            </a:r>
            <a:r>
              <a:rPr dirty="0"/>
              <a:t> </a:t>
            </a:r>
            <a:r>
              <a:rPr dirty="0" err="1"/>
              <a:t>transversales</a:t>
            </a:r>
            <a:r>
              <a:rPr dirty="0"/>
              <a:t> </a:t>
            </a:r>
            <a:r>
              <a:rPr dirty="0" err="1"/>
              <a:t>en</a:t>
            </a:r>
            <a:r>
              <a:rPr dirty="0"/>
              <a:t> la </a:t>
            </a:r>
            <a:r>
              <a:rPr dirty="0" err="1"/>
              <a:t>universidad</a:t>
            </a:r>
            <a:r>
              <a:rPr dirty="0"/>
              <a:t>: </a:t>
            </a:r>
            <a:r>
              <a:rPr dirty="0" err="1"/>
              <a:t>propiedades</a:t>
            </a:r>
            <a:r>
              <a:rPr dirty="0"/>
              <a:t> </a:t>
            </a:r>
            <a:r>
              <a:rPr dirty="0" err="1"/>
              <a:t>psicométricas</a:t>
            </a:r>
            <a:r>
              <a:rPr dirty="0"/>
              <a:t> de un </a:t>
            </a:r>
            <a:r>
              <a:rPr dirty="0" err="1"/>
              <a:t>cuestionario</a:t>
            </a:r>
            <a:r>
              <a:rPr dirty="0"/>
              <a:t>. </a:t>
            </a:r>
            <a:r>
              <a:rPr dirty="0" err="1"/>
              <a:t>Educación</a:t>
            </a:r>
            <a:r>
              <a:rPr dirty="0"/>
              <a:t> XX1, 21(1), 231–262. https://</a:t>
            </a:r>
            <a:r>
              <a:rPr dirty="0" err="1"/>
              <a:t>doi.org</a:t>
            </a:r>
            <a:r>
              <a:rPr dirty="0"/>
              <a:t>/10.5944/educXX1.15662 . </a:t>
            </a:r>
            <a:r>
              <a:rPr dirty="0" err="1"/>
              <a:t>Texto</a:t>
            </a:r>
            <a:r>
              <a:rPr dirty="0"/>
              <a:t> </a:t>
            </a:r>
            <a:r>
              <a:rPr dirty="0" err="1"/>
              <a:t>consultado</a:t>
            </a:r>
            <a:r>
              <a:rPr dirty="0"/>
              <a:t>: https://</a:t>
            </a:r>
            <a:r>
              <a:rPr dirty="0" err="1"/>
              <a:t>www.researchgate.net</a:t>
            </a:r>
            <a:r>
              <a:rPr dirty="0"/>
              <a:t>/publication/320903625 .</a:t>
            </a:r>
          </a:p>
          <a:p>
            <a:r>
              <a:rPr dirty="0"/>
              <a:t>Noel-Cárdenas, S. et al. (2025). Competency Development for Employability: A Comparative Analysis by University Majors. LACCEI. https://</a:t>
            </a:r>
            <a:r>
              <a:rPr dirty="0" err="1"/>
              <a:t>doi.org</a:t>
            </a:r>
            <a:r>
              <a:rPr dirty="0"/>
              <a:t>/10.18687/LACCEI2025.1.1.815 . </a:t>
            </a:r>
            <a:r>
              <a:rPr dirty="0" err="1"/>
              <a:t>Texto</a:t>
            </a:r>
            <a:r>
              <a:rPr dirty="0"/>
              <a:t>: https://</a:t>
            </a:r>
            <a:r>
              <a:rPr dirty="0" err="1"/>
              <a:t>proceedings.laccei.org</a:t>
            </a:r>
            <a:r>
              <a:rPr dirty="0"/>
              <a:t>/</a:t>
            </a:r>
            <a:r>
              <a:rPr dirty="0" err="1"/>
              <a:t>index.php</a:t>
            </a:r>
            <a:r>
              <a:rPr dirty="0"/>
              <a:t>/</a:t>
            </a:r>
            <a:r>
              <a:rPr dirty="0" err="1"/>
              <a:t>laccei</a:t>
            </a:r>
            <a:r>
              <a:rPr dirty="0"/>
              <a:t>/article/download/3813/3804/7348 .</a:t>
            </a:r>
          </a:p>
          <a:p>
            <a:r>
              <a:rPr dirty="0" err="1"/>
              <a:t>Cánovas</a:t>
            </a:r>
            <a:r>
              <a:rPr dirty="0"/>
              <a:t>-Alvarez, F. J. et al. (2020). Effects of a sport leadership </a:t>
            </a:r>
            <a:r>
              <a:rPr dirty="0" err="1"/>
              <a:t>programme</a:t>
            </a:r>
            <a:r>
              <a:rPr dirty="0"/>
              <a:t> on the perceptions of university students about their leadership competencies. Cultura, Ciencia y </a:t>
            </a:r>
            <a:r>
              <a:rPr dirty="0" err="1"/>
              <a:t>Deporte</a:t>
            </a:r>
            <a:r>
              <a:rPr dirty="0"/>
              <a:t>, 15(45), 429–446. https://</a:t>
            </a:r>
            <a:r>
              <a:rPr dirty="0" err="1"/>
              <a:t>doi.org</a:t>
            </a:r>
            <a:r>
              <a:rPr dirty="0"/>
              <a:t>/10.12800/ccd.v15i45.1530 . </a:t>
            </a:r>
            <a:r>
              <a:rPr dirty="0" err="1"/>
              <a:t>Texto</a:t>
            </a:r>
            <a:r>
              <a:rPr dirty="0"/>
              <a:t>: https://</a:t>
            </a:r>
            <a:r>
              <a:rPr dirty="0" err="1"/>
              <a:t>shura.shu.ac.uk</a:t>
            </a:r>
            <a:r>
              <a:rPr dirty="0"/>
              <a:t>/26845/1/1530509.pdf .</a:t>
            </a:r>
          </a:p>
        </p:txBody>
      </p:sp>
      <p:sp>
        <p:nvSpPr>
          <p:cNvPr id="4" name="Slide Number Placeholder 3">
            <a:extLst>
              <a:ext uri="{FF2B5EF4-FFF2-40B4-BE49-F238E27FC236}">
                <a16:creationId xmlns:a16="http://schemas.microsoft.com/office/drawing/2014/main" id="{09CFC757-302C-D825-50E4-790A63F8CB8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93565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a:t>
            </a:r>
          </a:p>
          <a:p>
            <a:r>
              <a:t>La EPN tiene un antecedente propio, elaborado por Jorge Molina y Tarquino Sánchez en 2009 para apoyar la reforma curricular. Recibió 147 respuestas de graduados de cuatro carreras de la FIEE. Este gráfico selecciona cuatro competencias de su figura 105. Son conteos de selección y no puntuaciones CECTGRA. La comparación identifica brechas percibidas entre requerimientos laborales y formación. No es una medición actual ni permite equiparar sus cifras con las que obtengamos. La copia menciona un anexo A con el formulario, pero no lo incluye.</a:t>
            </a:r>
          </a:p>
          <a:p>
            <a:endParaRPr/>
          </a:p>
          <a:p>
            <a:r>
              <a:t>FUENTES</a:t>
            </a:r>
          </a:p>
          <a:p>
            <a:r>
              <a:t>Molina, J. y Sánchez, T. (2009). Informe sobre los resultados de la encuesta aplicada a los graduados de la Facultad. EPN, Facultad de Ingeniería Eléctrica y Electrónica. PDF aportado: 00-Opinión-Graduados-FIEE-2009(2).pdf. pp. 4–6, 61 y 66–67. El título menciona promociones 2006–2008; la descripción y tabla incluyen 2005–2008.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a:t>
            </a:r>
          </a:p>
          <a:p>
            <a:r>
              <a:t>La actualización reduce de cinco años a doce meses el periodo de prácticas. El estudio de estudiantes será el componente principal para realizar inferencias a una población definida. Debemos fijar fechas y resolver si participan quienes terminaron las prácticas o también quienes las tienen en curso. Hay que verificar que el marco cubra a los elegibles, incluyendo quienes no estén en aulas de últimos semestres. La participación estudiantil debe producir un registro único, con una regla si hubo varias experiencias.</a:t>
            </a:r>
          </a:p>
          <a:p>
            <a:endParaRPr/>
          </a:p>
          <a:p>
            <a:r>
              <a:t>FUENTES</a:t>
            </a:r>
          </a:p>
          <a:p>
            <a:r>
              <a:t>Documento base: PIS-1531-MARIA ELENA (1).pdf, pp. 1–4, 11–13 y 19–20. Los cambios metodológicos proceden de acuerdos comunicados por David Pinto el 17 de octubre de 2026; pendientes de formalización institucional.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a:t>
            </a:r>
          </a:p>
          <a:p>
            <a:r>
              <a:t>Los graduados y supervisores ayudarán a contextualizar los resultados. No planteamos generalizar sus respuestas a toda su población porque el reclutamiento será no probabilístico. En los colegios profesionales hay que verificar la experiencia de supervisión, pues ser miembro no significa haber tutorizado practicantes. La versión externa debe referirse a una experiencia concreta. Definiremos metas de respuestas según los análisis y la factibilidad; no existe una cuota universal que garantice representatividad. Mantendremos estos componentes separados de la muestra estudiantil.</a:t>
            </a:r>
          </a:p>
          <a:p>
            <a:endParaRPr/>
          </a:p>
          <a:p>
            <a:r>
              <a:t>FUENTES</a:t>
            </a:r>
          </a:p>
          <a:p>
            <a:r>
              <a:t>Documento base: PIS-1531-MARIA ELENA (1).pdf, pp. 1–4, 11–13 y 19–20. Los cambios metodológicos proceden de acuerdos comunicados por David Pinto el 17 de octubre de 2026; pendientes de formalización institucional.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a:t>
            </a:r>
          </a:p>
          <a:p>
            <a:r>
              <a:t>Necesitamos unir la encuesta y los registros académicos de la misma persona con autorización. El modelo ilustrativo estudia si las notas se asocian con el dominio percibido, considerando ambas simultáneamente. El equipo debe elegir la puntuación principal y decidir ajustes, por ejemplo por carrera. La consistencia del cuestionario y su estructura requieren revisión en nuestra muestra. Informaremos efectos e intervalos, diagnóstico y limitaciones. Si afirmamos predicción, evaluaremos su rendimiento predictivo. Desarrollo representa formación recibida y no debe convertirse sin justificación en desempeño laboral.</a:t>
            </a:r>
          </a:p>
          <a:p>
            <a:endParaRPr/>
          </a:p>
          <a:p>
            <a:r>
              <a:t>FUENTES</a:t>
            </a:r>
          </a:p>
          <a:p>
            <a:r>
              <a:t>Documento base: PIS-1531-MARIA ELENA (1).pdf, pp. 1–4, 11–13 y 19–20. Los cambios metodológicos proceden de acuerdos comunicados por David Pinto el 17 de octubre de 2026; pendientes de formalización institucional.</a:t>
            </a:r>
          </a:p>
          <a:p>
            <a:r>
              <a:t>Martínez Clares, P. y González Morga, N. (2018). Las competencias transversales en la universidad: propiedades psicométricas de un cuestionario. Educación XX1, 21(1), 231–262. https://doi.org/10.5944/educXX1.15662 . Texto consultado: https://www.researchgate.net/publication/320903625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a:t>
            </a:r>
          </a:p>
          <a:p>
            <a:r>
              <a:t>Ir al aula describe el contacto, pero no define la técnica. Si entramos solo donde nos permiten y encuestamos a presentes, tenemos conveniencia. Podemos sortear estudiantes y buscarlos en aulas si existe un listado apropiado, o seleccionar grupos mediante un diseño por conglomerados o etapas. Un mismo estudiante puede cursar varias materias, por lo que necesitamos resolver duplicación y probabilidades de inclusión. También debemos buscar ausentes y comprobar que últimos semestres cubra la población objetivo. El diseño por carrera puede combinarse con selección de grupos. La decisión depende del marco realmente disponible.</a:t>
            </a:r>
          </a:p>
          <a:p>
            <a:endParaRPr/>
          </a:p>
          <a:p>
            <a:r>
              <a:t>FUENTES</a:t>
            </a:r>
          </a:p>
          <a:p>
            <a:r>
              <a:t>Statistics Canada. Selection of a sample: https://www150.statcan.gc.ca/n1/edu/power-pouvoir/ch13/sample-echantillon/5214900-eng.htm . Probability sampling: https://www150.statcan.gc.ca/n1/edu/power-pouvoir/ch13/prob/5214899-eng.htm . AAPOR, Disclosure Standards: https://aapor.org/standards-and-ethics/disclosure-standards/ .</a:t>
            </a:r>
          </a:p>
          <a:p>
            <a:r>
              <a:t>Documento base: PIS-1531-MARIA ELENA (1).pdf, pp. 1–4, 11–13 y 19–20. Los cambios metodológicos proceden de acuerdos comunicados por David Pinto el 17 de octubre de 2026; pendientes de formalización institucional.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GUION SUGERIDO</a:t>
            </a:r>
          </a:p>
          <a:p>
            <a:r>
              <a:rPr dirty="0"/>
              <a:t>El </a:t>
            </a:r>
            <a:r>
              <a:rPr dirty="0" err="1"/>
              <a:t>promedio</a:t>
            </a:r>
            <a:r>
              <a:rPr dirty="0"/>
              <a:t> </a:t>
            </a:r>
            <a:r>
              <a:rPr dirty="0" err="1"/>
              <a:t>anual</a:t>
            </a:r>
            <a:r>
              <a:rPr dirty="0"/>
              <a:t> de </a:t>
            </a:r>
            <a:r>
              <a:rPr dirty="0" err="1"/>
              <a:t>graduados</a:t>
            </a:r>
            <a:r>
              <a:rPr dirty="0"/>
              <a:t> de las </a:t>
            </a:r>
            <a:r>
              <a:rPr dirty="0" err="1"/>
              <a:t>imágenes</a:t>
            </a:r>
            <a:r>
              <a:rPr dirty="0"/>
              <a:t> </a:t>
            </a:r>
            <a:r>
              <a:rPr dirty="0" err="1"/>
              <a:t>aportadas</a:t>
            </a:r>
            <a:r>
              <a:rPr dirty="0"/>
              <a:t> es 935: 976 </a:t>
            </a:r>
            <a:r>
              <a:rPr dirty="0" err="1"/>
              <a:t>en</a:t>
            </a:r>
            <a:r>
              <a:rPr dirty="0"/>
              <a:t> 2023, 907 </a:t>
            </a:r>
            <a:r>
              <a:rPr dirty="0" err="1"/>
              <a:t>en</a:t>
            </a:r>
            <a:r>
              <a:rPr dirty="0"/>
              <a:t> 2024 y 922 </a:t>
            </a:r>
            <a:r>
              <a:rPr dirty="0" err="1"/>
              <a:t>en</a:t>
            </a:r>
            <a:r>
              <a:rPr dirty="0"/>
              <a:t> 2025. Por </a:t>
            </a:r>
            <a:r>
              <a:rPr dirty="0" err="1"/>
              <a:t>acuerdo</a:t>
            </a:r>
            <a:r>
              <a:rPr dirty="0"/>
              <a:t> se </a:t>
            </a:r>
            <a:r>
              <a:rPr dirty="0" err="1"/>
              <a:t>usa</a:t>
            </a:r>
            <a:r>
              <a:rPr dirty="0"/>
              <a:t> solo </a:t>
            </a:r>
            <a:r>
              <a:rPr dirty="0" err="1"/>
              <a:t>como</a:t>
            </a:r>
            <a:r>
              <a:rPr dirty="0"/>
              <a:t> proxy provisional del </a:t>
            </a:r>
            <a:r>
              <a:rPr dirty="0" err="1"/>
              <a:t>tamaño</a:t>
            </a:r>
            <a:r>
              <a:rPr dirty="0"/>
              <a:t>, no </a:t>
            </a:r>
            <a:r>
              <a:rPr dirty="0" err="1"/>
              <a:t>como</a:t>
            </a:r>
            <a:r>
              <a:rPr dirty="0"/>
              <a:t> </a:t>
            </a:r>
            <a:r>
              <a:rPr dirty="0" err="1"/>
              <a:t>conteo</a:t>
            </a:r>
            <a:r>
              <a:rPr dirty="0"/>
              <a:t> real de </a:t>
            </a:r>
            <a:r>
              <a:rPr dirty="0" err="1"/>
              <a:t>elegibles</a:t>
            </a:r>
            <a:r>
              <a:rPr dirty="0"/>
              <a:t>. Con 95 % de confianza, error de </a:t>
            </a:r>
            <a:r>
              <a:rPr dirty="0" err="1"/>
              <a:t>cinco</a:t>
            </a:r>
            <a:r>
              <a:rPr dirty="0"/>
              <a:t> puntos </a:t>
            </a:r>
            <a:r>
              <a:rPr dirty="0" err="1"/>
              <a:t>porcentuales</a:t>
            </a:r>
            <a:r>
              <a:rPr dirty="0"/>
              <a:t> y p=0,5, la </a:t>
            </a:r>
            <a:r>
              <a:rPr dirty="0" err="1"/>
              <a:t>fórmula</a:t>
            </a:r>
            <a:r>
              <a:rPr dirty="0"/>
              <a:t> para </a:t>
            </a:r>
            <a:r>
              <a:rPr dirty="0" err="1"/>
              <a:t>una</a:t>
            </a:r>
            <a:r>
              <a:rPr dirty="0"/>
              <a:t> </a:t>
            </a:r>
            <a:r>
              <a:rPr dirty="0" err="1"/>
              <a:t>proporción</a:t>
            </a:r>
            <a:r>
              <a:rPr dirty="0"/>
              <a:t> bajo MAS da 272,49, </a:t>
            </a:r>
            <a:r>
              <a:rPr dirty="0" err="1"/>
              <a:t>redondeado</a:t>
            </a:r>
            <a:r>
              <a:rPr dirty="0"/>
              <a:t> a 273. No es </a:t>
            </a:r>
            <a:r>
              <a:rPr dirty="0" err="1"/>
              <a:t>una</a:t>
            </a:r>
            <a:r>
              <a:rPr dirty="0"/>
              <a:t> </a:t>
            </a:r>
            <a:r>
              <a:rPr dirty="0" err="1"/>
              <a:t>garantía</a:t>
            </a:r>
            <a:r>
              <a:rPr dirty="0"/>
              <a:t> de </a:t>
            </a:r>
            <a:r>
              <a:rPr dirty="0" err="1"/>
              <a:t>precisión</a:t>
            </a:r>
            <a:r>
              <a:rPr dirty="0"/>
              <a:t> para la </a:t>
            </a:r>
            <a:r>
              <a:rPr dirty="0" err="1"/>
              <a:t>selección</a:t>
            </a:r>
            <a:r>
              <a:rPr dirty="0"/>
              <a:t> </a:t>
            </a:r>
            <a:r>
              <a:rPr dirty="0" err="1"/>
              <a:t>por</a:t>
            </a:r>
            <a:r>
              <a:rPr dirty="0"/>
              <a:t> aulas, </a:t>
            </a:r>
            <a:r>
              <a:rPr dirty="0" err="1"/>
              <a:t>cada</a:t>
            </a:r>
            <a:r>
              <a:rPr dirty="0"/>
              <a:t> </a:t>
            </a:r>
            <a:r>
              <a:rPr dirty="0" err="1"/>
              <a:t>carrera</a:t>
            </a:r>
            <a:r>
              <a:rPr dirty="0"/>
              <a:t> o la </a:t>
            </a:r>
            <a:r>
              <a:rPr dirty="0" err="1"/>
              <a:t>regresión</a:t>
            </a:r>
            <a:r>
              <a:rPr dirty="0"/>
              <a:t>. Debemos </a:t>
            </a:r>
            <a:r>
              <a:rPr dirty="0" err="1"/>
              <a:t>revisar</a:t>
            </a:r>
            <a:r>
              <a:rPr dirty="0"/>
              <a:t> </a:t>
            </a:r>
            <a:r>
              <a:rPr dirty="0" err="1"/>
              <a:t>efecto</a:t>
            </a:r>
            <a:r>
              <a:rPr dirty="0"/>
              <a:t> del </a:t>
            </a:r>
            <a:r>
              <a:rPr dirty="0" err="1"/>
              <a:t>diseño</a:t>
            </a:r>
            <a:r>
              <a:rPr dirty="0"/>
              <a:t>, </a:t>
            </a:r>
            <a:r>
              <a:rPr dirty="0" err="1"/>
              <a:t>potencia</a:t>
            </a:r>
            <a:r>
              <a:rPr dirty="0"/>
              <a:t> y no </a:t>
            </a:r>
            <a:r>
              <a:rPr dirty="0" err="1"/>
              <a:t>respuesta</a:t>
            </a:r>
            <a:r>
              <a:rPr dirty="0"/>
              <a:t>. El </a:t>
            </a:r>
            <a:r>
              <a:rPr dirty="0" err="1"/>
              <a:t>documento</a:t>
            </a:r>
            <a:r>
              <a:rPr dirty="0"/>
              <a:t> base </a:t>
            </a:r>
            <a:r>
              <a:rPr dirty="0" err="1"/>
              <a:t>anticipa</a:t>
            </a:r>
            <a:r>
              <a:rPr dirty="0"/>
              <a:t> 200–300 sin </a:t>
            </a:r>
            <a:r>
              <a:rPr dirty="0" err="1"/>
              <a:t>justificar</a:t>
            </a:r>
            <a:r>
              <a:rPr dirty="0"/>
              <a:t> el </a:t>
            </a:r>
            <a:r>
              <a:rPr dirty="0" err="1"/>
              <a:t>cálculo</a:t>
            </a:r>
            <a:r>
              <a:rPr dirty="0"/>
              <a:t>.</a:t>
            </a:r>
          </a:p>
          <a:p>
            <a:endParaRPr dirty="0"/>
          </a:p>
          <a:p>
            <a:r>
              <a:rPr dirty="0"/>
              <a:t>FUENTES</a:t>
            </a:r>
          </a:p>
          <a:p>
            <a:r>
              <a:rPr dirty="0" err="1"/>
              <a:t>Documento</a:t>
            </a:r>
            <a:r>
              <a:rPr dirty="0"/>
              <a:t> base: PIS-1531-MARIA ELENA (1).pdf, pp. 1–4, 11–13 y 19–20. Los </a:t>
            </a:r>
            <a:r>
              <a:rPr dirty="0" err="1"/>
              <a:t>cambios</a:t>
            </a:r>
            <a:r>
              <a:rPr dirty="0"/>
              <a:t> </a:t>
            </a:r>
            <a:r>
              <a:rPr dirty="0" err="1"/>
              <a:t>metodológicos</a:t>
            </a:r>
            <a:r>
              <a:rPr dirty="0"/>
              <a:t> </a:t>
            </a:r>
            <a:r>
              <a:rPr dirty="0" err="1"/>
              <a:t>proceden</a:t>
            </a:r>
            <a:r>
              <a:rPr dirty="0"/>
              <a:t> de </a:t>
            </a:r>
            <a:r>
              <a:rPr dirty="0" err="1"/>
              <a:t>acuerdos</a:t>
            </a:r>
            <a:r>
              <a:rPr dirty="0"/>
              <a:t> </a:t>
            </a:r>
            <a:r>
              <a:rPr dirty="0" err="1"/>
              <a:t>comunicados</a:t>
            </a:r>
            <a:r>
              <a:rPr dirty="0"/>
              <a:t> </a:t>
            </a:r>
            <a:r>
              <a:rPr dirty="0" err="1"/>
              <a:t>por</a:t>
            </a:r>
            <a:r>
              <a:rPr dirty="0"/>
              <a:t> David Pinto el 17 de </a:t>
            </a:r>
            <a:r>
              <a:rPr dirty="0" err="1"/>
              <a:t>octubre</a:t>
            </a:r>
            <a:r>
              <a:rPr dirty="0"/>
              <a:t> de 2026; </a:t>
            </a:r>
            <a:r>
              <a:rPr dirty="0" err="1"/>
              <a:t>pendientes</a:t>
            </a:r>
            <a:r>
              <a:rPr dirty="0"/>
              <a:t> de </a:t>
            </a:r>
            <a:r>
              <a:rPr dirty="0" err="1"/>
              <a:t>formalización</a:t>
            </a:r>
            <a:r>
              <a:rPr dirty="0"/>
              <a:t> </a:t>
            </a:r>
            <a:r>
              <a:rPr dirty="0" err="1"/>
              <a:t>institucional</a:t>
            </a:r>
            <a:r>
              <a:rPr dirty="0"/>
              <a:t>.</a:t>
            </a:r>
          </a:p>
          <a:p>
            <a:r>
              <a:rPr dirty="0"/>
              <a:t>Statistics Canada. Selection of a sample: https://www150.statcan.gc.ca/n1/</a:t>
            </a:r>
            <a:r>
              <a:rPr dirty="0" err="1"/>
              <a:t>edu</a:t>
            </a:r>
            <a:r>
              <a:rPr dirty="0"/>
              <a:t>/power-</a:t>
            </a:r>
            <a:r>
              <a:rPr dirty="0" err="1"/>
              <a:t>pouvoir</a:t>
            </a:r>
            <a:r>
              <a:rPr dirty="0"/>
              <a:t>/ch13/sample-</a:t>
            </a:r>
            <a:r>
              <a:rPr dirty="0" err="1"/>
              <a:t>echantillon</a:t>
            </a:r>
            <a:r>
              <a:rPr dirty="0"/>
              <a:t>/5214900-eng.htm . Probability sampling: https://www150.statcan.gc.ca/n1/</a:t>
            </a:r>
            <a:r>
              <a:rPr dirty="0" err="1"/>
              <a:t>edu</a:t>
            </a:r>
            <a:r>
              <a:rPr dirty="0"/>
              <a:t>/power-</a:t>
            </a:r>
            <a:r>
              <a:rPr dirty="0" err="1"/>
              <a:t>pouvoir</a:t>
            </a:r>
            <a:r>
              <a:rPr dirty="0"/>
              <a:t>/ch13/prob/5214899-eng.htm . AAPOR, Disclosure Standards: https://</a:t>
            </a:r>
            <a:r>
              <a:rPr dirty="0" err="1"/>
              <a:t>aapor.org</a:t>
            </a:r>
            <a:r>
              <a:rPr dirty="0"/>
              <a:t>/standards-and-ethics/disclosure-standards/ .</a:t>
            </a:r>
          </a:p>
          <a:p>
            <a:r>
              <a:rPr dirty="0" err="1"/>
              <a:t>Cálculo</a:t>
            </a:r>
            <a:r>
              <a:rPr dirty="0"/>
              <a:t> </a:t>
            </a:r>
            <a:r>
              <a:rPr dirty="0" err="1"/>
              <a:t>propio</a:t>
            </a:r>
            <a:r>
              <a:rPr dirty="0"/>
              <a:t>. Datos de </a:t>
            </a:r>
            <a:r>
              <a:rPr dirty="0" err="1"/>
              <a:t>graduados</a:t>
            </a:r>
            <a:r>
              <a:rPr dirty="0"/>
              <a:t> </a:t>
            </a:r>
            <a:r>
              <a:rPr dirty="0" err="1"/>
              <a:t>aportados</a:t>
            </a:r>
            <a:r>
              <a:rPr dirty="0"/>
              <a:t> </a:t>
            </a:r>
            <a:r>
              <a:rPr dirty="0" err="1"/>
              <a:t>por</a:t>
            </a:r>
            <a:r>
              <a:rPr dirty="0"/>
              <a:t> David Pinto.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SUGERIDO</a:t>
            </a:r>
          </a:p>
          <a:p>
            <a:r>
              <a:t>Cierro con las decisiones que permitirán ejecutar el estudio. Primero delimitar población, experiencia de prácticas e instrumento. Segundo elegir cómo seleccionaremos participantes con el marco al que realmente podamos acceder y qué condiciones de consentimiento y vinculación se requieren. Tercero distribuir responsabilidades y fechas, incluyendo pilotaje y metas complementarias. Cerraremos la reunión resumiendo acuerdos, responsables y próximos pasos.  Fuentes ampliadas de los antecedentes figuran en las notas de las diapositivas correspondientes.</a:t>
            </a:r>
          </a:p>
          <a:p>
            <a:endParaRPr/>
          </a:p>
          <a:p>
            <a:r>
              <a:t>FUENTES</a:t>
            </a:r>
          </a:p>
          <a:p>
            <a:r>
              <a:t>Documento base: PIS-1531-MARIA ELENA (1).pdf, pp. 1–4, 11–13 y 19–20. Los cambios metodológicos proceden de acuerdos comunicados por David Pinto el 17 de octubre de 2026; pendientes de formalización institucional.</a:t>
            </a:r>
          </a:p>
          <a:p>
            <a:r>
              <a:t>Statistics Canada. Selection of a sample: https://www150.statcan.gc.ca/n1/edu/power-pouvoir/ch13/sample-echantillon/5214900-eng.htm . Probability sampling: https://www150.statcan.gc.ca/n1/edu/power-pouvoir/ch13/prob/5214899-eng.htm . AAPOR, Disclosure Standards: https://aapor.org/standards-and-ethics/disclosure-standards/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2C49264-7E1F-4BCE-B75B-3767C0C7926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48A0CFFC-1B0D-470F-8AE5-DED92AE52EA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1030328-FF37-4636-BEE2-79E02AB479F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8422E37-AF01-4873-8001-E0204E8866B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C148A27-9CB7-48B6-BDBD-EC9A419774F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93EB188-D3A2-414A-8335-B0AAB9706B4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5D6F826-876C-4AA6-B819-8120F87E410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457B9AF-BF33-4B1D-9F25-24634A736AB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6E2850E-1CAC-4CF4-A5A6-6713574F27F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4686872-F9CC-495D-A207-C0456E48562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9.png"/><Relationship Id="rId26" Type="http://schemas.openxmlformats.org/officeDocument/2006/relationships/image" Target="../media/image13.png"/><Relationship Id="rId3" Type="http://schemas.openxmlformats.org/officeDocument/2006/relationships/image" Target="../media/image1.png"/><Relationship Id="rId21" Type="http://schemas.openxmlformats.org/officeDocument/2006/relationships/customXml" Target="../ink/ink9.xml"/><Relationship Id="rId34" Type="http://schemas.openxmlformats.org/officeDocument/2006/relationships/image" Target="../media/image17.png"/><Relationship Id="rId7" Type="http://schemas.openxmlformats.org/officeDocument/2006/relationships/customXml" Target="../ink/ink2.xml"/><Relationship Id="rId12" Type="http://schemas.openxmlformats.org/officeDocument/2006/relationships/image" Target="../media/image6.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2" Type="http://schemas.openxmlformats.org/officeDocument/2006/relationships/notesSlide" Target="../notesSlides/notesSlide5.xml"/><Relationship Id="rId16" Type="http://schemas.openxmlformats.org/officeDocument/2006/relationships/image" Target="../media/image8.png"/><Relationship Id="rId20" Type="http://schemas.openxmlformats.org/officeDocument/2006/relationships/image" Target="../media/image10.png"/><Relationship Id="rId29" Type="http://schemas.openxmlformats.org/officeDocument/2006/relationships/customXml" Target="../ink/ink13.xml"/><Relationship Id="rId1" Type="http://schemas.openxmlformats.org/officeDocument/2006/relationships/slideLayout" Target="../slideLayouts/slideLayout6.xml"/><Relationship Id="rId6" Type="http://schemas.openxmlformats.org/officeDocument/2006/relationships/image" Target="../media/image3.png"/><Relationship Id="rId11" Type="http://schemas.openxmlformats.org/officeDocument/2006/relationships/customXml" Target="../ink/ink4.xml"/><Relationship Id="rId24" Type="http://schemas.openxmlformats.org/officeDocument/2006/relationships/image" Target="../media/image12.png"/><Relationship Id="rId32" Type="http://schemas.openxmlformats.org/officeDocument/2006/relationships/image" Target="../media/image16.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14.png"/><Relationship Id="rId36" Type="http://schemas.openxmlformats.org/officeDocument/2006/relationships/image" Target="../media/image18.png"/><Relationship Id="rId10" Type="http://schemas.openxmlformats.org/officeDocument/2006/relationships/image" Target="../media/image5.png"/><Relationship Id="rId19" Type="http://schemas.openxmlformats.org/officeDocument/2006/relationships/customXml" Target="../ink/ink8.xml"/><Relationship Id="rId31" Type="http://schemas.openxmlformats.org/officeDocument/2006/relationships/customXml" Target="../ink/ink14.xml"/><Relationship Id="rId4" Type="http://schemas.openxmlformats.org/officeDocument/2006/relationships/image" Target="../media/image2.png"/><Relationship Id="rId9" Type="http://schemas.openxmlformats.org/officeDocument/2006/relationships/customXml" Target="../ink/ink3.xml"/><Relationship Id="rId14" Type="http://schemas.openxmlformats.org/officeDocument/2006/relationships/image" Target="../media/image7.png"/><Relationship Id="rId22" Type="http://schemas.openxmlformats.org/officeDocument/2006/relationships/image" Target="../media/image11.png"/><Relationship Id="rId27" Type="http://schemas.openxmlformats.org/officeDocument/2006/relationships/customXml" Target="../ink/ink12.xml"/><Relationship Id="rId30" Type="http://schemas.openxmlformats.org/officeDocument/2006/relationships/image" Target="../media/image15.png"/><Relationship Id="rId35" Type="http://schemas.openxmlformats.org/officeDocument/2006/relationships/customXml" Target="../ink/ink16.xml"/><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customXml" Target="../ink/ink21.xml"/><Relationship Id="rId18" Type="http://schemas.openxmlformats.org/officeDocument/2006/relationships/image" Target="../media/image27.png"/><Relationship Id="rId26" Type="http://schemas.openxmlformats.org/officeDocument/2006/relationships/image" Target="../media/image31.png"/><Relationship Id="rId3" Type="http://schemas.openxmlformats.org/officeDocument/2006/relationships/image" Target="../media/image19.png"/><Relationship Id="rId21" Type="http://schemas.openxmlformats.org/officeDocument/2006/relationships/customXml" Target="../ink/ink25.xml"/><Relationship Id="rId7" Type="http://schemas.openxmlformats.org/officeDocument/2006/relationships/customXml" Target="../ink/ink18.xml"/><Relationship Id="rId12" Type="http://schemas.openxmlformats.org/officeDocument/2006/relationships/image" Target="../media/image24.png"/><Relationship Id="rId17" Type="http://schemas.openxmlformats.org/officeDocument/2006/relationships/customXml" Target="../ink/ink23.xml"/><Relationship Id="rId25" Type="http://schemas.openxmlformats.org/officeDocument/2006/relationships/customXml" Target="../ink/ink27.xml"/><Relationship Id="rId2" Type="http://schemas.openxmlformats.org/officeDocument/2006/relationships/notesSlide" Target="../notesSlides/notesSlide6.xml"/><Relationship Id="rId16" Type="http://schemas.openxmlformats.org/officeDocument/2006/relationships/image" Target="../media/image26.png"/><Relationship Id="rId20"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customXml" Target="../ink/ink20.xml"/><Relationship Id="rId24" Type="http://schemas.openxmlformats.org/officeDocument/2006/relationships/image" Target="../media/image30.png"/><Relationship Id="rId5" Type="http://schemas.openxmlformats.org/officeDocument/2006/relationships/customXml" Target="../ink/ink17.xml"/><Relationship Id="rId15" Type="http://schemas.openxmlformats.org/officeDocument/2006/relationships/customXml" Target="../ink/ink22.xml"/><Relationship Id="rId23" Type="http://schemas.openxmlformats.org/officeDocument/2006/relationships/customXml" Target="../ink/ink26.xml"/><Relationship Id="rId28" Type="http://schemas.openxmlformats.org/officeDocument/2006/relationships/image" Target="../media/image32.png"/><Relationship Id="rId10" Type="http://schemas.openxmlformats.org/officeDocument/2006/relationships/image" Target="../media/image23.png"/><Relationship Id="rId19" Type="http://schemas.openxmlformats.org/officeDocument/2006/relationships/customXml" Target="../ink/ink24.xml"/><Relationship Id="rId4" Type="http://schemas.openxmlformats.org/officeDocument/2006/relationships/image" Target="../media/image20.png"/><Relationship Id="rId9" Type="http://schemas.openxmlformats.org/officeDocument/2006/relationships/customXml" Target="../ink/ink19.xml"/><Relationship Id="rId14" Type="http://schemas.openxmlformats.org/officeDocument/2006/relationships/image" Target="../media/image25.png"/><Relationship Id="rId22" Type="http://schemas.openxmlformats.org/officeDocument/2006/relationships/image" Target="../media/image29.png"/><Relationship Id="rId27" Type="http://schemas.openxmlformats.org/officeDocument/2006/relationships/customXml" Target="../ink/ink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46"/>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132F6B16-C922-428C-A463-E805A84C1B02}"/>
              </a:ext>
            </a:extLst>
          </p:cNvPr>
          <p:cNvSpPr>
            <a:spLocks noGrp="1"/>
          </p:cNvSpPr>
          <p:nvPr/>
        </p:nvSpPr>
        <p:spPr>
          <a:xfrm>
            <a:off x="609600" y="590550"/>
            <a:ext cx="10477500" cy="381000"/>
          </a:xfrm>
          <a:prstGeom prst="rect">
            <a:avLst/>
          </a:prstGeom>
          <a:noFill/>
          <a:ln w="0">
            <a:noFill/>
            <a:prstDash val="solid"/>
          </a:ln>
        </p:spPr>
        <p:txBody>
          <a:bodyPr lIns="0" tIns="0" rIns="0" bIns="0" anchor="t"/>
          <a:lstStyle>
            <a:defPPr>
              <a:defRPr sz="1575" b="1">
                <a:solidFill>
                  <a:srgbClr val="A5D9D1"/>
                </a:solidFill>
                <a:latin typeface="DejaVu Sans"/>
                <a:ea typeface="DejaVu Sans"/>
                <a:cs typeface="DejaVu Sans"/>
              </a:defRPr>
            </a:defPPr>
            <a:lvl1pPr>
              <a:defRPr sz="1575" b="1">
                <a:solidFill>
                  <a:srgbClr val="A5D9D1"/>
                </a:solidFill>
                <a:latin typeface="DejaVu Sans"/>
                <a:ea typeface="DejaVu Sans"/>
                <a:cs typeface="DejaVu Sans"/>
              </a:defRPr>
            </a:lvl1pPr>
            <a:lvl2pPr>
              <a:defRPr sz="1575" b="1">
                <a:solidFill>
                  <a:srgbClr val="A5D9D1"/>
                </a:solidFill>
                <a:latin typeface="DejaVu Sans"/>
                <a:ea typeface="DejaVu Sans"/>
                <a:cs typeface="DejaVu Sans"/>
              </a:defRPr>
            </a:lvl2pPr>
            <a:lvl3pPr>
              <a:defRPr sz="1575" b="1">
                <a:solidFill>
                  <a:srgbClr val="A5D9D1"/>
                </a:solidFill>
                <a:latin typeface="DejaVu Sans"/>
                <a:ea typeface="DejaVu Sans"/>
                <a:cs typeface="DejaVu Sans"/>
              </a:defRPr>
            </a:lvl3pPr>
            <a:lvl4pPr>
              <a:defRPr sz="1575" b="1">
                <a:solidFill>
                  <a:srgbClr val="A5D9D1"/>
                </a:solidFill>
                <a:latin typeface="DejaVu Sans"/>
                <a:ea typeface="DejaVu Sans"/>
                <a:cs typeface="DejaVu Sans"/>
              </a:defRPr>
            </a:lvl4pPr>
            <a:lvl5pPr>
              <a:defRPr sz="1575" b="1">
                <a:solidFill>
                  <a:srgbClr val="A5D9D1"/>
                </a:solidFill>
                <a:latin typeface="DejaVu Sans"/>
                <a:ea typeface="DejaVu Sans"/>
                <a:cs typeface="DejaVu Sans"/>
              </a:defRPr>
            </a:lvl5pPr>
            <a:lvl6pPr>
              <a:defRPr sz="1575" b="1">
                <a:solidFill>
                  <a:srgbClr val="A5D9D1"/>
                </a:solidFill>
                <a:latin typeface="DejaVu Sans"/>
                <a:ea typeface="DejaVu Sans"/>
                <a:cs typeface="DejaVu Sans"/>
              </a:defRPr>
            </a:lvl6pPr>
            <a:lvl7pPr>
              <a:defRPr sz="1575" b="1">
                <a:solidFill>
                  <a:srgbClr val="A5D9D1"/>
                </a:solidFill>
                <a:latin typeface="DejaVu Sans"/>
                <a:ea typeface="DejaVu Sans"/>
                <a:cs typeface="DejaVu Sans"/>
              </a:defRPr>
            </a:lvl7pPr>
            <a:lvl8pPr>
              <a:defRPr sz="1575" b="1">
                <a:solidFill>
                  <a:srgbClr val="A5D9D1"/>
                </a:solidFill>
                <a:latin typeface="DejaVu Sans"/>
                <a:ea typeface="DejaVu Sans"/>
                <a:cs typeface="DejaVu Sans"/>
              </a:defRPr>
            </a:lvl8pPr>
            <a:lvl9pPr>
              <a:defRPr sz="1575" b="1">
                <a:solidFill>
                  <a:srgbClr val="A5D9D1"/>
                </a:solidFill>
                <a:latin typeface="DejaVu Sans"/>
                <a:ea typeface="DejaVu Sans"/>
                <a:cs typeface="DejaVu Sans"/>
              </a:defRPr>
            </a:lvl9pPr>
          </a:lstStyle>
          <a:p>
            <a:pPr>
              <a:defRPr sz="1575" b="1">
                <a:solidFill>
                  <a:srgbClr val="A5D9D1"/>
                </a:solidFill>
                <a:latin typeface="DejaVu Sans"/>
                <a:ea typeface="DejaVu Sans"/>
                <a:cs typeface="DejaVu Sans"/>
              </a:defRPr>
            </a:pPr>
            <a:r>
              <a:rPr sz="1575" b="1">
                <a:solidFill>
                  <a:srgbClr val="A5D9D1"/>
                </a:solidFill>
                <a:latin typeface="DejaVu Sans"/>
                <a:ea typeface="DejaVu Sans"/>
                <a:cs typeface="DejaVu Sans"/>
              </a:rPr>
              <a:t>ESCUELA POLITÉCNICA NACIONAL</a:t>
            </a:r>
          </a:p>
        </p:txBody>
      </p:sp>
      <p:sp>
        <p:nvSpPr>
          <p:cNvPr id="2" name="text-1">
            <a:extLst>
              <a:ext uri="{FF2B5EF4-FFF2-40B4-BE49-F238E27FC236}">
                <a16:creationId xmlns:a16="http://schemas.microsoft.com/office/drawing/2014/main" id="{555AB5C2-A45C-421C-9C5E-AC6D5CE796D8}"/>
              </a:ext>
            </a:extLst>
          </p:cNvPr>
          <p:cNvSpPr>
            <a:spLocks noGrp="1"/>
          </p:cNvSpPr>
          <p:nvPr/>
        </p:nvSpPr>
        <p:spPr>
          <a:xfrm>
            <a:off x="609600" y="1762125"/>
            <a:ext cx="10953750" cy="1047750"/>
          </a:xfrm>
          <a:prstGeom prst="rect">
            <a:avLst/>
          </a:prstGeom>
          <a:noFill/>
          <a:ln w="0">
            <a:noFill/>
            <a:prstDash val="solid"/>
          </a:ln>
        </p:spPr>
        <p:txBody>
          <a:bodyPr lIns="0" tIns="0" rIns="0" bIns="0" anchor="t"/>
          <a:lstStyle>
            <a:defPPr>
              <a:defRPr sz="5850" b="1">
                <a:solidFill>
                  <a:srgbClr val="FFFFFF"/>
                </a:solidFill>
                <a:latin typeface="DejaVu Sans"/>
                <a:ea typeface="DejaVu Sans"/>
                <a:cs typeface="DejaVu Sans"/>
              </a:defRPr>
            </a:defPPr>
            <a:lvl1pPr>
              <a:defRPr sz="5850" b="1">
                <a:solidFill>
                  <a:srgbClr val="FFFFFF"/>
                </a:solidFill>
                <a:latin typeface="DejaVu Sans"/>
                <a:ea typeface="DejaVu Sans"/>
                <a:cs typeface="DejaVu Sans"/>
              </a:defRPr>
            </a:lvl1pPr>
            <a:lvl2pPr>
              <a:defRPr sz="5850" b="1">
                <a:solidFill>
                  <a:srgbClr val="FFFFFF"/>
                </a:solidFill>
                <a:latin typeface="DejaVu Sans"/>
                <a:ea typeface="DejaVu Sans"/>
                <a:cs typeface="DejaVu Sans"/>
              </a:defRPr>
            </a:lvl2pPr>
            <a:lvl3pPr>
              <a:defRPr sz="5850" b="1">
                <a:solidFill>
                  <a:srgbClr val="FFFFFF"/>
                </a:solidFill>
                <a:latin typeface="DejaVu Sans"/>
                <a:ea typeface="DejaVu Sans"/>
                <a:cs typeface="DejaVu Sans"/>
              </a:defRPr>
            </a:lvl3pPr>
            <a:lvl4pPr>
              <a:defRPr sz="5850" b="1">
                <a:solidFill>
                  <a:srgbClr val="FFFFFF"/>
                </a:solidFill>
                <a:latin typeface="DejaVu Sans"/>
                <a:ea typeface="DejaVu Sans"/>
                <a:cs typeface="DejaVu Sans"/>
              </a:defRPr>
            </a:lvl4pPr>
            <a:lvl5pPr>
              <a:defRPr sz="5850" b="1">
                <a:solidFill>
                  <a:srgbClr val="FFFFFF"/>
                </a:solidFill>
                <a:latin typeface="DejaVu Sans"/>
                <a:ea typeface="DejaVu Sans"/>
                <a:cs typeface="DejaVu Sans"/>
              </a:defRPr>
            </a:lvl5pPr>
            <a:lvl6pPr>
              <a:defRPr sz="5850" b="1">
                <a:solidFill>
                  <a:srgbClr val="FFFFFF"/>
                </a:solidFill>
                <a:latin typeface="DejaVu Sans"/>
                <a:ea typeface="DejaVu Sans"/>
                <a:cs typeface="DejaVu Sans"/>
              </a:defRPr>
            </a:lvl6pPr>
            <a:lvl7pPr>
              <a:defRPr sz="5850" b="1">
                <a:solidFill>
                  <a:srgbClr val="FFFFFF"/>
                </a:solidFill>
                <a:latin typeface="DejaVu Sans"/>
                <a:ea typeface="DejaVu Sans"/>
                <a:cs typeface="DejaVu Sans"/>
              </a:defRPr>
            </a:lvl7pPr>
            <a:lvl8pPr>
              <a:defRPr sz="5850" b="1">
                <a:solidFill>
                  <a:srgbClr val="FFFFFF"/>
                </a:solidFill>
                <a:latin typeface="DejaVu Sans"/>
                <a:ea typeface="DejaVu Sans"/>
                <a:cs typeface="DejaVu Sans"/>
              </a:defRPr>
            </a:lvl8pPr>
            <a:lvl9pPr>
              <a:defRPr sz="5850" b="1">
                <a:solidFill>
                  <a:srgbClr val="FFFFFF"/>
                </a:solidFill>
                <a:latin typeface="DejaVu Sans"/>
                <a:ea typeface="DejaVu Sans"/>
                <a:cs typeface="DejaVu Sans"/>
              </a:defRPr>
            </a:lvl9pPr>
          </a:lstStyle>
          <a:p>
            <a:pPr>
              <a:defRPr sz="5850" b="1">
                <a:solidFill>
                  <a:srgbClr val="FFFFFF"/>
                </a:solidFill>
                <a:latin typeface="DejaVu Sans"/>
                <a:ea typeface="DejaVu Sans"/>
                <a:cs typeface="DejaVu Sans"/>
              </a:defRPr>
            </a:pPr>
            <a:r>
              <a:rPr sz="5850" b="1">
                <a:solidFill>
                  <a:srgbClr val="FFFFFF"/>
                </a:solidFill>
                <a:latin typeface="DejaVu Sans"/>
                <a:ea typeface="DejaVu Sans"/>
                <a:cs typeface="DejaVu Sans"/>
              </a:rPr>
              <a:t>PISF-25-19</a:t>
            </a:r>
          </a:p>
        </p:txBody>
      </p:sp>
      <p:sp>
        <p:nvSpPr>
          <p:cNvPr id="3" name="text-2">
            <a:extLst>
              <a:ext uri="{FF2B5EF4-FFF2-40B4-BE49-F238E27FC236}">
                <a16:creationId xmlns:a16="http://schemas.microsoft.com/office/drawing/2014/main" id="{A77F83E6-9399-4321-9DF6-149F830E72F2}"/>
              </a:ext>
            </a:extLst>
          </p:cNvPr>
          <p:cNvSpPr>
            <a:spLocks noGrp="1"/>
          </p:cNvSpPr>
          <p:nvPr/>
        </p:nvSpPr>
        <p:spPr>
          <a:xfrm>
            <a:off x="628650" y="3143250"/>
            <a:ext cx="10668000" cy="1143000"/>
          </a:xfrm>
          <a:prstGeom prst="rect">
            <a:avLst/>
          </a:prstGeom>
          <a:noFill/>
          <a:ln w="0">
            <a:noFill/>
            <a:prstDash val="solid"/>
          </a:ln>
        </p:spPr>
        <p:txBody>
          <a:bodyPr lIns="0" tIns="0" rIns="0" bIns="0" anchor="t"/>
          <a:lstStyle>
            <a:defPPr>
              <a:defRPr sz="2700" b="0">
                <a:solidFill>
                  <a:srgbClr val="FFFFFF"/>
                </a:solidFill>
                <a:latin typeface="DejaVu Sans"/>
                <a:ea typeface="DejaVu Sans"/>
                <a:cs typeface="DejaVu Sans"/>
              </a:defRPr>
            </a:defPPr>
            <a:lvl1pPr>
              <a:defRPr sz="2700" b="0">
                <a:solidFill>
                  <a:srgbClr val="FFFFFF"/>
                </a:solidFill>
                <a:latin typeface="DejaVu Sans"/>
                <a:ea typeface="DejaVu Sans"/>
                <a:cs typeface="DejaVu Sans"/>
              </a:defRPr>
            </a:lvl1pPr>
            <a:lvl2pPr>
              <a:defRPr sz="2700" b="0">
                <a:solidFill>
                  <a:srgbClr val="FFFFFF"/>
                </a:solidFill>
                <a:latin typeface="DejaVu Sans"/>
                <a:ea typeface="DejaVu Sans"/>
                <a:cs typeface="DejaVu Sans"/>
              </a:defRPr>
            </a:lvl2pPr>
            <a:lvl3pPr>
              <a:defRPr sz="2700" b="0">
                <a:solidFill>
                  <a:srgbClr val="FFFFFF"/>
                </a:solidFill>
                <a:latin typeface="DejaVu Sans"/>
                <a:ea typeface="DejaVu Sans"/>
                <a:cs typeface="DejaVu Sans"/>
              </a:defRPr>
            </a:lvl3pPr>
            <a:lvl4pPr>
              <a:defRPr sz="2700" b="0">
                <a:solidFill>
                  <a:srgbClr val="FFFFFF"/>
                </a:solidFill>
                <a:latin typeface="DejaVu Sans"/>
                <a:ea typeface="DejaVu Sans"/>
                <a:cs typeface="DejaVu Sans"/>
              </a:defRPr>
            </a:lvl4pPr>
            <a:lvl5pPr>
              <a:defRPr sz="2700" b="0">
                <a:solidFill>
                  <a:srgbClr val="FFFFFF"/>
                </a:solidFill>
                <a:latin typeface="DejaVu Sans"/>
                <a:ea typeface="DejaVu Sans"/>
                <a:cs typeface="DejaVu Sans"/>
              </a:defRPr>
            </a:lvl5pPr>
            <a:lvl6pPr>
              <a:defRPr sz="2700" b="0">
                <a:solidFill>
                  <a:srgbClr val="FFFFFF"/>
                </a:solidFill>
                <a:latin typeface="DejaVu Sans"/>
                <a:ea typeface="DejaVu Sans"/>
                <a:cs typeface="DejaVu Sans"/>
              </a:defRPr>
            </a:lvl6pPr>
            <a:lvl7pPr>
              <a:defRPr sz="2700" b="0">
                <a:solidFill>
                  <a:srgbClr val="FFFFFF"/>
                </a:solidFill>
                <a:latin typeface="DejaVu Sans"/>
                <a:ea typeface="DejaVu Sans"/>
                <a:cs typeface="DejaVu Sans"/>
              </a:defRPr>
            </a:lvl7pPr>
            <a:lvl8pPr>
              <a:defRPr sz="2700" b="0">
                <a:solidFill>
                  <a:srgbClr val="FFFFFF"/>
                </a:solidFill>
                <a:latin typeface="DejaVu Sans"/>
                <a:ea typeface="DejaVu Sans"/>
                <a:cs typeface="DejaVu Sans"/>
              </a:defRPr>
            </a:lvl8pPr>
            <a:lvl9pPr>
              <a:defRPr sz="2700" b="0">
                <a:solidFill>
                  <a:srgbClr val="FFFFFF"/>
                </a:solidFill>
                <a:latin typeface="DejaVu Sans"/>
                <a:ea typeface="DejaVu Sans"/>
                <a:cs typeface="DejaVu Sans"/>
              </a:defRPr>
            </a:lvl9pPr>
          </a:lstStyle>
          <a:p>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Formación en competencias transversales</a:t>
            </a:r>
          </a:p>
          <a:p>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y su relación con la experiencia de prácticas</a:t>
            </a:r>
          </a:p>
        </p:txBody>
      </p:sp>
      <p:sp>
        <p:nvSpPr>
          <p:cNvPr id="4" name="text-3">
            <a:extLst>
              <a:ext uri="{FF2B5EF4-FFF2-40B4-BE49-F238E27FC236}">
                <a16:creationId xmlns:a16="http://schemas.microsoft.com/office/drawing/2014/main" id="{E10B4911-6550-4E82-BB2E-E663F3697302}"/>
              </a:ext>
            </a:extLst>
          </p:cNvPr>
          <p:cNvSpPr>
            <a:spLocks noGrp="1"/>
          </p:cNvSpPr>
          <p:nvPr/>
        </p:nvSpPr>
        <p:spPr>
          <a:xfrm>
            <a:off x="628650" y="5095875"/>
            <a:ext cx="10287000" cy="781050"/>
          </a:xfrm>
          <a:prstGeom prst="rect">
            <a:avLst/>
          </a:prstGeom>
          <a:noFill/>
          <a:ln w="0">
            <a:noFill/>
            <a:prstDash val="solid"/>
          </a:ln>
        </p:spPr>
        <p:txBody>
          <a:bodyPr lIns="0" tIns="0" rIns="0" bIns="0" anchor="t"/>
          <a:lstStyle>
            <a:defPPr>
              <a:defRPr sz="1950" b="0">
                <a:solidFill>
                  <a:srgbClr val="BED0DC"/>
                </a:solidFill>
                <a:latin typeface="DejaVu Sans"/>
                <a:ea typeface="DejaVu Sans"/>
                <a:cs typeface="DejaVu Sans"/>
              </a:defRPr>
            </a:defPPr>
            <a:lvl1pPr>
              <a:defRPr sz="1950" b="0">
                <a:solidFill>
                  <a:srgbClr val="BED0DC"/>
                </a:solidFill>
                <a:latin typeface="DejaVu Sans"/>
                <a:ea typeface="DejaVu Sans"/>
                <a:cs typeface="DejaVu Sans"/>
              </a:defRPr>
            </a:lvl1pPr>
            <a:lvl2pPr>
              <a:defRPr sz="1950" b="0">
                <a:solidFill>
                  <a:srgbClr val="BED0DC"/>
                </a:solidFill>
                <a:latin typeface="DejaVu Sans"/>
                <a:ea typeface="DejaVu Sans"/>
                <a:cs typeface="DejaVu Sans"/>
              </a:defRPr>
            </a:lvl2pPr>
            <a:lvl3pPr>
              <a:defRPr sz="1950" b="0">
                <a:solidFill>
                  <a:srgbClr val="BED0DC"/>
                </a:solidFill>
                <a:latin typeface="DejaVu Sans"/>
                <a:ea typeface="DejaVu Sans"/>
                <a:cs typeface="DejaVu Sans"/>
              </a:defRPr>
            </a:lvl3pPr>
            <a:lvl4pPr>
              <a:defRPr sz="1950" b="0">
                <a:solidFill>
                  <a:srgbClr val="BED0DC"/>
                </a:solidFill>
                <a:latin typeface="DejaVu Sans"/>
                <a:ea typeface="DejaVu Sans"/>
                <a:cs typeface="DejaVu Sans"/>
              </a:defRPr>
            </a:lvl4pPr>
            <a:lvl5pPr>
              <a:defRPr sz="1950" b="0">
                <a:solidFill>
                  <a:srgbClr val="BED0DC"/>
                </a:solidFill>
                <a:latin typeface="DejaVu Sans"/>
                <a:ea typeface="DejaVu Sans"/>
                <a:cs typeface="DejaVu Sans"/>
              </a:defRPr>
            </a:lvl5pPr>
            <a:lvl6pPr>
              <a:defRPr sz="1950" b="0">
                <a:solidFill>
                  <a:srgbClr val="BED0DC"/>
                </a:solidFill>
                <a:latin typeface="DejaVu Sans"/>
                <a:ea typeface="DejaVu Sans"/>
                <a:cs typeface="DejaVu Sans"/>
              </a:defRPr>
            </a:lvl6pPr>
            <a:lvl7pPr>
              <a:defRPr sz="1950" b="0">
                <a:solidFill>
                  <a:srgbClr val="BED0DC"/>
                </a:solidFill>
                <a:latin typeface="DejaVu Sans"/>
                <a:ea typeface="DejaVu Sans"/>
                <a:cs typeface="DejaVu Sans"/>
              </a:defRPr>
            </a:lvl7pPr>
            <a:lvl8pPr>
              <a:defRPr sz="1950" b="0">
                <a:solidFill>
                  <a:srgbClr val="BED0DC"/>
                </a:solidFill>
                <a:latin typeface="DejaVu Sans"/>
                <a:ea typeface="DejaVu Sans"/>
                <a:cs typeface="DejaVu Sans"/>
              </a:defRPr>
            </a:lvl8pPr>
            <a:lvl9pPr>
              <a:defRPr sz="1950" b="0">
                <a:solidFill>
                  <a:srgbClr val="BED0DC"/>
                </a:solidFill>
                <a:latin typeface="DejaVu Sans"/>
                <a:ea typeface="DejaVu Sans"/>
                <a:cs typeface="DejaVu Sans"/>
              </a:defRPr>
            </a:lvl9pPr>
          </a:lstStyle>
          <a:p>
            <a:pPr>
              <a:defRPr sz="1950" b="0">
                <a:solidFill>
                  <a:srgbClr val="BED0DC"/>
                </a:solidFill>
                <a:latin typeface="DejaVu Sans"/>
                <a:ea typeface="DejaVu Sans"/>
                <a:cs typeface="DejaVu Sans"/>
              </a:defRPr>
            </a:pPr>
            <a:r>
              <a:rPr sz="1950" b="0">
                <a:solidFill>
                  <a:srgbClr val="BED0DC"/>
                </a:solidFill>
                <a:latin typeface="DejaVu Sans"/>
                <a:ea typeface="DejaVu Sans"/>
                <a:cs typeface="DejaVu Sans"/>
              </a:rPr>
              <a:t>Contexto y propuesta de trabajo</a:t>
            </a:r>
          </a:p>
          <a:p>
            <a:pPr>
              <a:defRPr sz="1950" b="0">
                <a:solidFill>
                  <a:srgbClr val="BED0DC"/>
                </a:solidFill>
                <a:latin typeface="DejaVu Sans"/>
                <a:ea typeface="DejaVu Sans"/>
                <a:cs typeface="DejaVu Sans"/>
              </a:defRPr>
            </a:pPr>
            <a:r>
              <a:rPr sz="1950" b="0">
                <a:solidFill>
                  <a:srgbClr val="BED0DC"/>
                </a:solidFill>
                <a:latin typeface="DejaVu Sans"/>
                <a:ea typeface="DejaVu Sans"/>
                <a:cs typeface="DejaVu Sans"/>
              </a:rPr>
              <a:t>Reunión del equipo de investigación</a:t>
            </a:r>
          </a:p>
        </p:txBody>
      </p:sp>
    </p:spTree>
    <p:extLst>
      <p:ext uri="{BB962C8B-B14F-4D97-AF65-F5344CB8AC3E}">
        <p14:creationId xmlns:p14="http://schemas.microsoft.com/office/powerpoint/2010/main" val="1813782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60E6DF68-7205-4974-958F-F3B7BB4EA575}"/>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CONTEXTO</a:t>
            </a:r>
          </a:p>
        </p:txBody>
      </p:sp>
      <p:sp>
        <p:nvSpPr>
          <p:cNvPr id="2" name="text-1">
            <a:extLst>
              <a:ext uri="{FF2B5EF4-FFF2-40B4-BE49-F238E27FC236}">
                <a16:creationId xmlns:a16="http://schemas.microsoft.com/office/drawing/2014/main" id="{55C5BC1E-03E4-46CA-B92C-9BB1F8DEFC46}"/>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Por qué y para qué hacemos este proyecto</a:t>
            </a:r>
          </a:p>
        </p:txBody>
      </p:sp>
      <p:sp>
        <p:nvSpPr>
          <p:cNvPr id="3" name="text-2">
            <a:extLst>
              <a:ext uri="{FF2B5EF4-FFF2-40B4-BE49-F238E27FC236}">
                <a16:creationId xmlns:a16="http://schemas.microsoft.com/office/drawing/2014/main" id="{EDDC631A-F1EB-410F-B75B-9CFA642C9DE9}"/>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a:solidFill>
                  <a:srgbClr val="536575"/>
                </a:solidFill>
                <a:latin typeface="DejaVu Sans"/>
                <a:ea typeface="DejaVu Sans"/>
                <a:cs typeface="DejaVu Sans"/>
              </a:rPr>
              <a:t>02</a:t>
            </a:r>
          </a:p>
        </p:txBody>
      </p:sp>
      <p:sp>
        <p:nvSpPr>
          <p:cNvPr id="4" name="text-3">
            <a:extLst>
              <a:ext uri="{FF2B5EF4-FFF2-40B4-BE49-F238E27FC236}">
                <a16:creationId xmlns:a16="http://schemas.microsoft.com/office/drawing/2014/main" id="{EEC1E511-A1BC-4494-8A54-2FA9D685AB1B}"/>
              </a:ext>
            </a:extLst>
          </p:cNvPr>
          <p:cNvSpPr>
            <a:spLocks noGrp="1"/>
          </p:cNvSpPr>
          <p:nvPr/>
        </p:nvSpPr>
        <p:spPr>
          <a:xfrm>
            <a:off x="609600" y="1952625"/>
            <a:ext cx="10820400" cy="323850"/>
          </a:xfrm>
          <a:prstGeom prst="rect">
            <a:avLst/>
          </a:prstGeom>
          <a:noFill/>
          <a:ln w="0">
            <a:noFill/>
            <a:prstDash val="solid"/>
          </a:ln>
        </p:spPr>
        <p:txBody>
          <a:bodyPr lIns="0" tIns="0" rIns="0" bIns="0" anchor="t"/>
          <a:lstStyle>
            <a:defPPr>
              <a:defRPr sz="2025" b="1">
                <a:solidFill>
                  <a:srgbClr val="007F7B"/>
                </a:solidFill>
                <a:latin typeface="DejaVu Sans"/>
                <a:ea typeface="DejaVu Sans"/>
                <a:cs typeface="DejaVu Sans"/>
              </a:defRPr>
            </a:defPPr>
            <a:lvl1pPr>
              <a:defRPr sz="2025" b="1">
                <a:solidFill>
                  <a:srgbClr val="007F7B"/>
                </a:solidFill>
                <a:latin typeface="DejaVu Sans"/>
                <a:ea typeface="DejaVu Sans"/>
                <a:cs typeface="DejaVu Sans"/>
              </a:defRPr>
            </a:lvl1pPr>
            <a:lvl2pPr>
              <a:defRPr sz="2025" b="1">
                <a:solidFill>
                  <a:srgbClr val="007F7B"/>
                </a:solidFill>
                <a:latin typeface="DejaVu Sans"/>
                <a:ea typeface="DejaVu Sans"/>
                <a:cs typeface="DejaVu Sans"/>
              </a:defRPr>
            </a:lvl2pPr>
            <a:lvl3pPr>
              <a:defRPr sz="2025" b="1">
                <a:solidFill>
                  <a:srgbClr val="007F7B"/>
                </a:solidFill>
                <a:latin typeface="DejaVu Sans"/>
                <a:ea typeface="DejaVu Sans"/>
                <a:cs typeface="DejaVu Sans"/>
              </a:defRPr>
            </a:lvl3pPr>
            <a:lvl4pPr>
              <a:defRPr sz="2025" b="1">
                <a:solidFill>
                  <a:srgbClr val="007F7B"/>
                </a:solidFill>
                <a:latin typeface="DejaVu Sans"/>
                <a:ea typeface="DejaVu Sans"/>
                <a:cs typeface="DejaVu Sans"/>
              </a:defRPr>
            </a:lvl4pPr>
            <a:lvl5pPr>
              <a:defRPr sz="2025" b="1">
                <a:solidFill>
                  <a:srgbClr val="007F7B"/>
                </a:solidFill>
                <a:latin typeface="DejaVu Sans"/>
                <a:ea typeface="DejaVu Sans"/>
                <a:cs typeface="DejaVu Sans"/>
              </a:defRPr>
            </a:lvl5pPr>
            <a:lvl6pPr>
              <a:defRPr sz="2025" b="1">
                <a:solidFill>
                  <a:srgbClr val="007F7B"/>
                </a:solidFill>
                <a:latin typeface="DejaVu Sans"/>
                <a:ea typeface="DejaVu Sans"/>
                <a:cs typeface="DejaVu Sans"/>
              </a:defRPr>
            </a:lvl6pPr>
            <a:lvl7pPr>
              <a:defRPr sz="2025" b="1">
                <a:solidFill>
                  <a:srgbClr val="007F7B"/>
                </a:solidFill>
                <a:latin typeface="DejaVu Sans"/>
                <a:ea typeface="DejaVu Sans"/>
                <a:cs typeface="DejaVu Sans"/>
              </a:defRPr>
            </a:lvl7pPr>
            <a:lvl8pPr>
              <a:defRPr sz="2025" b="1">
                <a:solidFill>
                  <a:srgbClr val="007F7B"/>
                </a:solidFill>
                <a:latin typeface="DejaVu Sans"/>
                <a:ea typeface="DejaVu Sans"/>
                <a:cs typeface="DejaVu Sans"/>
              </a:defRPr>
            </a:lvl8pPr>
            <a:lvl9pPr>
              <a:defRPr sz="2025" b="1">
                <a:solidFill>
                  <a:srgbClr val="007F7B"/>
                </a:solidFill>
                <a:latin typeface="DejaVu Sans"/>
                <a:ea typeface="DejaVu Sans"/>
                <a:cs typeface="DejaVu Sans"/>
              </a:defRPr>
            </a:lvl9pPr>
          </a:lstStyle>
          <a:p>
            <a:pPr>
              <a:defRPr sz="2025" b="1">
                <a:solidFill>
                  <a:srgbClr val="007F7B"/>
                </a:solidFill>
                <a:latin typeface="DejaVu Sans"/>
                <a:ea typeface="DejaVu Sans"/>
                <a:cs typeface="DejaVu Sans"/>
              </a:defRPr>
            </a:pPr>
            <a:r>
              <a:rPr sz="2025" b="1">
                <a:solidFill>
                  <a:srgbClr val="007F7B"/>
                </a:solidFill>
                <a:latin typeface="DejaVu Sans"/>
                <a:ea typeface="DejaVu Sans"/>
                <a:cs typeface="DejaVu Sans"/>
              </a:rPr>
              <a:t>Por qué</a:t>
            </a:r>
          </a:p>
        </p:txBody>
      </p:sp>
      <p:sp>
        <p:nvSpPr>
          <p:cNvPr id="5" name="text-4">
            <a:extLst>
              <a:ext uri="{FF2B5EF4-FFF2-40B4-BE49-F238E27FC236}">
                <a16:creationId xmlns:a16="http://schemas.microsoft.com/office/drawing/2014/main" id="{12F38CE1-3AF8-421A-8E67-48F0D7C99230}"/>
              </a:ext>
            </a:extLst>
          </p:cNvPr>
          <p:cNvSpPr>
            <a:spLocks noGrp="1"/>
          </p:cNvSpPr>
          <p:nvPr/>
        </p:nvSpPr>
        <p:spPr>
          <a:xfrm>
            <a:off x="609600" y="2324100"/>
            <a:ext cx="10820400" cy="781050"/>
          </a:xfrm>
          <a:prstGeom prst="rect">
            <a:avLst/>
          </a:prstGeom>
          <a:noFill/>
          <a:ln w="0">
            <a:noFill/>
            <a:prstDash val="solid"/>
          </a:ln>
        </p:spPr>
        <p:txBody>
          <a:bodyPr lIns="0" tIns="0" rIns="0" bIns="0" anchor="t"/>
          <a:lstStyle>
            <a:defPPr>
              <a:defRPr sz="1875" b="0">
                <a:solidFill>
                  <a:srgbClr val="102B46"/>
                </a:solidFill>
                <a:latin typeface="DejaVu Sans"/>
                <a:ea typeface="DejaVu Sans"/>
                <a:cs typeface="DejaVu Sans"/>
              </a:defRPr>
            </a:defPPr>
            <a:lvl1pPr>
              <a:defRPr sz="1875" b="0">
                <a:solidFill>
                  <a:srgbClr val="102B46"/>
                </a:solidFill>
                <a:latin typeface="DejaVu Sans"/>
                <a:ea typeface="DejaVu Sans"/>
                <a:cs typeface="DejaVu Sans"/>
              </a:defRPr>
            </a:lvl1pPr>
            <a:lvl2pPr>
              <a:defRPr sz="1875" b="0">
                <a:solidFill>
                  <a:srgbClr val="102B46"/>
                </a:solidFill>
                <a:latin typeface="DejaVu Sans"/>
                <a:ea typeface="DejaVu Sans"/>
                <a:cs typeface="DejaVu Sans"/>
              </a:defRPr>
            </a:lvl2pPr>
            <a:lvl3pPr>
              <a:defRPr sz="1875" b="0">
                <a:solidFill>
                  <a:srgbClr val="102B46"/>
                </a:solidFill>
                <a:latin typeface="DejaVu Sans"/>
                <a:ea typeface="DejaVu Sans"/>
                <a:cs typeface="DejaVu Sans"/>
              </a:defRPr>
            </a:lvl3pPr>
            <a:lvl4pPr>
              <a:defRPr sz="1875" b="0">
                <a:solidFill>
                  <a:srgbClr val="102B46"/>
                </a:solidFill>
                <a:latin typeface="DejaVu Sans"/>
                <a:ea typeface="DejaVu Sans"/>
                <a:cs typeface="DejaVu Sans"/>
              </a:defRPr>
            </a:lvl4pPr>
            <a:lvl5pPr>
              <a:defRPr sz="1875" b="0">
                <a:solidFill>
                  <a:srgbClr val="102B46"/>
                </a:solidFill>
                <a:latin typeface="DejaVu Sans"/>
                <a:ea typeface="DejaVu Sans"/>
                <a:cs typeface="DejaVu Sans"/>
              </a:defRPr>
            </a:lvl5pPr>
            <a:lvl6pPr>
              <a:defRPr sz="1875" b="0">
                <a:solidFill>
                  <a:srgbClr val="102B46"/>
                </a:solidFill>
                <a:latin typeface="DejaVu Sans"/>
                <a:ea typeface="DejaVu Sans"/>
                <a:cs typeface="DejaVu Sans"/>
              </a:defRPr>
            </a:lvl6pPr>
            <a:lvl7pPr>
              <a:defRPr sz="1875" b="0">
                <a:solidFill>
                  <a:srgbClr val="102B46"/>
                </a:solidFill>
                <a:latin typeface="DejaVu Sans"/>
                <a:ea typeface="DejaVu Sans"/>
                <a:cs typeface="DejaVu Sans"/>
              </a:defRPr>
            </a:lvl7pPr>
            <a:lvl8pPr>
              <a:defRPr sz="1875" b="0">
                <a:solidFill>
                  <a:srgbClr val="102B46"/>
                </a:solidFill>
                <a:latin typeface="DejaVu Sans"/>
                <a:ea typeface="DejaVu Sans"/>
                <a:cs typeface="DejaVu Sans"/>
              </a:defRPr>
            </a:lvl8pPr>
            <a:lvl9pPr>
              <a:defRPr sz="1875" b="0">
                <a:solidFill>
                  <a:srgbClr val="102B46"/>
                </a:solidFill>
                <a:latin typeface="DejaVu Sans"/>
                <a:ea typeface="DejaVu Sans"/>
                <a:cs typeface="DejaVu Sans"/>
              </a:defRPr>
            </a:lvl9pPr>
          </a:lstStyle>
          <a:p>
            <a:pPr>
              <a:defRPr sz="1875" b="0">
                <a:solidFill>
                  <a:srgbClr val="102B46"/>
                </a:solidFill>
                <a:latin typeface="DejaVu Sans"/>
                <a:ea typeface="DejaVu Sans"/>
                <a:cs typeface="DejaVu Sans"/>
              </a:defRPr>
            </a:pPr>
            <a:r>
              <a:rPr sz="1875" b="0">
                <a:solidFill>
                  <a:srgbClr val="102B46"/>
                </a:solidFill>
                <a:latin typeface="DejaVu Sans"/>
                <a:ea typeface="DejaVu Sans"/>
                <a:cs typeface="DejaVu Sans"/>
              </a:rPr>
              <a:t>La formación profesional requiere, además de conocimientos técnicos, comunicación, colaboración y capacidad de adaptación.</a:t>
            </a:r>
          </a:p>
        </p:txBody>
      </p:sp>
      <p:sp>
        <p:nvSpPr>
          <p:cNvPr id="6" name="text-5">
            <a:extLst>
              <a:ext uri="{FF2B5EF4-FFF2-40B4-BE49-F238E27FC236}">
                <a16:creationId xmlns:a16="http://schemas.microsoft.com/office/drawing/2014/main" id="{CDFBAF8A-7F98-4533-AF11-CF9D820F3DB1}"/>
              </a:ext>
            </a:extLst>
          </p:cNvPr>
          <p:cNvSpPr>
            <a:spLocks noGrp="1"/>
          </p:cNvSpPr>
          <p:nvPr/>
        </p:nvSpPr>
        <p:spPr>
          <a:xfrm>
            <a:off x="609600" y="3105150"/>
            <a:ext cx="10820400" cy="323850"/>
          </a:xfrm>
          <a:prstGeom prst="rect">
            <a:avLst/>
          </a:prstGeom>
          <a:noFill/>
          <a:ln w="0">
            <a:noFill/>
            <a:prstDash val="solid"/>
          </a:ln>
        </p:spPr>
        <p:txBody>
          <a:bodyPr lIns="0" tIns="0" rIns="0" bIns="0" anchor="t"/>
          <a:lstStyle>
            <a:defPPr>
              <a:defRPr sz="2025" b="1">
                <a:solidFill>
                  <a:srgbClr val="007F7B"/>
                </a:solidFill>
                <a:latin typeface="DejaVu Sans"/>
                <a:ea typeface="DejaVu Sans"/>
                <a:cs typeface="DejaVu Sans"/>
              </a:defRPr>
            </a:defPPr>
            <a:lvl1pPr>
              <a:defRPr sz="2025" b="1">
                <a:solidFill>
                  <a:srgbClr val="007F7B"/>
                </a:solidFill>
                <a:latin typeface="DejaVu Sans"/>
                <a:ea typeface="DejaVu Sans"/>
                <a:cs typeface="DejaVu Sans"/>
              </a:defRPr>
            </a:lvl1pPr>
            <a:lvl2pPr>
              <a:defRPr sz="2025" b="1">
                <a:solidFill>
                  <a:srgbClr val="007F7B"/>
                </a:solidFill>
                <a:latin typeface="DejaVu Sans"/>
                <a:ea typeface="DejaVu Sans"/>
                <a:cs typeface="DejaVu Sans"/>
              </a:defRPr>
            </a:lvl2pPr>
            <a:lvl3pPr>
              <a:defRPr sz="2025" b="1">
                <a:solidFill>
                  <a:srgbClr val="007F7B"/>
                </a:solidFill>
                <a:latin typeface="DejaVu Sans"/>
                <a:ea typeface="DejaVu Sans"/>
                <a:cs typeface="DejaVu Sans"/>
              </a:defRPr>
            </a:lvl3pPr>
            <a:lvl4pPr>
              <a:defRPr sz="2025" b="1">
                <a:solidFill>
                  <a:srgbClr val="007F7B"/>
                </a:solidFill>
                <a:latin typeface="DejaVu Sans"/>
                <a:ea typeface="DejaVu Sans"/>
                <a:cs typeface="DejaVu Sans"/>
              </a:defRPr>
            </a:lvl4pPr>
            <a:lvl5pPr>
              <a:defRPr sz="2025" b="1">
                <a:solidFill>
                  <a:srgbClr val="007F7B"/>
                </a:solidFill>
                <a:latin typeface="DejaVu Sans"/>
                <a:ea typeface="DejaVu Sans"/>
                <a:cs typeface="DejaVu Sans"/>
              </a:defRPr>
            </a:lvl5pPr>
            <a:lvl6pPr>
              <a:defRPr sz="2025" b="1">
                <a:solidFill>
                  <a:srgbClr val="007F7B"/>
                </a:solidFill>
                <a:latin typeface="DejaVu Sans"/>
                <a:ea typeface="DejaVu Sans"/>
                <a:cs typeface="DejaVu Sans"/>
              </a:defRPr>
            </a:lvl6pPr>
            <a:lvl7pPr>
              <a:defRPr sz="2025" b="1">
                <a:solidFill>
                  <a:srgbClr val="007F7B"/>
                </a:solidFill>
                <a:latin typeface="DejaVu Sans"/>
                <a:ea typeface="DejaVu Sans"/>
                <a:cs typeface="DejaVu Sans"/>
              </a:defRPr>
            </a:lvl7pPr>
            <a:lvl8pPr>
              <a:defRPr sz="2025" b="1">
                <a:solidFill>
                  <a:srgbClr val="007F7B"/>
                </a:solidFill>
                <a:latin typeface="DejaVu Sans"/>
                <a:ea typeface="DejaVu Sans"/>
                <a:cs typeface="DejaVu Sans"/>
              </a:defRPr>
            </a:lvl8pPr>
            <a:lvl9pPr>
              <a:defRPr sz="2025" b="1">
                <a:solidFill>
                  <a:srgbClr val="007F7B"/>
                </a:solidFill>
                <a:latin typeface="DejaVu Sans"/>
                <a:ea typeface="DejaVu Sans"/>
                <a:cs typeface="DejaVu Sans"/>
              </a:defRPr>
            </a:lvl9pPr>
          </a:lstStyle>
          <a:p>
            <a:pPr>
              <a:defRPr sz="2025" b="1">
                <a:solidFill>
                  <a:srgbClr val="007F7B"/>
                </a:solidFill>
                <a:latin typeface="DejaVu Sans"/>
                <a:ea typeface="DejaVu Sans"/>
                <a:cs typeface="DejaVu Sans"/>
              </a:defRPr>
            </a:pPr>
            <a:r>
              <a:rPr sz="2025" b="1">
                <a:solidFill>
                  <a:srgbClr val="007F7B"/>
                </a:solidFill>
                <a:latin typeface="DejaVu Sans"/>
                <a:ea typeface="DejaVu Sans"/>
                <a:cs typeface="DejaVu Sans"/>
              </a:rPr>
              <a:t>Para qué</a:t>
            </a:r>
          </a:p>
        </p:txBody>
      </p:sp>
      <p:sp>
        <p:nvSpPr>
          <p:cNvPr id="7" name="text-6">
            <a:extLst>
              <a:ext uri="{FF2B5EF4-FFF2-40B4-BE49-F238E27FC236}">
                <a16:creationId xmlns:a16="http://schemas.microsoft.com/office/drawing/2014/main" id="{3A3B574D-9146-4E4B-88A5-0EA6A6FC0984}"/>
              </a:ext>
            </a:extLst>
          </p:cNvPr>
          <p:cNvSpPr>
            <a:spLocks noGrp="1"/>
          </p:cNvSpPr>
          <p:nvPr/>
        </p:nvSpPr>
        <p:spPr>
          <a:xfrm>
            <a:off x="609600" y="3476625"/>
            <a:ext cx="10820400" cy="781050"/>
          </a:xfrm>
          <a:prstGeom prst="rect">
            <a:avLst/>
          </a:prstGeom>
          <a:noFill/>
          <a:ln w="0">
            <a:noFill/>
            <a:prstDash val="solid"/>
          </a:ln>
        </p:spPr>
        <p:txBody>
          <a:bodyPr lIns="0" tIns="0" rIns="0" bIns="0" anchor="t"/>
          <a:lstStyle>
            <a:defPPr>
              <a:defRPr sz="1875" b="0">
                <a:solidFill>
                  <a:srgbClr val="102B46"/>
                </a:solidFill>
                <a:latin typeface="DejaVu Sans"/>
                <a:ea typeface="DejaVu Sans"/>
                <a:cs typeface="DejaVu Sans"/>
              </a:defRPr>
            </a:defPPr>
            <a:lvl1pPr>
              <a:defRPr sz="1875" b="0">
                <a:solidFill>
                  <a:srgbClr val="102B46"/>
                </a:solidFill>
                <a:latin typeface="DejaVu Sans"/>
                <a:ea typeface="DejaVu Sans"/>
                <a:cs typeface="DejaVu Sans"/>
              </a:defRPr>
            </a:lvl1pPr>
            <a:lvl2pPr>
              <a:defRPr sz="1875" b="0">
                <a:solidFill>
                  <a:srgbClr val="102B46"/>
                </a:solidFill>
                <a:latin typeface="DejaVu Sans"/>
                <a:ea typeface="DejaVu Sans"/>
                <a:cs typeface="DejaVu Sans"/>
              </a:defRPr>
            </a:lvl2pPr>
            <a:lvl3pPr>
              <a:defRPr sz="1875" b="0">
                <a:solidFill>
                  <a:srgbClr val="102B46"/>
                </a:solidFill>
                <a:latin typeface="DejaVu Sans"/>
                <a:ea typeface="DejaVu Sans"/>
                <a:cs typeface="DejaVu Sans"/>
              </a:defRPr>
            </a:lvl3pPr>
            <a:lvl4pPr>
              <a:defRPr sz="1875" b="0">
                <a:solidFill>
                  <a:srgbClr val="102B46"/>
                </a:solidFill>
                <a:latin typeface="DejaVu Sans"/>
                <a:ea typeface="DejaVu Sans"/>
                <a:cs typeface="DejaVu Sans"/>
              </a:defRPr>
            </a:lvl4pPr>
            <a:lvl5pPr>
              <a:defRPr sz="1875" b="0">
                <a:solidFill>
                  <a:srgbClr val="102B46"/>
                </a:solidFill>
                <a:latin typeface="DejaVu Sans"/>
                <a:ea typeface="DejaVu Sans"/>
                <a:cs typeface="DejaVu Sans"/>
              </a:defRPr>
            </a:lvl5pPr>
            <a:lvl6pPr>
              <a:defRPr sz="1875" b="0">
                <a:solidFill>
                  <a:srgbClr val="102B46"/>
                </a:solidFill>
                <a:latin typeface="DejaVu Sans"/>
                <a:ea typeface="DejaVu Sans"/>
                <a:cs typeface="DejaVu Sans"/>
              </a:defRPr>
            </a:lvl6pPr>
            <a:lvl7pPr>
              <a:defRPr sz="1875" b="0">
                <a:solidFill>
                  <a:srgbClr val="102B46"/>
                </a:solidFill>
                <a:latin typeface="DejaVu Sans"/>
                <a:ea typeface="DejaVu Sans"/>
                <a:cs typeface="DejaVu Sans"/>
              </a:defRPr>
            </a:lvl7pPr>
            <a:lvl8pPr>
              <a:defRPr sz="1875" b="0">
                <a:solidFill>
                  <a:srgbClr val="102B46"/>
                </a:solidFill>
                <a:latin typeface="DejaVu Sans"/>
                <a:ea typeface="DejaVu Sans"/>
                <a:cs typeface="DejaVu Sans"/>
              </a:defRPr>
            </a:lvl8pPr>
            <a:lvl9pPr>
              <a:defRPr sz="1875" b="0">
                <a:solidFill>
                  <a:srgbClr val="102B46"/>
                </a:solidFill>
                <a:latin typeface="DejaVu Sans"/>
                <a:ea typeface="DejaVu Sans"/>
                <a:cs typeface="DejaVu Sans"/>
              </a:defRPr>
            </a:lvl9pPr>
          </a:lstStyle>
          <a:p>
            <a:pPr>
              <a:defRPr sz="1875" b="0">
                <a:solidFill>
                  <a:srgbClr val="102B46"/>
                </a:solidFill>
                <a:latin typeface="DejaVu Sans"/>
                <a:ea typeface="DejaVu Sans"/>
                <a:cs typeface="DejaVu Sans"/>
              </a:defRPr>
            </a:pPr>
            <a:r>
              <a:rPr sz="1875" b="0">
                <a:solidFill>
                  <a:srgbClr val="102B46"/>
                </a:solidFill>
                <a:latin typeface="DejaVu Sans"/>
                <a:ea typeface="DejaVu Sans"/>
                <a:cs typeface="DejaVu Sans"/>
              </a:rPr>
              <a:t>Conocer fortalezas y necesidades de formación de los estudiantes a partir de su experiencia reciente de prácticas.</a:t>
            </a:r>
          </a:p>
        </p:txBody>
      </p:sp>
      <p:sp>
        <p:nvSpPr>
          <p:cNvPr id="8" name="text-7">
            <a:extLst>
              <a:ext uri="{FF2B5EF4-FFF2-40B4-BE49-F238E27FC236}">
                <a16:creationId xmlns:a16="http://schemas.microsoft.com/office/drawing/2014/main" id="{4D0B5C2E-C172-45E2-9C78-35915EBD6787}"/>
              </a:ext>
            </a:extLst>
          </p:cNvPr>
          <p:cNvSpPr>
            <a:spLocks noGrp="1"/>
          </p:cNvSpPr>
          <p:nvPr/>
        </p:nvSpPr>
        <p:spPr>
          <a:xfrm>
            <a:off x="609600" y="4257675"/>
            <a:ext cx="10820400" cy="323850"/>
          </a:xfrm>
          <a:prstGeom prst="rect">
            <a:avLst/>
          </a:prstGeom>
          <a:noFill/>
          <a:ln w="0">
            <a:noFill/>
            <a:prstDash val="solid"/>
          </a:ln>
        </p:spPr>
        <p:txBody>
          <a:bodyPr lIns="0" tIns="0" rIns="0" bIns="0" anchor="t"/>
          <a:lstStyle>
            <a:defPPr>
              <a:defRPr sz="2025" b="1">
                <a:solidFill>
                  <a:srgbClr val="007F7B"/>
                </a:solidFill>
                <a:latin typeface="DejaVu Sans"/>
                <a:ea typeface="DejaVu Sans"/>
                <a:cs typeface="DejaVu Sans"/>
              </a:defRPr>
            </a:defPPr>
            <a:lvl1pPr>
              <a:defRPr sz="2025" b="1">
                <a:solidFill>
                  <a:srgbClr val="007F7B"/>
                </a:solidFill>
                <a:latin typeface="DejaVu Sans"/>
                <a:ea typeface="DejaVu Sans"/>
                <a:cs typeface="DejaVu Sans"/>
              </a:defRPr>
            </a:lvl1pPr>
            <a:lvl2pPr>
              <a:defRPr sz="2025" b="1">
                <a:solidFill>
                  <a:srgbClr val="007F7B"/>
                </a:solidFill>
                <a:latin typeface="DejaVu Sans"/>
                <a:ea typeface="DejaVu Sans"/>
                <a:cs typeface="DejaVu Sans"/>
              </a:defRPr>
            </a:lvl2pPr>
            <a:lvl3pPr>
              <a:defRPr sz="2025" b="1">
                <a:solidFill>
                  <a:srgbClr val="007F7B"/>
                </a:solidFill>
                <a:latin typeface="DejaVu Sans"/>
                <a:ea typeface="DejaVu Sans"/>
                <a:cs typeface="DejaVu Sans"/>
              </a:defRPr>
            </a:lvl3pPr>
            <a:lvl4pPr>
              <a:defRPr sz="2025" b="1">
                <a:solidFill>
                  <a:srgbClr val="007F7B"/>
                </a:solidFill>
                <a:latin typeface="DejaVu Sans"/>
                <a:ea typeface="DejaVu Sans"/>
                <a:cs typeface="DejaVu Sans"/>
              </a:defRPr>
            </a:lvl4pPr>
            <a:lvl5pPr>
              <a:defRPr sz="2025" b="1">
                <a:solidFill>
                  <a:srgbClr val="007F7B"/>
                </a:solidFill>
                <a:latin typeface="DejaVu Sans"/>
                <a:ea typeface="DejaVu Sans"/>
                <a:cs typeface="DejaVu Sans"/>
              </a:defRPr>
            </a:lvl5pPr>
            <a:lvl6pPr>
              <a:defRPr sz="2025" b="1">
                <a:solidFill>
                  <a:srgbClr val="007F7B"/>
                </a:solidFill>
                <a:latin typeface="DejaVu Sans"/>
                <a:ea typeface="DejaVu Sans"/>
                <a:cs typeface="DejaVu Sans"/>
              </a:defRPr>
            </a:lvl6pPr>
            <a:lvl7pPr>
              <a:defRPr sz="2025" b="1">
                <a:solidFill>
                  <a:srgbClr val="007F7B"/>
                </a:solidFill>
                <a:latin typeface="DejaVu Sans"/>
                <a:ea typeface="DejaVu Sans"/>
                <a:cs typeface="DejaVu Sans"/>
              </a:defRPr>
            </a:lvl7pPr>
            <a:lvl8pPr>
              <a:defRPr sz="2025" b="1">
                <a:solidFill>
                  <a:srgbClr val="007F7B"/>
                </a:solidFill>
                <a:latin typeface="DejaVu Sans"/>
                <a:ea typeface="DejaVu Sans"/>
                <a:cs typeface="DejaVu Sans"/>
              </a:defRPr>
            </a:lvl8pPr>
            <a:lvl9pPr>
              <a:defRPr sz="2025" b="1">
                <a:solidFill>
                  <a:srgbClr val="007F7B"/>
                </a:solidFill>
                <a:latin typeface="DejaVu Sans"/>
                <a:ea typeface="DejaVu Sans"/>
                <a:cs typeface="DejaVu Sans"/>
              </a:defRPr>
            </a:lvl9pPr>
          </a:lstStyle>
          <a:p>
            <a:pPr>
              <a:defRPr sz="2025" b="1">
                <a:solidFill>
                  <a:srgbClr val="007F7B"/>
                </a:solidFill>
                <a:latin typeface="DejaVu Sans"/>
                <a:ea typeface="DejaVu Sans"/>
                <a:cs typeface="DejaVu Sans"/>
              </a:defRPr>
            </a:pPr>
            <a:r>
              <a:rPr sz="2025" b="1">
                <a:solidFill>
                  <a:srgbClr val="007F7B"/>
                </a:solidFill>
                <a:latin typeface="DejaVu Sans"/>
                <a:ea typeface="DejaVu Sans"/>
                <a:cs typeface="DejaVu Sans"/>
              </a:rPr>
              <a:t>Qué queremos comprender</a:t>
            </a:r>
          </a:p>
        </p:txBody>
      </p:sp>
      <p:sp>
        <p:nvSpPr>
          <p:cNvPr id="9" name="text-8">
            <a:extLst>
              <a:ext uri="{FF2B5EF4-FFF2-40B4-BE49-F238E27FC236}">
                <a16:creationId xmlns:a16="http://schemas.microsoft.com/office/drawing/2014/main" id="{730C08E1-C6B6-46A7-8F21-BF58558DB09C}"/>
              </a:ext>
            </a:extLst>
          </p:cNvPr>
          <p:cNvSpPr>
            <a:spLocks noGrp="1"/>
          </p:cNvSpPr>
          <p:nvPr/>
        </p:nvSpPr>
        <p:spPr>
          <a:xfrm>
            <a:off x="609600" y="4629150"/>
            <a:ext cx="10820400" cy="781050"/>
          </a:xfrm>
          <a:prstGeom prst="rect">
            <a:avLst/>
          </a:prstGeom>
          <a:noFill/>
          <a:ln w="0">
            <a:noFill/>
            <a:prstDash val="solid"/>
          </a:ln>
        </p:spPr>
        <p:txBody>
          <a:bodyPr lIns="0" tIns="0" rIns="0" bIns="0" anchor="t"/>
          <a:lstStyle>
            <a:defPPr>
              <a:defRPr sz="1875" b="0">
                <a:solidFill>
                  <a:srgbClr val="102B46"/>
                </a:solidFill>
                <a:latin typeface="DejaVu Sans"/>
                <a:ea typeface="DejaVu Sans"/>
                <a:cs typeface="DejaVu Sans"/>
              </a:defRPr>
            </a:defPPr>
            <a:lvl1pPr>
              <a:defRPr sz="1875" b="0">
                <a:solidFill>
                  <a:srgbClr val="102B46"/>
                </a:solidFill>
                <a:latin typeface="DejaVu Sans"/>
                <a:ea typeface="DejaVu Sans"/>
                <a:cs typeface="DejaVu Sans"/>
              </a:defRPr>
            </a:lvl1pPr>
            <a:lvl2pPr>
              <a:defRPr sz="1875" b="0">
                <a:solidFill>
                  <a:srgbClr val="102B46"/>
                </a:solidFill>
                <a:latin typeface="DejaVu Sans"/>
                <a:ea typeface="DejaVu Sans"/>
                <a:cs typeface="DejaVu Sans"/>
              </a:defRPr>
            </a:lvl2pPr>
            <a:lvl3pPr>
              <a:defRPr sz="1875" b="0">
                <a:solidFill>
                  <a:srgbClr val="102B46"/>
                </a:solidFill>
                <a:latin typeface="DejaVu Sans"/>
                <a:ea typeface="DejaVu Sans"/>
                <a:cs typeface="DejaVu Sans"/>
              </a:defRPr>
            </a:lvl3pPr>
            <a:lvl4pPr>
              <a:defRPr sz="1875" b="0">
                <a:solidFill>
                  <a:srgbClr val="102B46"/>
                </a:solidFill>
                <a:latin typeface="DejaVu Sans"/>
                <a:ea typeface="DejaVu Sans"/>
                <a:cs typeface="DejaVu Sans"/>
              </a:defRPr>
            </a:lvl4pPr>
            <a:lvl5pPr>
              <a:defRPr sz="1875" b="0">
                <a:solidFill>
                  <a:srgbClr val="102B46"/>
                </a:solidFill>
                <a:latin typeface="DejaVu Sans"/>
                <a:ea typeface="DejaVu Sans"/>
                <a:cs typeface="DejaVu Sans"/>
              </a:defRPr>
            </a:lvl5pPr>
            <a:lvl6pPr>
              <a:defRPr sz="1875" b="0">
                <a:solidFill>
                  <a:srgbClr val="102B46"/>
                </a:solidFill>
                <a:latin typeface="DejaVu Sans"/>
                <a:ea typeface="DejaVu Sans"/>
                <a:cs typeface="DejaVu Sans"/>
              </a:defRPr>
            </a:lvl6pPr>
            <a:lvl7pPr>
              <a:defRPr sz="1875" b="0">
                <a:solidFill>
                  <a:srgbClr val="102B46"/>
                </a:solidFill>
                <a:latin typeface="DejaVu Sans"/>
                <a:ea typeface="DejaVu Sans"/>
                <a:cs typeface="DejaVu Sans"/>
              </a:defRPr>
            </a:lvl7pPr>
            <a:lvl8pPr>
              <a:defRPr sz="1875" b="0">
                <a:solidFill>
                  <a:srgbClr val="102B46"/>
                </a:solidFill>
                <a:latin typeface="DejaVu Sans"/>
                <a:ea typeface="DejaVu Sans"/>
                <a:cs typeface="DejaVu Sans"/>
              </a:defRPr>
            </a:lvl8pPr>
            <a:lvl9pPr>
              <a:defRPr sz="1875" b="0">
                <a:solidFill>
                  <a:srgbClr val="102B46"/>
                </a:solidFill>
                <a:latin typeface="DejaVu Sans"/>
                <a:ea typeface="DejaVu Sans"/>
                <a:cs typeface="DejaVu Sans"/>
              </a:defRPr>
            </a:lvl9pPr>
          </a:lstStyle>
          <a:p>
            <a:pPr>
              <a:defRPr sz="1875" b="0">
                <a:solidFill>
                  <a:srgbClr val="102B46"/>
                </a:solidFill>
                <a:latin typeface="DejaVu Sans"/>
                <a:ea typeface="DejaVu Sans"/>
                <a:cs typeface="DejaVu Sans"/>
              </a:defRPr>
            </a:pPr>
            <a:r>
              <a:rPr sz="1875" b="0">
                <a:solidFill>
                  <a:srgbClr val="102B46"/>
                </a:solidFill>
                <a:latin typeface="DejaVu Sans"/>
                <a:ea typeface="DejaVu Sans"/>
                <a:cs typeface="DejaVu Sans"/>
              </a:rPr>
              <a:t>Cómo se relacionan las notas de Comunicación y de media carrera con las competencias que los estudiantes consideran poseer.</a:t>
            </a:r>
          </a:p>
        </p:txBody>
      </p:sp>
      <p:sp>
        <p:nvSpPr>
          <p:cNvPr id="10" name="text-9">
            <a:extLst>
              <a:ext uri="{FF2B5EF4-FFF2-40B4-BE49-F238E27FC236}">
                <a16:creationId xmlns:a16="http://schemas.microsoft.com/office/drawing/2014/main" id="{A6744E63-7E54-4AAE-85CF-EA80265BBC81}"/>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La evidencia servirá para orientar mejoras en la formación y su relación con las exigencias profesionales.</a:t>
            </a:r>
          </a:p>
        </p:txBody>
      </p:sp>
    </p:spTree>
    <p:extLst>
      <p:ext uri="{BB962C8B-B14F-4D97-AF65-F5344CB8AC3E}">
        <p14:creationId xmlns:p14="http://schemas.microsoft.com/office/powerpoint/2010/main" val="177491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DF6F54CC-D5B8-4314-9837-80CDE8B6FA86}"/>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CÓMO RESPONDEREMOS LA PREGUNTA</a:t>
            </a:r>
          </a:p>
        </p:txBody>
      </p:sp>
      <p:sp>
        <p:nvSpPr>
          <p:cNvPr id="2" name="text-1">
            <a:extLst>
              <a:ext uri="{FF2B5EF4-FFF2-40B4-BE49-F238E27FC236}">
                <a16:creationId xmlns:a16="http://schemas.microsoft.com/office/drawing/2014/main" id="{AD669ECE-901E-4960-A3B5-6A79CE83C08C}"/>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La ruta de trabajo del proyecto</a:t>
            </a:r>
          </a:p>
        </p:txBody>
      </p:sp>
      <p:sp>
        <p:nvSpPr>
          <p:cNvPr id="3" name="text-2">
            <a:extLst>
              <a:ext uri="{FF2B5EF4-FFF2-40B4-BE49-F238E27FC236}">
                <a16:creationId xmlns:a16="http://schemas.microsoft.com/office/drawing/2014/main" id="{3B6ECE4E-9D73-471C-884D-D338541B637D}"/>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a:solidFill>
                  <a:srgbClr val="536575"/>
                </a:solidFill>
                <a:latin typeface="DejaVu Sans"/>
                <a:ea typeface="DejaVu Sans"/>
                <a:cs typeface="DejaVu Sans"/>
              </a:rPr>
              <a:t>03</a:t>
            </a:r>
          </a:p>
        </p:txBody>
      </p:sp>
      <p:sp>
        <p:nvSpPr>
          <p:cNvPr id="4" name="text-3">
            <a:extLst>
              <a:ext uri="{FF2B5EF4-FFF2-40B4-BE49-F238E27FC236}">
                <a16:creationId xmlns:a16="http://schemas.microsoft.com/office/drawing/2014/main" id="{DEC0FC1B-D529-4D22-AC6E-23F94540AFE4}"/>
              </a:ext>
            </a:extLst>
          </p:cNvPr>
          <p:cNvSpPr>
            <a:spLocks noGrp="1"/>
          </p:cNvSpPr>
          <p:nvPr/>
        </p:nvSpPr>
        <p:spPr>
          <a:xfrm>
            <a:off x="609600" y="1905000"/>
            <a:ext cx="10763250" cy="1066800"/>
          </a:xfrm>
          <a:prstGeom prst="rect">
            <a:avLst/>
          </a:prstGeom>
          <a:noFill/>
          <a:ln w="0">
            <a:noFill/>
            <a:prstDash val="solid"/>
          </a:ln>
        </p:spPr>
        <p:txBody>
          <a:bodyPr lIns="0" tIns="0" rIns="0" bIns="0" anchor="t"/>
          <a:lstStyle>
            <a:defPPr>
              <a:defRPr sz="2400" b="1">
                <a:solidFill>
                  <a:srgbClr val="007F7B"/>
                </a:solidFill>
                <a:latin typeface="DejaVu Sans"/>
                <a:ea typeface="DejaVu Sans"/>
                <a:cs typeface="DejaVu Sans"/>
              </a:defRPr>
            </a:defPPr>
            <a:lvl1pPr>
              <a:defRPr sz="2400" b="1">
                <a:solidFill>
                  <a:srgbClr val="007F7B"/>
                </a:solidFill>
                <a:latin typeface="DejaVu Sans"/>
                <a:ea typeface="DejaVu Sans"/>
                <a:cs typeface="DejaVu Sans"/>
              </a:defRPr>
            </a:lvl1pPr>
            <a:lvl2pPr>
              <a:defRPr sz="2400" b="1">
                <a:solidFill>
                  <a:srgbClr val="007F7B"/>
                </a:solidFill>
                <a:latin typeface="DejaVu Sans"/>
                <a:ea typeface="DejaVu Sans"/>
                <a:cs typeface="DejaVu Sans"/>
              </a:defRPr>
            </a:lvl2pPr>
            <a:lvl3pPr>
              <a:defRPr sz="2400" b="1">
                <a:solidFill>
                  <a:srgbClr val="007F7B"/>
                </a:solidFill>
                <a:latin typeface="DejaVu Sans"/>
                <a:ea typeface="DejaVu Sans"/>
                <a:cs typeface="DejaVu Sans"/>
              </a:defRPr>
            </a:lvl3pPr>
            <a:lvl4pPr>
              <a:defRPr sz="2400" b="1">
                <a:solidFill>
                  <a:srgbClr val="007F7B"/>
                </a:solidFill>
                <a:latin typeface="DejaVu Sans"/>
                <a:ea typeface="DejaVu Sans"/>
                <a:cs typeface="DejaVu Sans"/>
              </a:defRPr>
            </a:lvl4pPr>
            <a:lvl5pPr>
              <a:defRPr sz="2400" b="1">
                <a:solidFill>
                  <a:srgbClr val="007F7B"/>
                </a:solidFill>
                <a:latin typeface="DejaVu Sans"/>
                <a:ea typeface="DejaVu Sans"/>
                <a:cs typeface="DejaVu Sans"/>
              </a:defRPr>
            </a:lvl5pPr>
            <a:lvl6pPr>
              <a:defRPr sz="2400" b="1">
                <a:solidFill>
                  <a:srgbClr val="007F7B"/>
                </a:solidFill>
                <a:latin typeface="DejaVu Sans"/>
                <a:ea typeface="DejaVu Sans"/>
                <a:cs typeface="DejaVu Sans"/>
              </a:defRPr>
            </a:lvl6pPr>
            <a:lvl7pPr>
              <a:defRPr sz="2400" b="1">
                <a:solidFill>
                  <a:srgbClr val="007F7B"/>
                </a:solidFill>
                <a:latin typeface="DejaVu Sans"/>
                <a:ea typeface="DejaVu Sans"/>
                <a:cs typeface="DejaVu Sans"/>
              </a:defRPr>
            </a:lvl7pPr>
            <a:lvl8pPr>
              <a:defRPr sz="2400" b="1">
                <a:solidFill>
                  <a:srgbClr val="007F7B"/>
                </a:solidFill>
                <a:latin typeface="DejaVu Sans"/>
                <a:ea typeface="DejaVu Sans"/>
                <a:cs typeface="DejaVu Sans"/>
              </a:defRPr>
            </a:lvl8pPr>
            <a:lvl9pPr>
              <a:defRPr sz="2400" b="1">
                <a:solidFill>
                  <a:srgbClr val="007F7B"/>
                </a:solidFill>
                <a:latin typeface="DejaVu Sans"/>
                <a:ea typeface="DejaVu Sans"/>
                <a:cs typeface="DejaVu Sans"/>
              </a:defRPr>
            </a:lvl9pPr>
          </a:lstStyle>
          <a:p>
            <a:pPr>
              <a:defRPr sz="2400" b="1">
                <a:solidFill>
                  <a:srgbClr val="007F7B"/>
                </a:solidFill>
                <a:latin typeface="DejaVu Sans"/>
                <a:ea typeface="DejaVu Sans"/>
                <a:cs typeface="DejaVu Sans"/>
              </a:defRPr>
            </a:pPr>
            <a:r>
              <a:rPr sz="2400" b="1">
                <a:solidFill>
                  <a:srgbClr val="007F7B"/>
                </a:solidFill>
                <a:latin typeface="DejaVu Sans"/>
                <a:ea typeface="DejaVu Sans"/>
                <a:cs typeface="DejaVu Sans"/>
              </a:rPr>
              <a:t>El CECTGRA será la herramienta para conocer cómo valoran los estudiantes sus competencias y relacionarlas con sus notas.</a:t>
            </a:r>
          </a:p>
        </p:txBody>
      </p:sp>
      <p:graphicFrame>
        <p:nvGraphicFramePr>
          <p:cNvPr id="5" name="Tabla 4">
            <a:extLst>
              <a:ext uri="{FF2B5EF4-FFF2-40B4-BE49-F238E27FC236}">
                <a16:creationId xmlns:a16="http://schemas.microsoft.com/office/drawing/2014/main" id="{BF5B5B9F-1BBE-4041-9635-A85F9ABA6E62}"/>
              </a:ext>
            </a:extLst>
          </p:cNvPr>
          <p:cNvGraphicFramePr/>
          <p:nvPr/>
        </p:nvGraphicFramePr>
        <p:xfrm>
          <a:off x="609600" y="3190875"/>
          <a:ext cx="10953750" cy="2476500"/>
        </p:xfrm>
        <a:graphic>
          <a:graphicData uri="http://schemas.openxmlformats.org/drawingml/2006/table">
            <a:tbl>
              <a:tblPr/>
              <a:tblGrid>
                <a:gridCol w="314325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495300">
                <a:tc>
                  <a:txBody>
                    <a:bodyPr/>
                    <a:lstStyle/>
                    <a:p>
                      <a:r>
                        <a:rPr sz="1800" b="1">
                          <a:solidFill>
                            <a:srgbClr val="FFFFFF"/>
                          </a:solidFill>
                          <a:latin typeface="DejaVu Sans"/>
                          <a:ea typeface="DejaVu Sans"/>
                          <a:cs typeface="DejaVu Sans"/>
                        </a:rPr>
                        <a:t>Etapa</a:t>
                      </a:r>
                    </a:p>
                  </a:txBody>
                  <a:tcPr>
                    <a:lnL w="9525">
                      <a:solidFill>
                        <a:srgbClr val="D7DED9"/>
                      </a:solidFill>
                      <a:prstDash val="soli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tc>
                  <a:txBody>
                    <a:bodyPr/>
                    <a:lstStyle/>
                    <a:p>
                      <a:r>
                        <a:rPr sz="1800" b="1">
                          <a:solidFill>
                            <a:srgbClr val="FFFFFF"/>
                          </a:solidFill>
                          <a:latin typeface="DejaVu Sans"/>
                          <a:ea typeface="DejaVu Sans"/>
                          <a:cs typeface="DejaVu Sans"/>
                        </a:rPr>
                        <a:t>Qué haremos</a:t>
                      </a:r>
                    </a:p>
                  </a:txBody>
                  <a:tcPr>
                    <a:lnL w="9525" cap="flat" cmpd="sng" algn="ctr">
                      <a:solidFill>
                        <a:srgbClr val="D7DED9"/>
                      </a:solidFill>
                      <a:prstDash val="solid"/>
                      <a:round/>
                      <a:headEnd type="none" w="med" len="med"/>
                      <a:tailEnd type="none" w="med" len="me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extLst>
                  <a:ext uri="{0D108BD9-81ED-4DB2-BD59-A6C34878D82A}">
                    <a16:rowId xmlns:a16="http://schemas.microsoft.com/office/drawing/2014/main" val="10000"/>
                  </a:ext>
                </a:extLst>
              </a:tr>
              <a:tr h="495300">
                <a:tc>
                  <a:txBody>
                    <a:bodyPr/>
                    <a:lstStyle/>
                    <a:p>
                      <a:r>
                        <a:rPr sz="1800" b="0">
                          <a:solidFill>
                            <a:srgbClr val="102B46"/>
                          </a:solidFill>
                          <a:latin typeface="DejaVu Sans"/>
                          <a:ea typeface="DejaVu Sans"/>
                          <a:cs typeface="DejaVu Sans"/>
                        </a:rPr>
                        <a:t>1. Seleccionar</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endParaRP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1"/>
                  </a:ext>
                </a:extLst>
              </a:tr>
              <a:tr h="495300">
                <a:tc>
                  <a:txBody>
                    <a:bodyPr/>
                    <a:lstStyle/>
                    <a:p>
                      <a:r>
                        <a:rPr sz="1800" b="0">
                          <a:solidFill>
                            <a:srgbClr val="102B46"/>
                          </a:solidFill>
                          <a:latin typeface="DejaVu Sans"/>
                          <a:ea typeface="DejaVu Sans"/>
                          <a:cs typeface="DejaVu Sans"/>
                        </a:rPr>
                        <a:t>2. Reunir información</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tc>
                  <a:txBody>
                    <a:bodyPr/>
                    <a:lstStyle/>
                    <a:p>
                      <a:r>
                        <a:rPr sz="1800" b="0">
                          <a:solidFill>
                            <a:srgbClr val="102B46"/>
                          </a:solidFill>
                          <a:latin typeface="DejaVu Sans"/>
                          <a:ea typeface="DejaVu Sans"/>
                          <a:cs typeface="DejaVu Sans"/>
                        </a:rPr>
                        <a:t>Obtener sus notas y aplicarles el cuestionario CECTGRA.</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extLst>
                  <a:ext uri="{0D108BD9-81ED-4DB2-BD59-A6C34878D82A}">
                    <a16:rowId xmlns:a16="http://schemas.microsoft.com/office/drawing/2014/main" val="10002"/>
                  </a:ext>
                </a:extLst>
              </a:tr>
              <a:tr h="495300">
                <a:tc>
                  <a:txBody>
                    <a:bodyPr/>
                    <a:lstStyle/>
                    <a:p>
                      <a:r>
                        <a:rPr sz="1800" b="0">
                          <a:solidFill>
                            <a:srgbClr val="102B46"/>
                          </a:solidFill>
                          <a:latin typeface="DejaVu Sans"/>
                          <a:ea typeface="DejaVu Sans"/>
                          <a:cs typeface="DejaVu Sans"/>
                        </a:rPr>
                        <a:t>3. Relacionar</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00" b="0">
                          <a:solidFill>
                            <a:srgbClr val="102B46"/>
                          </a:solidFill>
                          <a:latin typeface="DejaVu Sans"/>
                          <a:ea typeface="DejaVu Sans"/>
                          <a:cs typeface="DejaVu Sans"/>
                        </a:rPr>
                        <a:t>Unir ambas fuentes por estudiante y analizar la relación.</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3"/>
                  </a:ext>
                </a:extLst>
              </a:tr>
              <a:tr h="495300">
                <a:tc>
                  <a:txBody>
                    <a:bodyPr/>
                    <a:lstStyle/>
                    <a:p>
                      <a:r>
                        <a:rPr sz="1800" b="0">
                          <a:solidFill>
                            <a:srgbClr val="102B46"/>
                          </a:solidFill>
                          <a:latin typeface="DejaVu Sans"/>
                          <a:ea typeface="DejaVu Sans"/>
                          <a:cs typeface="DejaVu Sans"/>
                        </a:rPr>
                        <a:t>4. Interpretar</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tc>
                  <a:txBody>
                    <a:bodyPr/>
                    <a:lstStyle/>
                    <a:p>
                      <a:r>
                        <a:rPr sz="1800" b="0">
                          <a:solidFill>
                            <a:srgbClr val="102B46"/>
                          </a:solidFill>
                          <a:latin typeface="DejaVu Sans"/>
                          <a:ea typeface="DejaVu Sans"/>
                          <a:cs typeface="DejaVu Sans"/>
                        </a:rPr>
                        <a:t>Reconocer necesidades y orientar mejoras en la formación.</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76DD2A61-199E-43A5-8BFF-6A16886F67A1}"/>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Las notas muestran resultados académicos. El CECTGRA aporta la valoración de competencias del mismo estudiante.</a:t>
            </a:r>
          </a:p>
        </p:txBody>
      </p:sp>
    </p:spTree>
    <p:extLst>
      <p:ext uri="{BB962C8B-B14F-4D97-AF65-F5344CB8AC3E}">
        <p14:creationId xmlns:p14="http://schemas.microsoft.com/office/powerpoint/2010/main" val="545651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1D4857ED-E6C7-4204-AD29-F33640780BD9}"/>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INSTRUMENTO</a:t>
            </a:r>
          </a:p>
        </p:txBody>
      </p:sp>
      <p:sp>
        <p:nvSpPr>
          <p:cNvPr id="2" name="text-1">
            <a:extLst>
              <a:ext uri="{FF2B5EF4-FFF2-40B4-BE49-F238E27FC236}">
                <a16:creationId xmlns:a16="http://schemas.microsoft.com/office/drawing/2014/main" id="{F48D2550-850E-4B45-B0F3-5653F9F79F67}"/>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CECTGRA: nuestra herramienta de medición</a:t>
            </a:r>
          </a:p>
        </p:txBody>
      </p:sp>
      <p:sp>
        <p:nvSpPr>
          <p:cNvPr id="3" name="text-2">
            <a:extLst>
              <a:ext uri="{FF2B5EF4-FFF2-40B4-BE49-F238E27FC236}">
                <a16:creationId xmlns:a16="http://schemas.microsoft.com/office/drawing/2014/main" id="{C1C02C10-5F10-4032-A26F-5EA8ABAB74D1}"/>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a:solidFill>
                  <a:srgbClr val="536575"/>
                </a:solidFill>
                <a:latin typeface="DejaVu Sans"/>
                <a:ea typeface="DejaVu Sans"/>
                <a:cs typeface="DejaVu Sans"/>
              </a:rPr>
              <a:t>04</a:t>
            </a:r>
          </a:p>
        </p:txBody>
      </p:sp>
      <p:sp>
        <p:nvSpPr>
          <p:cNvPr id="4" name="text-3">
            <a:extLst>
              <a:ext uri="{FF2B5EF4-FFF2-40B4-BE49-F238E27FC236}">
                <a16:creationId xmlns:a16="http://schemas.microsoft.com/office/drawing/2014/main" id="{7A2B2558-3441-4FD9-A1B0-B137A9AA9265}"/>
              </a:ext>
            </a:extLst>
          </p:cNvPr>
          <p:cNvSpPr>
            <a:spLocks noGrp="1"/>
          </p:cNvSpPr>
          <p:nvPr/>
        </p:nvSpPr>
        <p:spPr>
          <a:xfrm>
            <a:off x="609600" y="1924050"/>
            <a:ext cx="10810875" cy="800100"/>
          </a:xfrm>
          <a:prstGeom prst="rect">
            <a:avLst/>
          </a:prstGeom>
          <a:noFill/>
          <a:ln w="0">
            <a:noFill/>
            <a:prstDash val="solid"/>
          </a:ln>
        </p:spPr>
        <p:txBody>
          <a:bodyPr lIns="0" tIns="0" rIns="0" bIns="0" anchor="t"/>
          <a:lstStyle>
            <a:defPPr>
              <a:defRPr sz="2475" b="1">
                <a:solidFill>
                  <a:srgbClr val="007F7B"/>
                </a:solidFill>
                <a:latin typeface="DejaVu Sans"/>
                <a:ea typeface="DejaVu Sans"/>
                <a:cs typeface="DejaVu Sans"/>
              </a:defRPr>
            </a:defPPr>
            <a:lvl1pPr>
              <a:defRPr sz="2475" b="1">
                <a:solidFill>
                  <a:srgbClr val="007F7B"/>
                </a:solidFill>
                <a:latin typeface="DejaVu Sans"/>
                <a:ea typeface="DejaVu Sans"/>
                <a:cs typeface="DejaVu Sans"/>
              </a:defRPr>
            </a:lvl1pPr>
            <a:lvl2pPr>
              <a:defRPr sz="2475" b="1">
                <a:solidFill>
                  <a:srgbClr val="007F7B"/>
                </a:solidFill>
                <a:latin typeface="DejaVu Sans"/>
                <a:ea typeface="DejaVu Sans"/>
                <a:cs typeface="DejaVu Sans"/>
              </a:defRPr>
            </a:lvl2pPr>
            <a:lvl3pPr>
              <a:defRPr sz="2475" b="1">
                <a:solidFill>
                  <a:srgbClr val="007F7B"/>
                </a:solidFill>
                <a:latin typeface="DejaVu Sans"/>
                <a:ea typeface="DejaVu Sans"/>
                <a:cs typeface="DejaVu Sans"/>
              </a:defRPr>
            </a:lvl3pPr>
            <a:lvl4pPr>
              <a:defRPr sz="2475" b="1">
                <a:solidFill>
                  <a:srgbClr val="007F7B"/>
                </a:solidFill>
                <a:latin typeface="DejaVu Sans"/>
                <a:ea typeface="DejaVu Sans"/>
                <a:cs typeface="DejaVu Sans"/>
              </a:defRPr>
            </a:lvl4pPr>
            <a:lvl5pPr>
              <a:defRPr sz="2475" b="1">
                <a:solidFill>
                  <a:srgbClr val="007F7B"/>
                </a:solidFill>
                <a:latin typeface="DejaVu Sans"/>
                <a:ea typeface="DejaVu Sans"/>
                <a:cs typeface="DejaVu Sans"/>
              </a:defRPr>
            </a:lvl5pPr>
            <a:lvl6pPr>
              <a:defRPr sz="2475" b="1">
                <a:solidFill>
                  <a:srgbClr val="007F7B"/>
                </a:solidFill>
                <a:latin typeface="DejaVu Sans"/>
                <a:ea typeface="DejaVu Sans"/>
                <a:cs typeface="DejaVu Sans"/>
              </a:defRPr>
            </a:lvl6pPr>
            <a:lvl7pPr>
              <a:defRPr sz="2475" b="1">
                <a:solidFill>
                  <a:srgbClr val="007F7B"/>
                </a:solidFill>
                <a:latin typeface="DejaVu Sans"/>
                <a:ea typeface="DejaVu Sans"/>
                <a:cs typeface="DejaVu Sans"/>
              </a:defRPr>
            </a:lvl7pPr>
            <a:lvl8pPr>
              <a:defRPr sz="2475" b="1">
                <a:solidFill>
                  <a:srgbClr val="007F7B"/>
                </a:solidFill>
                <a:latin typeface="DejaVu Sans"/>
                <a:ea typeface="DejaVu Sans"/>
                <a:cs typeface="DejaVu Sans"/>
              </a:defRPr>
            </a:lvl8pPr>
            <a:lvl9pPr>
              <a:defRPr sz="2475" b="1">
                <a:solidFill>
                  <a:srgbClr val="007F7B"/>
                </a:solidFill>
                <a:latin typeface="DejaVu Sans"/>
                <a:ea typeface="DejaVu Sans"/>
                <a:cs typeface="DejaVu Sans"/>
              </a:defRPr>
            </a:lvl9pPr>
          </a:lstStyle>
          <a:p>
            <a:pPr>
              <a:defRPr sz="2475" b="1">
                <a:solidFill>
                  <a:srgbClr val="007F7B"/>
                </a:solidFill>
                <a:latin typeface="DejaVu Sans"/>
                <a:ea typeface="DejaVu Sans"/>
                <a:cs typeface="DejaVu Sans"/>
              </a:defRPr>
            </a:pPr>
            <a:r>
              <a:rPr sz="2475" b="1">
                <a:solidFill>
                  <a:srgbClr val="007F7B"/>
                </a:solidFill>
                <a:latin typeface="DejaVu Sans"/>
                <a:ea typeface="DejaVu Sans"/>
                <a:cs typeface="DejaVu Sans"/>
              </a:rPr>
              <a:t>Cuestionario de Evaluación de Competencias Transversales de Grado</a:t>
            </a:r>
          </a:p>
        </p:txBody>
      </p:sp>
      <p:sp>
        <p:nvSpPr>
          <p:cNvPr id="5" name="text-4">
            <a:extLst>
              <a:ext uri="{FF2B5EF4-FFF2-40B4-BE49-F238E27FC236}">
                <a16:creationId xmlns:a16="http://schemas.microsoft.com/office/drawing/2014/main" id="{09A464B7-457C-4476-A0D4-D48B20B86FDC}"/>
              </a:ext>
            </a:extLst>
          </p:cNvPr>
          <p:cNvSpPr>
            <a:spLocks noGrp="1"/>
          </p:cNvSpPr>
          <p:nvPr/>
        </p:nvSpPr>
        <p:spPr>
          <a:xfrm>
            <a:off x="609600" y="3000375"/>
            <a:ext cx="10668000" cy="857250"/>
          </a:xfrm>
          <a:prstGeom prst="rect">
            <a:avLst/>
          </a:prstGeom>
          <a:noFill/>
          <a:ln w="0">
            <a:noFill/>
            <a:prstDash val="solid"/>
          </a:ln>
        </p:spPr>
        <p:txBody>
          <a:bodyPr lIns="0" tIns="0" rIns="0" bIns="0" anchor="t"/>
          <a:lstStyle>
            <a:defPPr>
              <a:defRPr sz="2175" b="0">
                <a:solidFill>
                  <a:srgbClr val="102B46"/>
                </a:solidFill>
                <a:latin typeface="DejaVu Sans"/>
                <a:ea typeface="DejaVu Sans"/>
                <a:cs typeface="DejaVu Sans"/>
              </a:defRPr>
            </a:defPPr>
            <a:lvl1pPr>
              <a:defRPr sz="2175" b="0">
                <a:solidFill>
                  <a:srgbClr val="102B46"/>
                </a:solidFill>
                <a:latin typeface="DejaVu Sans"/>
                <a:ea typeface="DejaVu Sans"/>
                <a:cs typeface="DejaVu Sans"/>
              </a:defRPr>
            </a:lvl1pPr>
            <a:lvl2pPr>
              <a:defRPr sz="2175" b="0">
                <a:solidFill>
                  <a:srgbClr val="102B46"/>
                </a:solidFill>
                <a:latin typeface="DejaVu Sans"/>
                <a:ea typeface="DejaVu Sans"/>
                <a:cs typeface="DejaVu Sans"/>
              </a:defRPr>
            </a:lvl2pPr>
            <a:lvl3pPr>
              <a:defRPr sz="2175" b="0">
                <a:solidFill>
                  <a:srgbClr val="102B46"/>
                </a:solidFill>
                <a:latin typeface="DejaVu Sans"/>
                <a:ea typeface="DejaVu Sans"/>
                <a:cs typeface="DejaVu Sans"/>
              </a:defRPr>
            </a:lvl3pPr>
            <a:lvl4pPr>
              <a:defRPr sz="2175" b="0">
                <a:solidFill>
                  <a:srgbClr val="102B46"/>
                </a:solidFill>
                <a:latin typeface="DejaVu Sans"/>
                <a:ea typeface="DejaVu Sans"/>
                <a:cs typeface="DejaVu Sans"/>
              </a:defRPr>
            </a:lvl4pPr>
            <a:lvl5pPr>
              <a:defRPr sz="2175" b="0">
                <a:solidFill>
                  <a:srgbClr val="102B46"/>
                </a:solidFill>
                <a:latin typeface="DejaVu Sans"/>
                <a:ea typeface="DejaVu Sans"/>
                <a:cs typeface="DejaVu Sans"/>
              </a:defRPr>
            </a:lvl5pPr>
            <a:lvl6pPr>
              <a:defRPr sz="2175" b="0">
                <a:solidFill>
                  <a:srgbClr val="102B46"/>
                </a:solidFill>
                <a:latin typeface="DejaVu Sans"/>
                <a:ea typeface="DejaVu Sans"/>
                <a:cs typeface="DejaVu Sans"/>
              </a:defRPr>
            </a:lvl6pPr>
            <a:lvl7pPr>
              <a:defRPr sz="2175" b="0">
                <a:solidFill>
                  <a:srgbClr val="102B46"/>
                </a:solidFill>
                <a:latin typeface="DejaVu Sans"/>
                <a:ea typeface="DejaVu Sans"/>
                <a:cs typeface="DejaVu Sans"/>
              </a:defRPr>
            </a:lvl7pPr>
            <a:lvl8pPr>
              <a:defRPr sz="2175" b="0">
                <a:solidFill>
                  <a:srgbClr val="102B46"/>
                </a:solidFill>
                <a:latin typeface="DejaVu Sans"/>
                <a:ea typeface="DejaVu Sans"/>
                <a:cs typeface="DejaVu Sans"/>
              </a:defRPr>
            </a:lvl8pPr>
            <a:lvl9pPr>
              <a:defRPr sz="2175" b="0">
                <a:solidFill>
                  <a:srgbClr val="102B46"/>
                </a:solidFill>
                <a:latin typeface="DejaVu Sans"/>
                <a:ea typeface="DejaVu Sans"/>
                <a:cs typeface="DejaVu Sans"/>
              </a:defRPr>
            </a:lvl9pPr>
          </a:lstStyle>
          <a:p>
            <a:pPr>
              <a:defRPr sz="2175" b="0">
                <a:solidFill>
                  <a:srgbClr val="102B46"/>
                </a:solidFill>
                <a:latin typeface="DejaVu Sans"/>
                <a:ea typeface="DejaVu Sans"/>
                <a:cs typeface="DejaVu Sans"/>
              </a:defRPr>
            </a:pPr>
            <a:r>
              <a:rPr sz="2175" b="0">
                <a:solidFill>
                  <a:srgbClr val="102B46"/>
                </a:solidFill>
                <a:latin typeface="DejaVu Sans"/>
                <a:ea typeface="DejaVu Sans"/>
                <a:cs typeface="DejaVu Sans"/>
              </a:rPr>
              <a:t>Usaremos sus respuestas para describir las competencias percibidas y relacionarlas con los antecedentes académicos.</a:t>
            </a:r>
          </a:p>
        </p:txBody>
      </p:sp>
      <p:graphicFrame>
        <p:nvGraphicFramePr>
          <p:cNvPr id="6" name="Tabla 5">
            <a:extLst>
              <a:ext uri="{FF2B5EF4-FFF2-40B4-BE49-F238E27FC236}">
                <a16:creationId xmlns:a16="http://schemas.microsoft.com/office/drawing/2014/main" id="{69CBAABE-AB03-48B0-BE06-BC40A42DD7E9}"/>
              </a:ext>
            </a:extLst>
          </p:cNvPr>
          <p:cNvGraphicFramePr/>
          <p:nvPr/>
        </p:nvGraphicFramePr>
        <p:xfrm>
          <a:off x="609600" y="4286250"/>
          <a:ext cx="10953750" cy="1409700"/>
        </p:xfrm>
        <a:graphic>
          <a:graphicData uri="http://schemas.openxmlformats.org/drawingml/2006/table">
            <a:tbl>
              <a:tblPr/>
              <a:tblGrid>
                <a:gridCol w="3648075">
                  <a:extLst>
                    <a:ext uri="{9D8B030D-6E8A-4147-A177-3AD203B41FA5}">
                      <a16:colId xmlns:a16="http://schemas.microsoft.com/office/drawing/2014/main" val="20000"/>
                    </a:ext>
                  </a:extLst>
                </a:gridCol>
                <a:gridCol w="3648075">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704850">
                <a:tc>
                  <a:txBody>
                    <a:bodyPr/>
                    <a:lstStyle/>
                    <a:p>
                      <a:r>
                        <a:rPr sz="1800" b="1">
                          <a:solidFill>
                            <a:srgbClr val="FFFFFF"/>
                          </a:solidFill>
                          <a:latin typeface="DejaVu Sans"/>
                          <a:ea typeface="DejaVu Sans"/>
                          <a:cs typeface="DejaVu Sans"/>
                        </a:rPr>
                        <a:t>Desarrollo</a:t>
                      </a:r>
                    </a:p>
                  </a:txBody>
                  <a:tcPr>
                    <a:lnL w="9525">
                      <a:solidFill>
                        <a:srgbClr val="D7DED9"/>
                      </a:solidFill>
                      <a:prstDash val="soli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tc>
                  <a:txBody>
                    <a:bodyPr/>
                    <a:lstStyle/>
                    <a:p>
                      <a:r>
                        <a:rPr sz="1800" b="1">
                          <a:solidFill>
                            <a:srgbClr val="FFFFFF"/>
                          </a:solidFill>
                          <a:latin typeface="DejaVu Sans"/>
                          <a:ea typeface="DejaVu Sans"/>
                          <a:cs typeface="DejaVu Sans"/>
                        </a:rPr>
                        <a:t>Dominio</a:t>
                      </a:r>
                    </a:p>
                  </a:txBody>
                  <a:tcPr>
                    <a:lnL w="9525" cap="flat" cmpd="sng" algn="ctr">
                      <a:solidFill>
                        <a:srgbClr val="D7DED9"/>
                      </a:solidFill>
                      <a:prstDash val="solid"/>
                      <a:round/>
                      <a:headEnd type="none" w="med" len="med"/>
                      <a:tailEnd type="none" w="med" len="me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tc>
                  <a:txBody>
                    <a:bodyPr/>
                    <a:lstStyle/>
                    <a:p>
                      <a:r>
                        <a:rPr sz="1800" b="1">
                          <a:solidFill>
                            <a:srgbClr val="FFFFFF"/>
                          </a:solidFill>
                          <a:latin typeface="DejaVu Sans"/>
                          <a:ea typeface="DejaVu Sans"/>
                          <a:cs typeface="DejaVu Sans"/>
                        </a:rPr>
                        <a:t>Relevancia</a:t>
                      </a:r>
                    </a:p>
                  </a:txBody>
                  <a:tcPr>
                    <a:lnL w="9525" cap="flat" cmpd="sng" algn="ctr">
                      <a:solidFill>
                        <a:srgbClr val="D7DED9"/>
                      </a:solidFill>
                      <a:prstDash val="solid"/>
                      <a:round/>
                      <a:headEnd type="none" w="med" len="med"/>
                      <a:tailEnd type="none" w="med" len="me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extLst>
                  <a:ext uri="{0D108BD9-81ED-4DB2-BD59-A6C34878D82A}">
                    <a16:rowId xmlns:a16="http://schemas.microsoft.com/office/drawing/2014/main" val="10000"/>
                  </a:ext>
                </a:extLst>
              </a:tr>
              <a:tr h="704850">
                <a:tc>
                  <a:txBody>
                    <a:bodyPr/>
                    <a:lstStyle/>
                    <a:p>
                      <a:r>
                        <a:rPr sz="1800" b="0">
                          <a:solidFill>
                            <a:srgbClr val="102B46"/>
                          </a:solidFill>
                          <a:latin typeface="DejaVu Sans"/>
                          <a:ea typeface="DejaVu Sans"/>
                          <a:cs typeface="DejaVu Sans"/>
                        </a:rPr>
                        <a:t>Cuánto se trabajó en la formación</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00" b="0">
                          <a:solidFill>
                            <a:srgbClr val="102B46"/>
                          </a:solidFill>
                          <a:latin typeface="DejaVu Sans"/>
                          <a:ea typeface="DejaVu Sans"/>
                          <a:cs typeface="DejaVu Sans"/>
                        </a:rPr>
                        <a:t>Cuánto considera el estudiante que puede hacerlo</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00" b="0">
                          <a:solidFill>
                            <a:srgbClr val="102B46"/>
                          </a:solidFill>
                          <a:latin typeface="DejaVu Sans"/>
                          <a:ea typeface="DejaVu Sans"/>
                          <a:cs typeface="DejaVu Sans"/>
                        </a:rPr>
                        <a:t>Importancia para la profesión</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7" name="text-5">
            <a:extLst>
              <a:ext uri="{FF2B5EF4-FFF2-40B4-BE49-F238E27FC236}">
                <a16:creationId xmlns:a16="http://schemas.microsoft.com/office/drawing/2014/main" id="{B03BA596-E7A0-4BC3-B585-B3D941EADECC}"/>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La autoevaluación recoge percepciones. La evaluación de un supervisor requiere una versión adaptada.</a:t>
            </a:r>
          </a:p>
        </p:txBody>
      </p:sp>
    </p:spTree>
    <p:extLst>
      <p:ext uri="{BB962C8B-B14F-4D97-AF65-F5344CB8AC3E}">
        <p14:creationId xmlns:p14="http://schemas.microsoft.com/office/powerpoint/2010/main" val="491966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a:extLst>
            <a:ext uri="{FF2B5EF4-FFF2-40B4-BE49-F238E27FC236}">
              <a16:creationId xmlns:a16="http://schemas.microsoft.com/office/drawing/2014/main" id="{F4799575-9648-2D22-EC0C-337A72CCA33A}"/>
            </a:ext>
          </a:extLst>
        </p:cNvPr>
        <p:cNvGrpSpPr/>
        <p:nvPr/>
      </p:nvGrpSpPr>
      <p:grpSpPr>
        <a:xfrm>
          <a:off x="0" y="0"/>
          <a:ext cx="0" cy="0"/>
          <a:chOff x="0" y="0"/>
          <a:chExt cx="0" cy="0"/>
        </a:xfrm>
      </p:grpSpPr>
      <p:sp>
        <p:nvSpPr>
          <p:cNvPr id="8" name="text-0">
            <a:extLst>
              <a:ext uri="{FF2B5EF4-FFF2-40B4-BE49-F238E27FC236}">
                <a16:creationId xmlns:a16="http://schemas.microsoft.com/office/drawing/2014/main" id="{B99833B3-3F16-45E0-2210-47A3B5FF8DE2}"/>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INSTRUMENTO</a:t>
            </a:r>
          </a:p>
        </p:txBody>
      </p:sp>
      <p:sp>
        <p:nvSpPr>
          <p:cNvPr id="2" name="text-1">
            <a:extLst>
              <a:ext uri="{FF2B5EF4-FFF2-40B4-BE49-F238E27FC236}">
                <a16:creationId xmlns:a16="http://schemas.microsoft.com/office/drawing/2014/main" id="{081F168D-5D59-E4E3-8FCE-0AB847AE2436}"/>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CECTGRA: nuestra herramienta de medición</a:t>
            </a:r>
          </a:p>
        </p:txBody>
      </p:sp>
      <p:sp>
        <p:nvSpPr>
          <p:cNvPr id="3" name="text-2">
            <a:extLst>
              <a:ext uri="{FF2B5EF4-FFF2-40B4-BE49-F238E27FC236}">
                <a16:creationId xmlns:a16="http://schemas.microsoft.com/office/drawing/2014/main" id="{C823E9FE-5B9E-3885-FE48-A3B11EC8A261}"/>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dirty="0">
                <a:solidFill>
                  <a:srgbClr val="536575"/>
                </a:solidFill>
                <a:latin typeface="DejaVu Sans"/>
                <a:ea typeface="DejaVu Sans"/>
                <a:cs typeface="DejaVu Sans"/>
              </a:rPr>
              <a:t>0</a:t>
            </a:r>
            <a:r>
              <a:rPr lang="es-ES" sz="1125" b="0" dirty="0">
                <a:solidFill>
                  <a:srgbClr val="536575"/>
                </a:solidFill>
                <a:latin typeface="DejaVu Sans"/>
                <a:ea typeface="DejaVu Sans"/>
                <a:cs typeface="DejaVu Sans"/>
              </a:rPr>
              <a:t>5</a:t>
            </a:r>
            <a:endParaRPr sz="1125" b="0" dirty="0">
              <a:solidFill>
                <a:srgbClr val="536575"/>
              </a:solidFill>
              <a:latin typeface="DejaVu Sans"/>
              <a:ea typeface="DejaVu Sans"/>
              <a:cs typeface="DejaVu Sans"/>
            </a:endParaRPr>
          </a:p>
        </p:txBody>
      </p:sp>
      <p:sp>
        <p:nvSpPr>
          <p:cNvPr id="7" name="text-5">
            <a:extLst>
              <a:ext uri="{FF2B5EF4-FFF2-40B4-BE49-F238E27FC236}">
                <a16:creationId xmlns:a16="http://schemas.microsoft.com/office/drawing/2014/main" id="{433215CB-0F00-BD30-EE43-DE0C4F74E559}"/>
              </a:ext>
            </a:extLst>
          </p:cNvPr>
          <p:cNvSpPr>
            <a:spLocks noGrp="1"/>
          </p:cNvSpPr>
          <p:nvPr/>
        </p:nvSpPr>
        <p:spPr>
          <a:xfrm>
            <a:off x="0" y="6583904"/>
            <a:ext cx="12334539"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r>
              <a:rPr lang="es-EC" dirty="0"/>
              <a:t>Martínez Clares, P. y González Morga, N. (2018). Las competencias transversales en la universi-dad: propiedades psicométricas de un cuestionario. </a:t>
            </a:r>
          </a:p>
        </p:txBody>
      </p:sp>
      <p:pic>
        <p:nvPicPr>
          <p:cNvPr id="9" name="Imagen 8">
            <a:extLst>
              <a:ext uri="{FF2B5EF4-FFF2-40B4-BE49-F238E27FC236}">
                <a16:creationId xmlns:a16="http://schemas.microsoft.com/office/drawing/2014/main" id="{FC04D8B3-0229-789C-3351-1E52746CBF57}"/>
              </a:ext>
            </a:extLst>
          </p:cNvPr>
          <p:cNvPicPr>
            <a:picLocks noChangeAspect="1"/>
          </p:cNvPicPr>
          <p:nvPr/>
        </p:nvPicPr>
        <p:blipFill>
          <a:blip r:embed="rId3"/>
          <a:stretch>
            <a:fillRect/>
          </a:stretch>
        </p:blipFill>
        <p:spPr>
          <a:xfrm>
            <a:off x="885539" y="1396588"/>
            <a:ext cx="4622590" cy="5137562"/>
          </a:xfrm>
          <a:prstGeom prst="rect">
            <a:avLst/>
          </a:prstGeom>
        </p:spPr>
      </p:pic>
      <p:pic>
        <p:nvPicPr>
          <p:cNvPr id="10" name="Imagen 9">
            <a:extLst>
              <a:ext uri="{FF2B5EF4-FFF2-40B4-BE49-F238E27FC236}">
                <a16:creationId xmlns:a16="http://schemas.microsoft.com/office/drawing/2014/main" id="{F0C68187-45BF-79E0-ED8E-B0E28FFF4334}"/>
              </a:ext>
            </a:extLst>
          </p:cNvPr>
          <p:cNvPicPr>
            <a:picLocks noChangeAspect="1"/>
          </p:cNvPicPr>
          <p:nvPr/>
        </p:nvPicPr>
        <p:blipFill>
          <a:blip r:embed="rId4"/>
          <a:stretch>
            <a:fillRect/>
          </a:stretch>
        </p:blipFill>
        <p:spPr>
          <a:xfrm>
            <a:off x="5945219" y="1342499"/>
            <a:ext cx="3973332" cy="5231221"/>
          </a:xfrm>
          <a:prstGeom prst="rect">
            <a:avLst/>
          </a:prstGeom>
        </p:spPr>
      </p:pic>
      <mc:AlternateContent xmlns:mc="http://schemas.openxmlformats.org/markup-compatibility/2006">
        <mc:Choice xmlns:p14="http://schemas.microsoft.com/office/powerpoint/2010/main" Requires="p14">
          <p:contentPart p14:bwMode="auto" r:id="rId5">
            <p14:nvContentPartPr>
              <p14:cNvPr id="12" name="Entrada de lápiz 11">
                <a:extLst>
                  <a:ext uri="{FF2B5EF4-FFF2-40B4-BE49-F238E27FC236}">
                    <a16:creationId xmlns:a16="http://schemas.microsoft.com/office/drawing/2014/main" id="{7477B32D-02F7-454A-4A38-000887BB8848}"/>
                  </a:ext>
                </a:extLst>
              </p14:cNvPr>
              <p14:cNvContentPartPr/>
              <p14:nvPr/>
            </p14:nvContentPartPr>
            <p14:xfrm>
              <a:off x="951623" y="4563355"/>
              <a:ext cx="679680" cy="8280"/>
            </p14:xfrm>
          </p:contentPart>
        </mc:Choice>
        <mc:Fallback>
          <p:pic>
            <p:nvPicPr>
              <p:cNvPr id="12" name="Entrada de lápiz 11">
                <a:extLst>
                  <a:ext uri="{FF2B5EF4-FFF2-40B4-BE49-F238E27FC236}">
                    <a16:creationId xmlns:a16="http://schemas.microsoft.com/office/drawing/2014/main" id="{7477B32D-02F7-454A-4A38-000887BB8848}"/>
                  </a:ext>
                </a:extLst>
              </p:cNvPr>
              <p:cNvPicPr/>
              <p:nvPr/>
            </p:nvPicPr>
            <p:blipFill>
              <a:blip r:embed="rId6"/>
              <a:stretch>
                <a:fillRect/>
              </a:stretch>
            </p:blipFill>
            <p:spPr>
              <a:xfrm>
                <a:off x="915623" y="4491715"/>
                <a:ext cx="75132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3" name="Entrada de lápiz 12">
                <a:extLst>
                  <a:ext uri="{FF2B5EF4-FFF2-40B4-BE49-F238E27FC236}">
                    <a16:creationId xmlns:a16="http://schemas.microsoft.com/office/drawing/2014/main" id="{3A1987EC-916B-8760-5C74-7CDD86F45DAC}"/>
                  </a:ext>
                </a:extLst>
              </p14:cNvPr>
              <p14:cNvContentPartPr/>
              <p14:nvPr/>
            </p14:nvContentPartPr>
            <p14:xfrm>
              <a:off x="2005284" y="5355641"/>
              <a:ext cx="1267560" cy="19440"/>
            </p14:xfrm>
          </p:contentPart>
        </mc:Choice>
        <mc:Fallback>
          <p:pic>
            <p:nvPicPr>
              <p:cNvPr id="13" name="Entrada de lápiz 12">
                <a:extLst>
                  <a:ext uri="{FF2B5EF4-FFF2-40B4-BE49-F238E27FC236}">
                    <a16:creationId xmlns:a16="http://schemas.microsoft.com/office/drawing/2014/main" id="{3A1987EC-916B-8760-5C74-7CDD86F45DAC}"/>
                  </a:ext>
                </a:extLst>
              </p:cNvPr>
              <p:cNvPicPr/>
              <p:nvPr/>
            </p:nvPicPr>
            <p:blipFill>
              <a:blip r:embed="rId8"/>
              <a:stretch>
                <a:fillRect/>
              </a:stretch>
            </p:blipFill>
            <p:spPr>
              <a:xfrm>
                <a:off x="1969644" y="5283641"/>
                <a:ext cx="133920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4" name="Entrada de lápiz 13">
                <a:extLst>
                  <a:ext uri="{FF2B5EF4-FFF2-40B4-BE49-F238E27FC236}">
                    <a16:creationId xmlns:a16="http://schemas.microsoft.com/office/drawing/2014/main" id="{8D2095D5-EDC8-12E6-51A4-5BC977D7D424}"/>
                  </a:ext>
                </a:extLst>
              </p14:cNvPr>
              <p14:cNvContentPartPr/>
              <p14:nvPr/>
            </p14:nvContentPartPr>
            <p14:xfrm>
              <a:off x="2002404" y="5451041"/>
              <a:ext cx="486360" cy="5400"/>
            </p14:xfrm>
          </p:contentPart>
        </mc:Choice>
        <mc:Fallback>
          <p:pic>
            <p:nvPicPr>
              <p:cNvPr id="14" name="Entrada de lápiz 13">
                <a:extLst>
                  <a:ext uri="{FF2B5EF4-FFF2-40B4-BE49-F238E27FC236}">
                    <a16:creationId xmlns:a16="http://schemas.microsoft.com/office/drawing/2014/main" id="{8D2095D5-EDC8-12E6-51A4-5BC977D7D424}"/>
                  </a:ext>
                </a:extLst>
              </p:cNvPr>
              <p:cNvPicPr/>
              <p:nvPr/>
            </p:nvPicPr>
            <p:blipFill>
              <a:blip r:embed="rId10"/>
              <a:stretch>
                <a:fillRect/>
              </a:stretch>
            </p:blipFill>
            <p:spPr>
              <a:xfrm>
                <a:off x="1966404" y="5379401"/>
                <a:ext cx="558000" cy="149040"/>
              </a:xfrm>
              <a:prstGeom prst="rect">
                <a:avLst/>
              </a:prstGeom>
            </p:spPr>
          </p:pic>
        </mc:Fallback>
      </mc:AlternateContent>
      <p:grpSp>
        <p:nvGrpSpPr>
          <p:cNvPr id="18" name="Grupo 17">
            <a:extLst>
              <a:ext uri="{FF2B5EF4-FFF2-40B4-BE49-F238E27FC236}">
                <a16:creationId xmlns:a16="http://schemas.microsoft.com/office/drawing/2014/main" id="{1AF439CC-59B8-87FF-E513-4FD2E2373299}"/>
              </a:ext>
            </a:extLst>
          </p:cNvPr>
          <p:cNvGrpSpPr/>
          <p:nvPr/>
        </p:nvGrpSpPr>
        <p:grpSpPr>
          <a:xfrm>
            <a:off x="2618364" y="5476961"/>
            <a:ext cx="77040" cy="34200"/>
            <a:chOff x="2618364" y="5476961"/>
            <a:chExt cx="77040" cy="34200"/>
          </a:xfrm>
        </p:grpSpPr>
        <mc:AlternateContent xmlns:mc="http://schemas.openxmlformats.org/markup-compatibility/2006">
          <mc:Choice xmlns:p14="http://schemas.microsoft.com/office/powerpoint/2010/main" Requires="p14">
            <p:contentPart p14:bwMode="auto" r:id="rId11">
              <p14:nvContentPartPr>
                <p14:cNvPr id="15" name="Entrada de lápiz 14">
                  <a:extLst>
                    <a:ext uri="{FF2B5EF4-FFF2-40B4-BE49-F238E27FC236}">
                      <a16:creationId xmlns:a16="http://schemas.microsoft.com/office/drawing/2014/main" id="{11B6757E-1117-F523-0175-831F4C5E25BC}"/>
                    </a:ext>
                  </a:extLst>
                </p14:cNvPr>
                <p14:cNvContentPartPr/>
                <p14:nvPr/>
              </p14:nvContentPartPr>
              <p14:xfrm>
                <a:off x="2618364" y="5493161"/>
                <a:ext cx="59400" cy="5040"/>
              </p14:xfrm>
            </p:contentPart>
          </mc:Choice>
          <mc:Fallback>
            <p:pic>
              <p:nvPicPr>
                <p:cNvPr id="15" name="Entrada de lápiz 14">
                  <a:extLst>
                    <a:ext uri="{FF2B5EF4-FFF2-40B4-BE49-F238E27FC236}">
                      <a16:creationId xmlns:a16="http://schemas.microsoft.com/office/drawing/2014/main" id="{11B6757E-1117-F523-0175-831F4C5E25BC}"/>
                    </a:ext>
                  </a:extLst>
                </p:cNvPr>
                <p:cNvPicPr/>
                <p:nvPr/>
              </p:nvPicPr>
              <p:blipFill>
                <a:blip r:embed="rId12"/>
                <a:stretch>
                  <a:fillRect/>
                </a:stretch>
              </p:blipFill>
              <p:spPr>
                <a:xfrm>
                  <a:off x="2612244" y="5487041"/>
                  <a:ext cx="7164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6" name="Entrada de lápiz 15">
                  <a:extLst>
                    <a:ext uri="{FF2B5EF4-FFF2-40B4-BE49-F238E27FC236}">
                      <a16:creationId xmlns:a16="http://schemas.microsoft.com/office/drawing/2014/main" id="{FD0C02BE-26DA-FB34-8145-15BD364FE22A}"/>
                    </a:ext>
                  </a:extLst>
                </p14:cNvPr>
                <p14:cNvContentPartPr/>
                <p14:nvPr/>
              </p14:nvContentPartPr>
              <p14:xfrm>
                <a:off x="2656524" y="5476961"/>
                <a:ext cx="38880" cy="34200"/>
              </p14:xfrm>
            </p:contentPart>
          </mc:Choice>
          <mc:Fallback>
            <p:pic>
              <p:nvPicPr>
                <p:cNvPr id="16" name="Entrada de lápiz 15">
                  <a:extLst>
                    <a:ext uri="{FF2B5EF4-FFF2-40B4-BE49-F238E27FC236}">
                      <a16:creationId xmlns:a16="http://schemas.microsoft.com/office/drawing/2014/main" id="{FD0C02BE-26DA-FB34-8145-15BD364FE22A}"/>
                    </a:ext>
                  </a:extLst>
                </p:cNvPr>
                <p:cNvPicPr/>
                <p:nvPr/>
              </p:nvPicPr>
              <p:blipFill>
                <a:blip r:embed="rId14"/>
                <a:stretch>
                  <a:fillRect/>
                </a:stretch>
              </p:blipFill>
              <p:spPr>
                <a:xfrm>
                  <a:off x="2650404" y="5470841"/>
                  <a:ext cx="51120" cy="46440"/>
                </a:xfrm>
                <a:prstGeom prst="rect">
                  <a:avLst/>
                </a:prstGeom>
              </p:spPr>
            </p:pic>
          </mc:Fallback>
        </mc:AlternateContent>
      </p:grpSp>
      <p:sp>
        <p:nvSpPr>
          <p:cNvPr id="19" name="CuadroTexto 18">
            <a:extLst>
              <a:ext uri="{FF2B5EF4-FFF2-40B4-BE49-F238E27FC236}">
                <a16:creationId xmlns:a16="http://schemas.microsoft.com/office/drawing/2014/main" id="{534631D7-738F-E232-1ED3-3A1C1E26C291}"/>
              </a:ext>
            </a:extLst>
          </p:cNvPr>
          <p:cNvSpPr txBox="1"/>
          <p:nvPr/>
        </p:nvSpPr>
        <p:spPr>
          <a:xfrm>
            <a:off x="2639064" y="5355179"/>
            <a:ext cx="1267560" cy="261610"/>
          </a:xfrm>
          <a:prstGeom prst="rect">
            <a:avLst/>
          </a:prstGeom>
          <a:noFill/>
        </p:spPr>
        <p:txBody>
          <a:bodyPr wrap="square" rtlCol="0">
            <a:spAutoFit/>
          </a:bodyPr>
          <a:lstStyle/>
          <a:p>
            <a:r>
              <a:rPr lang="es-EC" sz="1050" dirty="0"/>
              <a:t>En cuál?</a:t>
            </a:r>
          </a:p>
        </p:txBody>
      </p:sp>
      <p:grpSp>
        <p:nvGrpSpPr>
          <p:cNvPr id="27" name="Grupo 26">
            <a:extLst>
              <a:ext uri="{FF2B5EF4-FFF2-40B4-BE49-F238E27FC236}">
                <a16:creationId xmlns:a16="http://schemas.microsoft.com/office/drawing/2014/main" id="{A2BDA07C-FA01-F261-D337-9CCC1BC4DEF5}"/>
              </a:ext>
            </a:extLst>
          </p:cNvPr>
          <p:cNvGrpSpPr/>
          <p:nvPr/>
        </p:nvGrpSpPr>
        <p:grpSpPr>
          <a:xfrm>
            <a:off x="1017898" y="4658375"/>
            <a:ext cx="343800" cy="165960"/>
            <a:chOff x="1017898" y="4658375"/>
            <a:chExt cx="343800" cy="165960"/>
          </a:xfrm>
        </p:grpSpPr>
        <mc:AlternateContent xmlns:mc="http://schemas.openxmlformats.org/markup-compatibility/2006">
          <mc:Choice xmlns:p14="http://schemas.microsoft.com/office/powerpoint/2010/main" Requires="p14">
            <p:contentPart p14:bwMode="auto" r:id="rId15">
              <p14:nvContentPartPr>
                <p14:cNvPr id="20" name="Entrada de lápiz 19">
                  <a:extLst>
                    <a:ext uri="{FF2B5EF4-FFF2-40B4-BE49-F238E27FC236}">
                      <a16:creationId xmlns:a16="http://schemas.microsoft.com/office/drawing/2014/main" id="{4F3E5D7A-6D5C-C63A-4463-7EB082D7B55A}"/>
                    </a:ext>
                  </a:extLst>
                </p14:cNvPr>
                <p14:cNvContentPartPr/>
                <p14:nvPr/>
              </p14:nvContentPartPr>
              <p14:xfrm>
                <a:off x="1017898" y="4658375"/>
                <a:ext cx="82080" cy="138600"/>
              </p14:xfrm>
            </p:contentPart>
          </mc:Choice>
          <mc:Fallback>
            <p:pic>
              <p:nvPicPr>
                <p:cNvPr id="20" name="Entrada de lápiz 19">
                  <a:extLst>
                    <a:ext uri="{FF2B5EF4-FFF2-40B4-BE49-F238E27FC236}">
                      <a16:creationId xmlns:a16="http://schemas.microsoft.com/office/drawing/2014/main" id="{4F3E5D7A-6D5C-C63A-4463-7EB082D7B55A}"/>
                    </a:ext>
                  </a:extLst>
                </p:cNvPr>
                <p:cNvPicPr/>
                <p:nvPr/>
              </p:nvPicPr>
              <p:blipFill>
                <a:blip r:embed="rId16"/>
                <a:stretch>
                  <a:fillRect/>
                </a:stretch>
              </p:blipFill>
              <p:spPr>
                <a:xfrm>
                  <a:off x="1011778" y="4652255"/>
                  <a:ext cx="9432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Entrada de lápiz 20">
                  <a:extLst>
                    <a:ext uri="{FF2B5EF4-FFF2-40B4-BE49-F238E27FC236}">
                      <a16:creationId xmlns:a16="http://schemas.microsoft.com/office/drawing/2014/main" id="{C1301B08-D8BD-90D3-2DD2-D8F915A7DB0E}"/>
                    </a:ext>
                  </a:extLst>
                </p14:cNvPr>
                <p14:cNvContentPartPr/>
                <p14:nvPr/>
              </p14:nvContentPartPr>
              <p14:xfrm>
                <a:off x="1082338" y="4765295"/>
                <a:ext cx="32400" cy="59040"/>
              </p14:xfrm>
            </p:contentPart>
          </mc:Choice>
          <mc:Fallback>
            <p:pic>
              <p:nvPicPr>
                <p:cNvPr id="21" name="Entrada de lápiz 20">
                  <a:extLst>
                    <a:ext uri="{FF2B5EF4-FFF2-40B4-BE49-F238E27FC236}">
                      <a16:creationId xmlns:a16="http://schemas.microsoft.com/office/drawing/2014/main" id="{C1301B08-D8BD-90D3-2DD2-D8F915A7DB0E}"/>
                    </a:ext>
                  </a:extLst>
                </p:cNvPr>
                <p:cNvPicPr/>
                <p:nvPr/>
              </p:nvPicPr>
              <p:blipFill>
                <a:blip r:embed="rId18"/>
                <a:stretch>
                  <a:fillRect/>
                </a:stretch>
              </p:blipFill>
              <p:spPr>
                <a:xfrm>
                  <a:off x="1076218" y="4759175"/>
                  <a:ext cx="4464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2" name="Entrada de lápiz 21">
                  <a:extLst>
                    <a:ext uri="{FF2B5EF4-FFF2-40B4-BE49-F238E27FC236}">
                      <a16:creationId xmlns:a16="http://schemas.microsoft.com/office/drawing/2014/main" id="{05E5D559-431D-8021-333A-EFE867F19B1F}"/>
                    </a:ext>
                  </a:extLst>
                </p14:cNvPr>
                <p14:cNvContentPartPr/>
                <p14:nvPr/>
              </p14:nvContentPartPr>
              <p14:xfrm>
                <a:off x="1171978" y="4727495"/>
                <a:ext cx="60480" cy="82080"/>
              </p14:xfrm>
            </p:contentPart>
          </mc:Choice>
          <mc:Fallback>
            <p:pic>
              <p:nvPicPr>
                <p:cNvPr id="22" name="Entrada de lápiz 21">
                  <a:extLst>
                    <a:ext uri="{FF2B5EF4-FFF2-40B4-BE49-F238E27FC236}">
                      <a16:creationId xmlns:a16="http://schemas.microsoft.com/office/drawing/2014/main" id="{05E5D559-431D-8021-333A-EFE867F19B1F}"/>
                    </a:ext>
                  </a:extLst>
                </p:cNvPr>
                <p:cNvPicPr/>
                <p:nvPr/>
              </p:nvPicPr>
              <p:blipFill>
                <a:blip r:embed="rId20"/>
                <a:stretch>
                  <a:fillRect/>
                </a:stretch>
              </p:blipFill>
              <p:spPr>
                <a:xfrm>
                  <a:off x="1165858" y="4721375"/>
                  <a:ext cx="7272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3" name="Entrada de lápiz 22">
                  <a:extLst>
                    <a:ext uri="{FF2B5EF4-FFF2-40B4-BE49-F238E27FC236}">
                      <a16:creationId xmlns:a16="http://schemas.microsoft.com/office/drawing/2014/main" id="{A9606F65-3F11-444D-E087-2D49E1F3E718}"/>
                    </a:ext>
                  </a:extLst>
                </p14:cNvPr>
                <p14:cNvContentPartPr/>
                <p14:nvPr/>
              </p14:nvContentPartPr>
              <p14:xfrm>
                <a:off x="1165498" y="4718855"/>
                <a:ext cx="80640" cy="10080"/>
              </p14:xfrm>
            </p:contentPart>
          </mc:Choice>
          <mc:Fallback>
            <p:pic>
              <p:nvPicPr>
                <p:cNvPr id="23" name="Entrada de lápiz 22">
                  <a:extLst>
                    <a:ext uri="{FF2B5EF4-FFF2-40B4-BE49-F238E27FC236}">
                      <a16:creationId xmlns:a16="http://schemas.microsoft.com/office/drawing/2014/main" id="{A9606F65-3F11-444D-E087-2D49E1F3E718}"/>
                    </a:ext>
                  </a:extLst>
                </p:cNvPr>
                <p:cNvPicPr/>
                <p:nvPr/>
              </p:nvPicPr>
              <p:blipFill>
                <a:blip r:embed="rId22"/>
                <a:stretch>
                  <a:fillRect/>
                </a:stretch>
              </p:blipFill>
              <p:spPr>
                <a:xfrm>
                  <a:off x="1159378" y="4712735"/>
                  <a:ext cx="9288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4" name="Entrada de lápiz 23">
                  <a:extLst>
                    <a:ext uri="{FF2B5EF4-FFF2-40B4-BE49-F238E27FC236}">
                      <a16:creationId xmlns:a16="http://schemas.microsoft.com/office/drawing/2014/main" id="{B90123B1-86DC-DA19-1FB8-BC75C3FF6418}"/>
                    </a:ext>
                  </a:extLst>
                </p14:cNvPr>
                <p14:cNvContentPartPr/>
                <p14:nvPr/>
              </p14:nvContentPartPr>
              <p14:xfrm>
                <a:off x="1276018" y="4727135"/>
                <a:ext cx="85680" cy="91800"/>
              </p14:xfrm>
            </p:contentPart>
          </mc:Choice>
          <mc:Fallback>
            <p:pic>
              <p:nvPicPr>
                <p:cNvPr id="24" name="Entrada de lápiz 23">
                  <a:extLst>
                    <a:ext uri="{FF2B5EF4-FFF2-40B4-BE49-F238E27FC236}">
                      <a16:creationId xmlns:a16="http://schemas.microsoft.com/office/drawing/2014/main" id="{B90123B1-86DC-DA19-1FB8-BC75C3FF6418}"/>
                    </a:ext>
                  </a:extLst>
                </p:cNvPr>
                <p:cNvPicPr/>
                <p:nvPr/>
              </p:nvPicPr>
              <p:blipFill>
                <a:blip r:embed="rId24"/>
                <a:stretch>
                  <a:fillRect/>
                </a:stretch>
              </p:blipFill>
              <p:spPr>
                <a:xfrm>
                  <a:off x="1269898" y="4721015"/>
                  <a:ext cx="9792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5" name="Entrada de lápiz 24">
                  <a:extLst>
                    <a:ext uri="{FF2B5EF4-FFF2-40B4-BE49-F238E27FC236}">
                      <a16:creationId xmlns:a16="http://schemas.microsoft.com/office/drawing/2014/main" id="{9DB42C40-5868-1656-FE72-EA4412461404}"/>
                    </a:ext>
                  </a:extLst>
                </p14:cNvPr>
                <p14:cNvContentPartPr/>
                <p14:nvPr/>
              </p14:nvContentPartPr>
              <p14:xfrm>
                <a:off x="1290778" y="4797335"/>
                <a:ext cx="61920" cy="9000"/>
              </p14:xfrm>
            </p:contentPart>
          </mc:Choice>
          <mc:Fallback>
            <p:pic>
              <p:nvPicPr>
                <p:cNvPr id="25" name="Entrada de lápiz 24">
                  <a:extLst>
                    <a:ext uri="{FF2B5EF4-FFF2-40B4-BE49-F238E27FC236}">
                      <a16:creationId xmlns:a16="http://schemas.microsoft.com/office/drawing/2014/main" id="{9DB42C40-5868-1656-FE72-EA4412461404}"/>
                    </a:ext>
                  </a:extLst>
                </p:cNvPr>
                <p:cNvPicPr/>
                <p:nvPr/>
              </p:nvPicPr>
              <p:blipFill>
                <a:blip r:embed="rId26"/>
                <a:stretch>
                  <a:fillRect/>
                </a:stretch>
              </p:blipFill>
              <p:spPr>
                <a:xfrm>
                  <a:off x="1284658" y="4791215"/>
                  <a:ext cx="74160" cy="21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7">
            <p14:nvContentPartPr>
              <p14:cNvPr id="28" name="Entrada de lápiz 27">
                <a:extLst>
                  <a:ext uri="{FF2B5EF4-FFF2-40B4-BE49-F238E27FC236}">
                    <a16:creationId xmlns:a16="http://schemas.microsoft.com/office/drawing/2014/main" id="{8EC76CFA-916F-2485-AB18-E9511683BFAD}"/>
                  </a:ext>
                </a:extLst>
              </p14:cNvPr>
              <p14:cNvContentPartPr/>
              <p14:nvPr/>
            </p14:nvContentPartPr>
            <p14:xfrm>
              <a:off x="6942334" y="3854826"/>
              <a:ext cx="1175760" cy="12240"/>
            </p14:xfrm>
          </p:contentPart>
        </mc:Choice>
        <mc:Fallback>
          <p:pic>
            <p:nvPicPr>
              <p:cNvPr id="28" name="Entrada de lápiz 27">
                <a:extLst>
                  <a:ext uri="{FF2B5EF4-FFF2-40B4-BE49-F238E27FC236}">
                    <a16:creationId xmlns:a16="http://schemas.microsoft.com/office/drawing/2014/main" id="{8EC76CFA-916F-2485-AB18-E9511683BFAD}"/>
                  </a:ext>
                </a:extLst>
              </p:cNvPr>
              <p:cNvPicPr/>
              <p:nvPr/>
            </p:nvPicPr>
            <p:blipFill>
              <a:blip r:embed="rId28"/>
              <a:stretch>
                <a:fillRect/>
              </a:stretch>
            </p:blipFill>
            <p:spPr>
              <a:xfrm>
                <a:off x="6906694" y="3782826"/>
                <a:ext cx="124740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9" name="Entrada de lápiz 28">
                <a:extLst>
                  <a:ext uri="{FF2B5EF4-FFF2-40B4-BE49-F238E27FC236}">
                    <a16:creationId xmlns:a16="http://schemas.microsoft.com/office/drawing/2014/main" id="{E482B2D9-8EF8-D55D-B525-2965B4DF889F}"/>
                  </a:ext>
                </a:extLst>
              </p14:cNvPr>
              <p14:cNvContentPartPr/>
              <p14:nvPr/>
            </p14:nvContentPartPr>
            <p14:xfrm>
              <a:off x="6904174" y="3949506"/>
              <a:ext cx="761040" cy="14400"/>
            </p14:xfrm>
          </p:contentPart>
        </mc:Choice>
        <mc:Fallback>
          <p:pic>
            <p:nvPicPr>
              <p:cNvPr id="29" name="Entrada de lápiz 28">
                <a:extLst>
                  <a:ext uri="{FF2B5EF4-FFF2-40B4-BE49-F238E27FC236}">
                    <a16:creationId xmlns:a16="http://schemas.microsoft.com/office/drawing/2014/main" id="{E482B2D9-8EF8-D55D-B525-2965B4DF889F}"/>
                  </a:ext>
                </a:extLst>
              </p:cNvPr>
              <p:cNvPicPr/>
              <p:nvPr/>
            </p:nvPicPr>
            <p:blipFill>
              <a:blip r:embed="rId30"/>
              <a:stretch>
                <a:fillRect/>
              </a:stretch>
            </p:blipFill>
            <p:spPr>
              <a:xfrm>
                <a:off x="6868534" y="3877866"/>
                <a:ext cx="8326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0" name="Entrada de lápiz 29">
                <a:extLst>
                  <a:ext uri="{FF2B5EF4-FFF2-40B4-BE49-F238E27FC236}">
                    <a16:creationId xmlns:a16="http://schemas.microsoft.com/office/drawing/2014/main" id="{ED495383-3556-A0E3-6635-FA95274895F9}"/>
                  </a:ext>
                </a:extLst>
              </p14:cNvPr>
              <p14:cNvContentPartPr/>
              <p14:nvPr/>
            </p14:nvContentPartPr>
            <p14:xfrm>
              <a:off x="6930454" y="5757761"/>
              <a:ext cx="1026000" cy="7920"/>
            </p14:xfrm>
          </p:contentPart>
        </mc:Choice>
        <mc:Fallback>
          <p:pic>
            <p:nvPicPr>
              <p:cNvPr id="30" name="Entrada de lápiz 29">
                <a:extLst>
                  <a:ext uri="{FF2B5EF4-FFF2-40B4-BE49-F238E27FC236}">
                    <a16:creationId xmlns:a16="http://schemas.microsoft.com/office/drawing/2014/main" id="{ED495383-3556-A0E3-6635-FA95274895F9}"/>
                  </a:ext>
                </a:extLst>
              </p:cNvPr>
              <p:cNvPicPr/>
              <p:nvPr/>
            </p:nvPicPr>
            <p:blipFill>
              <a:blip r:embed="rId32"/>
              <a:stretch>
                <a:fillRect/>
              </a:stretch>
            </p:blipFill>
            <p:spPr>
              <a:xfrm>
                <a:off x="6894814" y="5685761"/>
                <a:ext cx="10976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1" name="Entrada de lápiz 30">
                <a:extLst>
                  <a:ext uri="{FF2B5EF4-FFF2-40B4-BE49-F238E27FC236}">
                    <a16:creationId xmlns:a16="http://schemas.microsoft.com/office/drawing/2014/main" id="{A74BC3B1-A2D3-2957-B737-0A3C7C2098B3}"/>
                  </a:ext>
                </a:extLst>
              </p14:cNvPr>
              <p14:cNvContentPartPr/>
              <p14:nvPr/>
            </p14:nvContentPartPr>
            <p14:xfrm>
              <a:off x="6916414" y="5852081"/>
              <a:ext cx="1070640" cy="12600"/>
            </p14:xfrm>
          </p:contentPart>
        </mc:Choice>
        <mc:Fallback>
          <p:pic>
            <p:nvPicPr>
              <p:cNvPr id="31" name="Entrada de lápiz 30">
                <a:extLst>
                  <a:ext uri="{FF2B5EF4-FFF2-40B4-BE49-F238E27FC236}">
                    <a16:creationId xmlns:a16="http://schemas.microsoft.com/office/drawing/2014/main" id="{A74BC3B1-A2D3-2957-B737-0A3C7C2098B3}"/>
                  </a:ext>
                </a:extLst>
              </p:cNvPr>
              <p:cNvPicPr/>
              <p:nvPr/>
            </p:nvPicPr>
            <p:blipFill>
              <a:blip r:embed="rId34"/>
              <a:stretch>
                <a:fillRect/>
              </a:stretch>
            </p:blipFill>
            <p:spPr>
              <a:xfrm>
                <a:off x="6880774" y="5780441"/>
                <a:ext cx="114228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2" name="Entrada de lápiz 31">
                <a:extLst>
                  <a:ext uri="{FF2B5EF4-FFF2-40B4-BE49-F238E27FC236}">
                    <a16:creationId xmlns:a16="http://schemas.microsoft.com/office/drawing/2014/main" id="{8081F992-10BB-1CB1-0FB4-4AB071EA67F9}"/>
                  </a:ext>
                </a:extLst>
              </p14:cNvPr>
              <p14:cNvContentPartPr/>
              <p14:nvPr/>
            </p14:nvContentPartPr>
            <p14:xfrm>
              <a:off x="6928294" y="5953961"/>
              <a:ext cx="979920" cy="7200"/>
            </p14:xfrm>
          </p:contentPart>
        </mc:Choice>
        <mc:Fallback>
          <p:pic>
            <p:nvPicPr>
              <p:cNvPr id="32" name="Entrada de lápiz 31">
                <a:extLst>
                  <a:ext uri="{FF2B5EF4-FFF2-40B4-BE49-F238E27FC236}">
                    <a16:creationId xmlns:a16="http://schemas.microsoft.com/office/drawing/2014/main" id="{8081F992-10BB-1CB1-0FB4-4AB071EA67F9}"/>
                  </a:ext>
                </a:extLst>
              </p:cNvPr>
              <p:cNvPicPr/>
              <p:nvPr/>
            </p:nvPicPr>
            <p:blipFill>
              <a:blip r:embed="rId36"/>
              <a:stretch>
                <a:fillRect/>
              </a:stretch>
            </p:blipFill>
            <p:spPr>
              <a:xfrm>
                <a:off x="6892294" y="5881961"/>
                <a:ext cx="1051560" cy="150840"/>
              </a:xfrm>
              <a:prstGeom prst="rect">
                <a:avLst/>
              </a:prstGeom>
            </p:spPr>
          </p:pic>
        </mc:Fallback>
      </mc:AlternateContent>
    </p:spTree>
    <p:extLst>
      <p:ext uri="{BB962C8B-B14F-4D97-AF65-F5344CB8AC3E}">
        <p14:creationId xmlns:p14="http://schemas.microsoft.com/office/powerpoint/2010/main" val="1458523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a:extLst>
            <a:ext uri="{FF2B5EF4-FFF2-40B4-BE49-F238E27FC236}">
              <a16:creationId xmlns:a16="http://schemas.microsoft.com/office/drawing/2014/main" id="{99F76A93-B560-C9B3-1D96-6857DDD45488}"/>
            </a:ext>
          </a:extLst>
        </p:cNvPr>
        <p:cNvGrpSpPr/>
        <p:nvPr/>
      </p:nvGrpSpPr>
      <p:grpSpPr>
        <a:xfrm>
          <a:off x="0" y="0"/>
          <a:ext cx="0" cy="0"/>
          <a:chOff x="0" y="0"/>
          <a:chExt cx="0" cy="0"/>
        </a:xfrm>
      </p:grpSpPr>
      <p:sp>
        <p:nvSpPr>
          <p:cNvPr id="8" name="text-0">
            <a:extLst>
              <a:ext uri="{FF2B5EF4-FFF2-40B4-BE49-F238E27FC236}">
                <a16:creationId xmlns:a16="http://schemas.microsoft.com/office/drawing/2014/main" id="{EC3D7EB8-E04F-4AB4-94FA-25B717E20AED}"/>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INSTRUMENTO</a:t>
            </a:r>
          </a:p>
        </p:txBody>
      </p:sp>
      <p:sp>
        <p:nvSpPr>
          <p:cNvPr id="2" name="text-1">
            <a:extLst>
              <a:ext uri="{FF2B5EF4-FFF2-40B4-BE49-F238E27FC236}">
                <a16:creationId xmlns:a16="http://schemas.microsoft.com/office/drawing/2014/main" id="{5566CD8F-7169-8FCF-AA13-ADFB0046E31D}"/>
              </a:ext>
            </a:extLst>
          </p:cNvPr>
          <p:cNvSpPr>
            <a:spLocks noGrp="1"/>
          </p:cNvSpPr>
          <p:nvPr/>
        </p:nvSpPr>
        <p:spPr>
          <a:xfrm>
            <a:off x="512781" y="561975"/>
            <a:ext cx="10953750" cy="589093"/>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dirty="0">
                <a:solidFill>
                  <a:srgbClr val="102B46"/>
                </a:solidFill>
                <a:latin typeface="DejaVu Sans"/>
                <a:ea typeface="DejaVu Sans"/>
                <a:cs typeface="DejaVu Sans"/>
              </a:rPr>
              <a:t>CECTGRA: </a:t>
            </a:r>
            <a:r>
              <a:rPr sz="3150" b="1" dirty="0" err="1">
                <a:solidFill>
                  <a:srgbClr val="102B46"/>
                </a:solidFill>
                <a:latin typeface="DejaVu Sans"/>
                <a:ea typeface="DejaVu Sans"/>
                <a:cs typeface="DejaVu Sans"/>
              </a:rPr>
              <a:t>nuestra</a:t>
            </a:r>
            <a:r>
              <a:rPr sz="3150" b="1" dirty="0">
                <a:solidFill>
                  <a:srgbClr val="102B46"/>
                </a:solidFill>
                <a:latin typeface="DejaVu Sans"/>
                <a:ea typeface="DejaVu Sans"/>
                <a:cs typeface="DejaVu Sans"/>
              </a:rPr>
              <a:t> </a:t>
            </a:r>
            <a:r>
              <a:rPr sz="3150" b="1" dirty="0" err="1">
                <a:solidFill>
                  <a:srgbClr val="102B46"/>
                </a:solidFill>
                <a:latin typeface="DejaVu Sans"/>
                <a:ea typeface="DejaVu Sans"/>
                <a:cs typeface="DejaVu Sans"/>
              </a:rPr>
              <a:t>herramienta</a:t>
            </a:r>
            <a:r>
              <a:rPr sz="3150" b="1" dirty="0">
                <a:solidFill>
                  <a:srgbClr val="102B46"/>
                </a:solidFill>
                <a:latin typeface="DejaVu Sans"/>
                <a:ea typeface="DejaVu Sans"/>
                <a:cs typeface="DejaVu Sans"/>
              </a:rPr>
              <a:t> de </a:t>
            </a:r>
            <a:r>
              <a:rPr sz="3150" b="1" dirty="0" err="1">
                <a:solidFill>
                  <a:srgbClr val="102B46"/>
                </a:solidFill>
                <a:latin typeface="DejaVu Sans"/>
                <a:ea typeface="DejaVu Sans"/>
                <a:cs typeface="DejaVu Sans"/>
              </a:rPr>
              <a:t>medición</a:t>
            </a:r>
            <a:endParaRPr sz="3150" b="1" dirty="0">
              <a:solidFill>
                <a:srgbClr val="102B46"/>
              </a:solidFill>
              <a:latin typeface="DejaVu Sans"/>
              <a:ea typeface="DejaVu Sans"/>
              <a:cs typeface="DejaVu Sans"/>
            </a:endParaRPr>
          </a:p>
        </p:txBody>
      </p:sp>
      <p:sp>
        <p:nvSpPr>
          <p:cNvPr id="3" name="text-2">
            <a:extLst>
              <a:ext uri="{FF2B5EF4-FFF2-40B4-BE49-F238E27FC236}">
                <a16:creationId xmlns:a16="http://schemas.microsoft.com/office/drawing/2014/main" id="{E16F5634-C75D-0C4B-8580-775B67403ADC}"/>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dirty="0">
                <a:solidFill>
                  <a:srgbClr val="536575"/>
                </a:solidFill>
                <a:latin typeface="DejaVu Sans"/>
                <a:ea typeface="DejaVu Sans"/>
                <a:cs typeface="DejaVu Sans"/>
              </a:rPr>
              <a:t>0</a:t>
            </a:r>
            <a:r>
              <a:rPr lang="es-ES" dirty="0"/>
              <a:t>6</a:t>
            </a:r>
            <a:endParaRPr sz="1125" b="0" dirty="0">
              <a:solidFill>
                <a:srgbClr val="536575"/>
              </a:solidFill>
              <a:latin typeface="DejaVu Sans"/>
              <a:ea typeface="DejaVu Sans"/>
              <a:cs typeface="DejaVu Sans"/>
            </a:endParaRPr>
          </a:p>
        </p:txBody>
      </p:sp>
      <p:sp>
        <p:nvSpPr>
          <p:cNvPr id="7" name="text-5">
            <a:extLst>
              <a:ext uri="{FF2B5EF4-FFF2-40B4-BE49-F238E27FC236}">
                <a16:creationId xmlns:a16="http://schemas.microsoft.com/office/drawing/2014/main" id="{325A014F-A158-26A5-3112-CD4C401B7889}"/>
              </a:ext>
            </a:extLst>
          </p:cNvPr>
          <p:cNvSpPr>
            <a:spLocks noGrp="1"/>
          </p:cNvSpPr>
          <p:nvPr/>
        </p:nvSpPr>
        <p:spPr>
          <a:xfrm>
            <a:off x="0" y="6583904"/>
            <a:ext cx="12334539"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r>
              <a:rPr lang="es-EC" dirty="0"/>
              <a:t>Martínez Clares, P. y González Morga, N. (2018). Las competencias transversales en la universi-dad: propiedades psicométricas de un cuestionario. </a:t>
            </a:r>
          </a:p>
        </p:txBody>
      </p:sp>
      <p:pic>
        <p:nvPicPr>
          <p:cNvPr id="4" name="Imagen 3">
            <a:extLst>
              <a:ext uri="{FF2B5EF4-FFF2-40B4-BE49-F238E27FC236}">
                <a16:creationId xmlns:a16="http://schemas.microsoft.com/office/drawing/2014/main" id="{DCF359D9-01FC-5A6B-0CB5-A448F22367F2}"/>
              </a:ext>
            </a:extLst>
          </p:cNvPr>
          <p:cNvPicPr>
            <a:picLocks noChangeAspect="1"/>
          </p:cNvPicPr>
          <p:nvPr/>
        </p:nvPicPr>
        <p:blipFill>
          <a:blip r:embed="rId3"/>
          <a:stretch>
            <a:fillRect/>
          </a:stretch>
        </p:blipFill>
        <p:spPr>
          <a:xfrm>
            <a:off x="512781" y="1065007"/>
            <a:ext cx="3930127" cy="5509013"/>
          </a:xfrm>
          <a:prstGeom prst="rect">
            <a:avLst/>
          </a:prstGeom>
        </p:spPr>
      </p:pic>
      <p:pic>
        <p:nvPicPr>
          <p:cNvPr id="5" name="Imagen 4">
            <a:extLst>
              <a:ext uri="{FF2B5EF4-FFF2-40B4-BE49-F238E27FC236}">
                <a16:creationId xmlns:a16="http://schemas.microsoft.com/office/drawing/2014/main" id="{620340B5-BF6E-D9AE-825C-20F12EAA5649}"/>
              </a:ext>
            </a:extLst>
          </p:cNvPr>
          <p:cNvPicPr>
            <a:picLocks noChangeAspect="1"/>
          </p:cNvPicPr>
          <p:nvPr/>
        </p:nvPicPr>
        <p:blipFill>
          <a:blip r:embed="rId4"/>
          <a:stretch>
            <a:fillRect/>
          </a:stretch>
        </p:blipFill>
        <p:spPr>
          <a:xfrm>
            <a:off x="4627133" y="1201894"/>
            <a:ext cx="7052086" cy="5077017"/>
          </a:xfrm>
          <a:prstGeom prst="rect">
            <a:avLst/>
          </a:prstGeom>
        </p:spPr>
      </p:pic>
      <mc:AlternateContent xmlns:mc="http://schemas.openxmlformats.org/markup-compatibility/2006">
        <mc:Choice xmlns:p14="http://schemas.microsoft.com/office/powerpoint/2010/main" Requires="p14">
          <p:contentPart p14:bwMode="auto" r:id="rId5">
            <p14:nvContentPartPr>
              <p14:cNvPr id="6" name="Entrada de lápiz 5">
                <a:extLst>
                  <a:ext uri="{FF2B5EF4-FFF2-40B4-BE49-F238E27FC236}">
                    <a16:creationId xmlns:a16="http://schemas.microsoft.com/office/drawing/2014/main" id="{7D758412-5CFA-7BC9-3227-BE6632CE370D}"/>
                  </a:ext>
                </a:extLst>
              </p14:cNvPr>
              <p14:cNvContentPartPr/>
              <p14:nvPr/>
            </p14:nvContentPartPr>
            <p14:xfrm>
              <a:off x="785338" y="2704044"/>
              <a:ext cx="333360" cy="7200"/>
            </p14:xfrm>
          </p:contentPart>
        </mc:Choice>
        <mc:Fallback>
          <p:pic>
            <p:nvPicPr>
              <p:cNvPr id="6" name="Entrada de lápiz 5">
                <a:extLst>
                  <a:ext uri="{FF2B5EF4-FFF2-40B4-BE49-F238E27FC236}">
                    <a16:creationId xmlns:a16="http://schemas.microsoft.com/office/drawing/2014/main" id="{7D758412-5CFA-7BC9-3227-BE6632CE370D}"/>
                  </a:ext>
                </a:extLst>
              </p:cNvPr>
              <p:cNvPicPr/>
              <p:nvPr/>
            </p:nvPicPr>
            <p:blipFill>
              <a:blip r:embed="rId6"/>
              <a:stretch>
                <a:fillRect/>
              </a:stretch>
            </p:blipFill>
            <p:spPr>
              <a:xfrm>
                <a:off x="749338" y="2632044"/>
                <a:ext cx="40500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Entrada de lápiz 10">
                <a:extLst>
                  <a:ext uri="{FF2B5EF4-FFF2-40B4-BE49-F238E27FC236}">
                    <a16:creationId xmlns:a16="http://schemas.microsoft.com/office/drawing/2014/main" id="{E9B6FA84-6C5F-F8EF-9593-4FC27AE00EDB}"/>
                  </a:ext>
                </a:extLst>
              </p14:cNvPr>
              <p14:cNvContentPartPr/>
              <p14:nvPr/>
            </p14:nvContentPartPr>
            <p14:xfrm>
              <a:off x="735298" y="2794404"/>
              <a:ext cx="455040" cy="11520"/>
            </p14:xfrm>
          </p:contentPart>
        </mc:Choice>
        <mc:Fallback>
          <p:pic>
            <p:nvPicPr>
              <p:cNvPr id="11" name="Entrada de lápiz 10">
                <a:extLst>
                  <a:ext uri="{FF2B5EF4-FFF2-40B4-BE49-F238E27FC236}">
                    <a16:creationId xmlns:a16="http://schemas.microsoft.com/office/drawing/2014/main" id="{E9B6FA84-6C5F-F8EF-9593-4FC27AE00EDB}"/>
                  </a:ext>
                </a:extLst>
              </p:cNvPr>
              <p:cNvPicPr/>
              <p:nvPr/>
            </p:nvPicPr>
            <p:blipFill>
              <a:blip r:embed="rId8"/>
              <a:stretch>
                <a:fillRect/>
              </a:stretch>
            </p:blipFill>
            <p:spPr>
              <a:xfrm>
                <a:off x="699658" y="2722404"/>
                <a:ext cx="52668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Entrada de lápiz 11">
                <a:extLst>
                  <a:ext uri="{FF2B5EF4-FFF2-40B4-BE49-F238E27FC236}">
                    <a16:creationId xmlns:a16="http://schemas.microsoft.com/office/drawing/2014/main" id="{5D4025E4-60BF-D400-F1E2-163BBC2055C5}"/>
                  </a:ext>
                </a:extLst>
              </p14:cNvPr>
              <p14:cNvContentPartPr/>
              <p14:nvPr/>
            </p14:nvContentPartPr>
            <p14:xfrm>
              <a:off x="1540687" y="3435618"/>
              <a:ext cx="1135440" cy="12240"/>
            </p14:xfrm>
          </p:contentPart>
        </mc:Choice>
        <mc:Fallback>
          <p:pic>
            <p:nvPicPr>
              <p:cNvPr id="12" name="Entrada de lápiz 11">
                <a:extLst>
                  <a:ext uri="{FF2B5EF4-FFF2-40B4-BE49-F238E27FC236}">
                    <a16:creationId xmlns:a16="http://schemas.microsoft.com/office/drawing/2014/main" id="{5D4025E4-60BF-D400-F1E2-163BBC2055C5}"/>
                  </a:ext>
                </a:extLst>
              </p:cNvPr>
              <p:cNvPicPr/>
              <p:nvPr/>
            </p:nvPicPr>
            <p:blipFill>
              <a:blip r:embed="rId10"/>
              <a:stretch>
                <a:fillRect/>
              </a:stretch>
            </p:blipFill>
            <p:spPr>
              <a:xfrm>
                <a:off x="1505047" y="3363978"/>
                <a:ext cx="120708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3" name="Entrada de lápiz 12">
                <a:extLst>
                  <a:ext uri="{FF2B5EF4-FFF2-40B4-BE49-F238E27FC236}">
                    <a16:creationId xmlns:a16="http://schemas.microsoft.com/office/drawing/2014/main" id="{81D96DDC-22DF-32A8-3487-7CC66AEFABE8}"/>
                  </a:ext>
                </a:extLst>
              </p14:cNvPr>
              <p14:cNvContentPartPr/>
              <p14:nvPr/>
            </p14:nvContentPartPr>
            <p14:xfrm>
              <a:off x="1536727" y="3535338"/>
              <a:ext cx="973080" cy="19440"/>
            </p14:xfrm>
          </p:contentPart>
        </mc:Choice>
        <mc:Fallback>
          <p:pic>
            <p:nvPicPr>
              <p:cNvPr id="13" name="Entrada de lápiz 12">
                <a:extLst>
                  <a:ext uri="{FF2B5EF4-FFF2-40B4-BE49-F238E27FC236}">
                    <a16:creationId xmlns:a16="http://schemas.microsoft.com/office/drawing/2014/main" id="{81D96DDC-22DF-32A8-3487-7CC66AEFABE8}"/>
                  </a:ext>
                </a:extLst>
              </p:cNvPr>
              <p:cNvPicPr/>
              <p:nvPr/>
            </p:nvPicPr>
            <p:blipFill>
              <a:blip r:embed="rId12"/>
              <a:stretch>
                <a:fillRect/>
              </a:stretch>
            </p:blipFill>
            <p:spPr>
              <a:xfrm>
                <a:off x="1500727" y="3463338"/>
                <a:ext cx="104472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4" name="Entrada de lápiz 13">
                <a:extLst>
                  <a:ext uri="{FF2B5EF4-FFF2-40B4-BE49-F238E27FC236}">
                    <a16:creationId xmlns:a16="http://schemas.microsoft.com/office/drawing/2014/main" id="{CE624178-35CA-641A-8450-124772AFF45D}"/>
                  </a:ext>
                </a:extLst>
              </p14:cNvPr>
              <p14:cNvContentPartPr/>
              <p14:nvPr/>
            </p14:nvContentPartPr>
            <p14:xfrm>
              <a:off x="1540327" y="4751921"/>
              <a:ext cx="1082880" cy="14400"/>
            </p14:xfrm>
          </p:contentPart>
        </mc:Choice>
        <mc:Fallback>
          <p:pic>
            <p:nvPicPr>
              <p:cNvPr id="14" name="Entrada de lápiz 13">
                <a:extLst>
                  <a:ext uri="{FF2B5EF4-FFF2-40B4-BE49-F238E27FC236}">
                    <a16:creationId xmlns:a16="http://schemas.microsoft.com/office/drawing/2014/main" id="{CE624178-35CA-641A-8450-124772AFF45D}"/>
                  </a:ext>
                </a:extLst>
              </p:cNvPr>
              <p:cNvPicPr/>
              <p:nvPr/>
            </p:nvPicPr>
            <p:blipFill>
              <a:blip r:embed="rId14"/>
              <a:stretch>
                <a:fillRect/>
              </a:stretch>
            </p:blipFill>
            <p:spPr>
              <a:xfrm>
                <a:off x="1504687" y="4679921"/>
                <a:ext cx="11545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5" name="Entrada de lápiz 14">
                <a:extLst>
                  <a:ext uri="{FF2B5EF4-FFF2-40B4-BE49-F238E27FC236}">
                    <a16:creationId xmlns:a16="http://schemas.microsoft.com/office/drawing/2014/main" id="{1AA2159C-3C88-A17A-1708-002C709B3F13}"/>
                  </a:ext>
                </a:extLst>
              </p14:cNvPr>
              <p14:cNvContentPartPr/>
              <p14:nvPr/>
            </p14:nvContentPartPr>
            <p14:xfrm>
              <a:off x="1534207" y="4870721"/>
              <a:ext cx="1018800" cy="20520"/>
            </p14:xfrm>
          </p:contentPart>
        </mc:Choice>
        <mc:Fallback>
          <p:pic>
            <p:nvPicPr>
              <p:cNvPr id="15" name="Entrada de lápiz 14">
                <a:extLst>
                  <a:ext uri="{FF2B5EF4-FFF2-40B4-BE49-F238E27FC236}">
                    <a16:creationId xmlns:a16="http://schemas.microsoft.com/office/drawing/2014/main" id="{1AA2159C-3C88-A17A-1708-002C709B3F13}"/>
                  </a:ext>
                </a:extLst>
              </p:cNvPr>
              <p:cNvPicPr/>
              <p:nvPr/>
            </p:nvPicPr>
            <p:blipFill>
              <a:blip r:embed="rId16"/>
              <a:stretch>
                <a:fillRect/>
              </a:stretch>
            </p:blipFill>
            <p:spPr>
              <a:xfrm>
                <a:off x="1498567" y="4798721"/>
                <a:ext cx="109044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6" name="Entrada de lápiz 15">
                <a:extLst>
                  <a:ext uri="{FF2B5EF4-FFF2-40B4-BE49-F238E27FC236}">
                    <a16:creationId xmlns:a16="http://schemas.microsoft.com/office/drawing/2014/main" id="{C5DCC800-C958-9F7C-85FD-CF4123F607CD}"/>
                  </a:ext>
                </a:extLst>
              </p14:cNvPr>
              <p14:cNvContentPartPr/>
              <p14:nvPr/>
            </p14:nvContentPartPr>
            <p14:xfrm>
              <a:off x="1554007" y="4943441"/>
              <a:ext cx="1001880" cy="5760"/>
            </p14:xfrm>
          </p:contentPart>
        </mc:Choice>
        <mc:Fallback>
          <p:pic>
            <p:nvPicPr>
              <p:cNvPr id="16" name="Entrada de lápiz 15">
                <a:extLst>
                  <a:ext uri="{FF2B5EF4-FFF2-40B4-BE49-F238E27FC236}">
                    <a16:creationId xmlns:a16="http://schemas.microsoft.com/office/drawing/2014/main" id="{C5DCC800-C958-9F7C-85FD-CF4123F607CD}"/>
                  </a:ext>
                </a:extLst>
              </p:cNvPr>
              <p:cNvPicPr/>
              <p:nvPr/>
            </p:nvPicPr>
            <p:blipFill>
              <a:blip r:embed="rId18"/>
              <a:stretch>
                <a:fillRect/>
              </a:stretch>
            </p:blipFill>
            <p:spPr>
              <a:xfrm>
                <a:off x="1518367" y="4871441"/>
                <a:ext cx="107352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7" name="Entrada de lápiz 16">
                <a:extLst>
                  <a:ext uri="{FF2B5EF4-FFF2-40B4-BE49-F238E27FC236}">
                    <a16:creationId xmlns:a16="http://schemas.microsoft.com/office/drawing/2014/main" id="{5FDD77DB-5DF1-AF90-EE6D-91DB9921BF7A}"/>
                  </a:ext>
                </a:extLst>
              </p14:cNvPr>
              <p14:cNvContentPartPr/>
              <p14:nvPr/>
            </p14:nvContentPartPr>
            <p14:xfrm>
              <a:off x="1545727" y="5062241"/>
              <a:ext cx="351360" cy="5400"/>
            </p14:xfrm>
          </p:contentPart>
        </mc:Choice>
        <mc:Fallback>
          <p:pic>
            <p:nvPicPr>
              <p:cNvPr id="17" name="Entrada de lápiz 16">
                <a:extLst>
                  <a:ext uri="{FF2B5EF4-FFF2-40B4-BE49-F238E27FC236}">
                    <a16:creationId xmlns:a16="http://schemas.microsoft.com/office/drawing/2014/main" id="{5FDD77DB-5DF1-AF90-EE6D-91DB9921BF7A}"/>
                  </a:ext>
                </a:extLst>
              </p:cNvPr>
              <p:cNvPicPr/>
              <p:nvPr/>
            </p:nvPicPr>
            <p:blipFill>
              <a:blip r:embed="rId20"/>
              <a:stretch>
                <a:fillRect/>
              </a:stretch>
            </p:blipFill>
            <p:spPr>
              <a:xfrm>
                <a:off x="1510087" y="4990241"/>
                <a:ext cx="42300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8" name="Entrada de lápiz 17">
                <a:extLst>
                  <a:ext uri="{FF2B5EF4-FFF2-40B4-BE49-F238E27FC236}">
                    <a16:creationId xmlns:a16="http://schemas.microsoft.com/office/drawing/2014/main" id="{9AF10388-39AD-8E13-B775-B6C74E070ADC}"/>
                  </a:ext>
                </a:extLst>
              </p14:cNvPr>
              <p14:cNvContentPartPr/>
              <p14:nvPr/>
            </p14:nvContentPartPr>
            <p14:xfrm>
              <a:off x="1549696" y="5478761"/>
              <a:ext cx="1146600" cy="16200"/>
            </p14:xfrm>
          </p:contentPart>
        </mc:Choice>
        <mc:Fallback>
          <p:pic>
            <p:nvPicPr>
              <p:cNvPr id="18" name="Entrada de lápiz 17">
                <a:extLst>
                  <a:ext uri="{FF2B5EF4-FFF2-40B4-BE49-F238E27FC236}">
                    <a16:creationId xmlns:a16="http://schemas.microsoft.com/office/drawing/2014/main" id="{9AF10388-39AD-8E13-B775-B6C74E070ADC}"/>
                  </a:ext>
                </a:extLst>
              </p:cNvPr>
              <p:cNvPicPr/>
              <p:nvPr/>
            </p:nvPicPr>
            <p:blipFill>
              <a:blip r:embed="rId22"/>
              <a:stretch>
                <a:fillRect/>
              </a:stretch>
            </p:blipFill>
            <p:spPr>
              <a:xfrm>
                <a:off x="1514056" y="5407121"/>
                <a:ext cx="121824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9" name="Entrada de lápiz 18">
                <a:extLst>
                  <a:ext uri="{FF2B5EF4-FFF2-40B4-BE49-F238E27FC236}">
                    <a16:creationId xmlns:a16="http://schemas.microsoft.com/office/drawing/2014/main" id="{695CD149-DAA1-7DAD-9708-E08F80371139}"/>
                  </a:ext>
                </a:extLst>
              </p14:cNvPr>
              <p14:cNvContentPartPr/>
              <p14:nvPr/>
            </p14:nvContentPartPr>
            <p14:xfrm>
              <a:off x="1554376" y="5573441"/>
              <a:ext cx="342360" cy="2520"/>
            </p14:xfrm>
          </p:contentPart>
        </mc:Choice>
        <mc:Fallback>
          <p:pic>
            <p:nvPicPr>
              <p:cNvPr id="19" name="Entrada de lápiz 18">
                <a:extLst>
                  <a:ext uri="{FF2B5EF4-FFF2-40B4-BE49-F238E27FC236}">
                    <a16:creationId xmlns:a16="http://schemas.microsoft.com/office/drawing/2014/main" id="{695CD149-DAA1-7DAD-9708-E08F80371139}"/>
                  </a:ext>
                </a:extLst>
              </p:cNvPr>
              <p:cNvPicPr/>
              <p:nvPr/>
            </p:nvPicPr>
            <p:blipFill>
              <a:blip r:embed="rId24"/>
              <a:stretch>
                <a:fillRect/>
              </a:stretch>
            </p:blipFill>
            <p:spPr>
              <a:xfrm>
                <a:off x="1518376" y="5501441"/>
                <a:ext cx="41400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0" name="Entrada de lápiz 19">
                <a:extLst>
                  <a:ext uri="{FF2B5EF4-FFF2-40B4-BE49-F238E27FC236}">
                    <a16:creationId xmlns:a16="http://schemas.microsoft.com/office/drawing/2014/main" id="{CD41BDF7-42EE-97CB-4E39-09778E4D7F27}"/>
                  </a:ext>
                </a:extLst>
              </p14:cNvPr>
              <p14:cNvContentPartPr/>
              <p14:nvPr/>
            </p14:nvContentPartPr>
            <p14:xfrm>
              <a:off x="6612135" y="3368485"/>
              <a:ext cx="1902960" cy="14760"/>
            </p14:xfrm>
          </p:contentPart>
        </mc:Choice>
        <mc:Fallback>
          <p:pic>
            <p:nvPicPr>
              <p:cNvPr id="20" name="Entrada de lápiz 19">
                <a:extLst>
                  <a:ext uri="{FF2B5EF4-FFF2-40B4-BE49-F238E27FC236}">
                    <a16:creationId xmlns:a16="http://schemas.microsoft.com/office/drawing/2014/main" id="{CD41BDF7-42EE-97CB-4E39-09778E4D7F27}"/>
                  </a:ext>
                </a:extLst>
              </p:cNvPr>
              <p:cNvPicPr/>
              <p:nvPr/>
            </p:nvPicPr>
            <p:blipFill>
              <a:blip r:embed="rId26"/>
              <a:stretch>
                <a:fillRect/>
              </a:stretch>
            </p:blipFill>
            <p:spPr>
              <a:xfrm>
                <a:off x="6576135" y="3296485"/>
                <a:ext cx="197460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1" name="Entrada de lápiz 20">
                <a:extLst>
                  <a:ext uri="{FF2B5EF4-FFF2-40B4-BE49-F238E27FC236}">
                    <a16:creationId xmlns:a16="http://schemas.microsoft.com/office/drawing/2014/main" id="{A7FCB7D0-3E43-186F-4E40-B2F441E77C71}"/>
                  </a:ext>
                </a:extLst>
              </p14:cNvPr>
              <p14:cNvContentPartPr/>
              <p14:nvPr/>
            </p14:nvContentPartPr>
            <p14:xfrm>
              <a:off x="6497655" y="3559285"/>
              <a:ext cx="558360" cy="3600"/>
            </p14:xfrm>
          </p:contentPart>
        </mc:Choice>
        <mc:Fallback>
          <p:pic>
            <p:nvPicPr>
              <p:cNvPr id="21" name="Entrada de lápiz 20">
                <a:extLst>
                  <a:ext uri="{FF2B5EF4-FFF2-40B4-BE49-F238E27FC236}">
                    <a16:creationId xmlns:a16="http://schemas.microsoft.com/office/drawing/2014/main" id="{A7FCB7D0-3E43-186F-4E40-B2F441E77C71}"/>
                  </a:ext>
                </a:extLst>
              </p:cNvPr>
              <p:cNvPicPr/>
              <p:nvPr/>
            </p:nvPicPr>
            <p:blipFill>
              <a:blip r:embed="rId28"/>
              <a:stretch>
                <a:fillRect/>
              </a:stretch>
            </p:blipFill>
            <p:spPr>
              <a:xfrm>
                <a:off x="6461655" y="3487645"/>
                <a:ext cx="630000" cy="147240"/>
              </a:xfrm>
              <a:prstGeom prst="rect">
                <a:avLst/>
              </a:prstGeom>
            </p:spPr>
          </p:pic>
        </mc:Fallback>
      </mc:AlternateContent>
    </p:spTree>
    <p:extLst>
      <p:ext uri="{BB962C8B-B14F-4D97-AF65-F5344CB8AC3E}">
        <p14:creationId xmlns:p14="http://schemas.microsoft.com/office/powerpoint/2010/main" val="339893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7D00EBBB-1F9A-43AD-B9B1-2F7498818934}"/>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ANTECEDENTES INTERNACIONALES</a:t>
            </a:r>
          </a:p>
        </p:txBody>
      </p:sp>
      <p:sp>
        <p:nvSpPr>
          <p:cNvPr id="2" name="text-1">
            <a:extLst>
              <a:ext uri="{FF2B5EF4-FFF2-40B4-BE49-F238E27FC236}">
                <a16:creationId xmlns:a16="http://schemas.microsoft.com/office/drawing/2014/main" id="{6960541E-7338-4CFD-BB3E-C638342F996A}"/>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CECTGRA: origen y aplicaciones posteriores</a:t>
            </a:r>
          </a:p>
        </p:txBody>
      </p:sp>
      <p:sp>
        <p:nvSpPr>
          <p:cNvPr id="3" name="text-2">
            <a:extLst>
              <a:ext uri="{FF2B5EF4-FFF2-40B4-BE49-F238E27FC236}">
                <a16:creationId xmlns:a16="http://schemas.microsoft.com/office/drawing/2014/main" id="{A8CA5D3B-F5D2-449B-B466-CE3224AB0F58}"/>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dirty="0">
                <a:solidFill>
                  <a:srgbClr val="536575"/>
                </a:solidFill>
                <a:latin typeface="DejaVu Sans"/>
                <a:ea typeface="DejaVu Sans"/>
                <a:cs typeface="DejaVu Sans"/>
              </a:rPr>
              <a:t>0</a:t>
            </a:r>
            <a:r>
              <a:rPr lang="es-ES" sz="1125" b="0" dirty="0">
                <a:solidFill>
                  <a:srgbClr val="536575"/>
                </a:solidFill>
                <a:latin typeface="DejaVu Sans"/>
                <a:ea typeface="DejaVu Sans"/>
                <a:cs typeface="DejaVu Sans"/>
              </a:rPr>
              <a:t>7</a:t>
            </a:r>
            <a:endParaRPr sz="1125" b="0" dirty="0">
              <a:solidFill>
                <a:srgbClr val="536575"/>
              </a:solidFill>
              <a:latin typeface="DejaVu Sans"/>
              <a:ea typeface="DejaVu Sans"/>
              <a:cs typeface="DejaVu Sans"/>
            </a:endParaRPr>
          </a:p>
        </p:txBody>
      </p:sp>
      <p:graphicFrame>
        <p:nvGraphicFramePr>
          <p:cNvPr id="4" name="Tabla 3">
            <a:extLst>
              <a:ext uri="{FF2B5EF4-FFF2-40B4-BE49-F238E27FC236}">
                <a16:creationId xmlns:a16="http://schemas.microsoft.com/office/drawing/2014/main" id="{EDEFE520-6F6C-4D4C-BB70-462CC065B3F1}"/>
              </a:ext>
            </a:extLst>
          </p:cNvPr>
          <p:cNvGraphicFramePr/>
          <p:nvPr/>
        </p:nvGraphicFramePr>
        <p:xfrm>
          <a:off x="609600" y="1962150"/>
          <a:ext cx="10953750" cy="3286124"/>
        </p:xfrm>
        <a:graphic>
          <a:graphicData uri="http://schemas.openxmlformats.org/drawingml/2006/table">
            <a:tbl>
              <a:tblPr/>
              <a:tblGrid>
                <a:gridCol w="2190750">
                  <a:extLst>
                    <a:ext uri="{9D8B030D-6E8A-4147-A177-3AD203B41FA5}">
                      <a16:colId xmlns:a16="http://schemas.microsoft.com/office/drawing/2014/main" val="20000"/>
                    </a:ext>
                  </a:extLst>
                </a:gridCol>
                <a:gridCol w="4714875">
                  <a:extLst>
                    <a:ext uri="{9D8B030D-6E8A-4147-A177-3AD203B41FA5}">
                      <a16:colId xmlns:a16="http://schemas.microsoft.com/office/drawing/2014/main" val="20001"/>
                    </a:ext>
                  </a:extLst>
                </a:gridCol>
                <a:gridCol w="4048125">
                  <a:extLst>
                    <a:ext uri="{9D8B030D-6E8A-4147-A177-3AD203B41FA5}">
                      <a16:colId xmlns:a16="http://schemas.microsoft.com/office/drawing/2014/main" val="20002"/>
                    </a:ext>
                  </a:extLst>
                </a:gridCol>
              </a:tblGrid>
              <a:tr h="821531">
                <a:tc>
                  <a:txBody>
                    <a:bodyPr/>
                    <a:lstStyle/>
                    <a:p>
                      <a:r>
                        <a:rPr sz="1725" b="1">
                          <a:solidFill>
                            <a:srgbClr val="FFFFFF"/>
                          </a:solidFill>
                          <a:latin typeface="DejaVu Sans"/>
                          <a:ea typeface="DejaVu Sans"/>
                          <a:cs typeface="DejaVu Sans"/>
                        </a:rPr>
                        <a:t>Estudio</a:t>
                      </a:r>
                    </a:p>
                  </a:txBody>
                  <a:tcPr>
                    <a:lnL w="9525">
                      <a:solidFill>
                        <a:srgbClr val="D7DED9"/>
                      </a:solidFill>
                      <a:prstDash val="soli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tc>
                  <a:txBody>
                    <a:bodyPr/>
                    <a:lstStyle/>
                    <a:p>
                      <a:r>
                        <a:rPr sz="1725" b="1">
                          <a:solidFill>
                            <a:srgbClr val="FFFFFF"/>
                          </a:solidFill>
                          <a:latin typeface="DejaVu Sans"/>
                          <a:ea typeface="DejaVu Sans"/>
                          <a:cs typeface="DejaVu Sans"/>
                        </a:rPr>
                        <a:t>Participantes y propósito</a:t>
                      </a:r>
                    </a:p>
                  </a:txBody>
                  <a:tcPr>
                    <a:lnL w="9525" cap="flat" cmpd="sng" algn="ctr">
                      <a:solidFill>
                        <a:srgbClr val="D7DED9"/>
                      </a:solidFill>
                      <a:prstDash val="solid"/>
                      <a:round/>
                      <a:headEnd type="none" w="med" len="med"/>
                      <a:tailEnd type="none" w="med" len="me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tc>
                  <a:txBody>
                    <a:bodyPr/>
                    <a:lstStyle/>
                    <a:p>
                      <a:r>
                        <a:rPr sz="1725" b="1">
                          <a:solidFill>
                            <a:srgbClr val="FFFFFF"/>
                          </a:solidFill>
                          <a:latin typeface="DejaVu Sans"/>
                          <a:ea typeface="DejaVu Sans"/>
                          <a:cs typeface="DejaVu Sans"/>
                        </a:rPr>
                        <a:t>Aporte</a:t>
                      </a:r>
                    </a:p>
                  </a:txBody>
                  <a:tcPr>
                    <a:lnL w="9525" cap="flat" cmpd="sng" algn="ctr">
                      <a:solidFill>
                        <a:srgbClr val="D7DED9"/>
                      </a:solidFill>
                      <a:prstDash val="solid"/>
                      <a:round/>
                      <a:headEnd type="none" w="med" len="med"/>
                      <a:tailEnd type="none" w="med" len="me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extLst>
                  <a:ext uri="{0D108BD9-81ED-4DB2-BD59-A6C34878D82A}">
                    <a16:rowId xmlns:a16="http://schemas.microsoft.com/office/drawing/2014/main" val="10000"/>
                  </a:ext>
                </a:extLst>
              </a:tr>
              <a:tr h="821531">
                <a:tc>
                  <a:txBody>
                    <a:bodyPr/>
                    <a:lstStyle/>
                    <a:p>
                      <a:r>
                        <a:rPr sz="1725" b="0">
                          <a:solidFill>
                            <a:srgbClr val="102B46"/>
                          </a:solidFill>
                          <a:latin typeface="DejaVu Sans"/>
                          <a:ea typeface="DejaVu Sans"/>
                          <a:cs typeface="DejaVu Sans"/>
                        </a:rPr>
                        <a:t>España, 2018</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725" b="0">
                          <a:solidFill>
                            <a:srgbClr val="102B46"/>
                          </a:solidFill>
                          <a:latin typeface="DejaVu Sans"/>
                          <a:ea typeface="DejaVu Sans"/>
                          <a:cs typeface="DejaVu Sans"/>
                        </a:rPr>
                        <a:t>1.062 estudiantes de último curso</a:t>
                      </a:r>
                    </a:p>
                    <a:p>
                      <a:r>
                        <a:rPr sz="1725" b="0">
                          <a:solidFill>
                            <a:srgbClr val="102B46"/>
                          </a:solidFill>
                          <a:latin typeface="DejaVu Sans"/>
                          <a:ea typeface="DejaVu Sans"/>
                          <a:cs typeface="DejaVu Sans"/>
                        </a:rPr>
                        <a:t>Universidad de Murcia</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725" b="0">
                          <a:solidFill>
                            <a:srgbClr val="102B46"/>
                          </a:solidFill>
                          <a:latin typeface="DejaVu Sans"/>
                          <a:ea typeface="DejaVu Sans"/>
                          <a:cs typeface="DejaVu Sans"/>
                        </a:rPr>
                        <a:t>Diseño y evaluación de la calidad del cuestionario</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1"/>
                  </a:ext>
                </a:extLst>
              </a:tr>
              <a:tr h="821531">
                <a:tc>
                  <a:txBody>
                    <a:bodyPr/>
                    <a:lstStyle/>
                    <a:p>
                      <a:r>
                        <a:rPr sz="1725" b="0">
                          <a:solidFill>
                            <a:srgbClr val="102B46"/>
                          </a:solidFill>
                          <a:latin typeface="DejaVu Sans"/>
                          <a:ea typeface="DejaVu Sans"/>
                          <a:cs typeface="DejaVu Sans"/>
                        </a:rPr>
                        <a:t>Perú, 2025</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tc>
                  <a:txBody>
                    <a:bodyPr/>
                    <a:lstStyle/>
                    <a:p>
                      <a:r>
                        <a:rPr sz="1725" b="0">
                          <a:solidFill>
                            <a:srgbClr val="102B46"/>
                          </a:solidFill>
                          <a:latin typeface="DejaVu Sans"/>
                          <a:ea typeface="DejaVu Sans"/>
                          <a:cs typeface="DejaVu Sans"/>
                        </a:rPr>
                        <a:t>242 estudiantes de seis carreras</a:t>
                      </a:r>
                    </a:p>
                    <a:p>
                      <a:r>
                        <a:rPr sz="1725" b="0">
                          <a:solidFill>
                            <a:srgbClr val="102B46"/>
                          </a:solidFill>
                          <a:latin typeface="DejaVu Sans"/>
                          <a:ea typeface="DejaVu Sans"/>
                          <a:cs typeface="DejaVu Sans"/>
                        </a:rPr>
                        <a:t>Muestra por conveniencia</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tc>
                  <a:txBody>
                    <a:bodyPr/>
                    <a:lstStyle/>
                    <a:p>
                      <a:r>
                        <a:rPr sz="1725" b="0">
                          <a:solidFill>
                            <a:srgbClr val="102B46"/>
                          </a:solidFill>
                          <a:latin typeface="DejaVu Sans"/>
                          <a:ea typeface="DejaVu Sans"/>
                          <a:cs typeface="DejaVu Sans"/>
                        </a:rPr>
                        <a:t>Comparación de competencias entre carreras</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extLst>
                  <a:ext uri="{0D108BD9-81ED-4DB2-BD59-A6C34878D82A}">
                    <a16:rowId xmlns:a16="http://schemas.microsoft.com/office/drawing/2014/main" val="10002"/>
                  </a:ext>
                </a:extLst>
              </a:tr>
              <a:tr h="821531">
                <a:tc>
                  <a:txBody>
                    <a:bodyPr/>
                    <a:lstStyle/>
                    <a:p>
                      <a:r>
                        <a:rPr sz="1725" b="0">
                          <a:solidFill>
                            <a:srgbClr val="102B46"/>
                          </a:solidFill>
                          <a:latin typeface="DejaVu Sans"/>
                          <a:ea typeface="DejaVu Sans"/>
                          <a:cs typeface="DejaVu Sans"/>
                        </a:rPr>
                        <a:t>Europa, 2020</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725" b="0">
                          <a:solidFill>
                            <a:srgbClr val="102B46"/>
                          </a:solidFill>
                          <a:latin typeface="DejaVu Sans"/>
                          <a:ea typeface="DejaVu Sans"/>
                          <a:cs typeface="DejaVu Sans"/>
                        </a:rPr>
                        <a:t>61 estudiantes líderes</a:t>
                      </a:r>
                    </a:p>
                    <a:p>
                      <a:r>
                        <a:rPr sz="1725" b="0">
                          <a:solidFill>
                            <a:srgbClr val="102B46"/>
                          </a:solidFill>
                          <a:latin typeface="DejaVu Sans"/>
                          <a:ea typeface="DejaVu Sans"/>
                          <a:cs typeface="DejaVu Sans"/>
                        </a:rPr>
                        <a:t>Cinco países</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725" b="0">
                          <a:solidFill>
                            <a:srgbClr val="102B46"/>
                          </a:solidFill>
                          <a:latin typeface="DejaVu Sans"/>
                          <a:ea typeface="DejaVu Sans"/>
                          <a:cs typeface="DejaVu Sans"/>
                        </a:rPr>
                        <a:t>Adaptación al inglés y evaluación de un programa</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text-3">
            <a:extLst>
              <a:ext uri="{FF2B5EF4-FFF2-40B4-BE49-F238E27FC236}">
                <a16:creationId xmlns:a16="http://schemas.microsoft.com/office/drawing/2014/main" id="{012C16C8-7C8F-43FD-BBD7-1217904FCC73}"/>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Las aplicaciones utilizan percepciones estudiantiles. Las fuentes completas están en las notas.</a:t>
            </a:r>
          </a:p>
        </p:txBody>
      </p:sp>
    </p:spTree>
    <p:extLst>
      <p:ext uri="{BB962C8B-B14F-4D97-AF65-F5344CB8AC3E}">
        <p14:creationId xmlns:p14="http://schemas.microsoft.com/office/powerpoint/2010/main" val="1074103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a:extLst>
            <a:ext uri="{FF2B5EF4-FFF2-40B4-BE49-F238E27FC236}">
              <a16:creationId xmlns:a16="http://schemas.microsoft.com/office/drawing/2014/main" id="{A7290D7E-A54F-45DC-E5AF-A97C45BE3ABA}"/>
            </a:ext>
          </a:extLst>
        </p:cNvPr>
        <p:cNvGrpSpPr/>
        <p:nvPr/>
      </p:nvGrpSpPr>
      <p:grpSpPr>
        <a:xfrm>
          <a:off x="0" y="0"/>
          <a:ext cx="0" cy="0"/>
          <a:chOff x="0" y="0"/>
          <a:chExt cx="0" cy="0"/>
        </a:xfrm>
      </p:grpSpPr>
      <p:sp>
        <p:nvSpPr>
          <p:cNvPr id="6" name="text-0">
            <a:extLst>
              <a:ext uri="{FF2B5EF4-FFF2-40B4-BE49-F238E27FC236}">
                <a16:creationId xmlns:a16="http://schemas.microsoft.com/office/drawing/2014/main" id="{4908DCC2-0646-DE30-967D-5172877809F4}"/>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ANTECEDENTES INTERNACIONALES</a:t>
            </a:r>
          </a:p>
        </p:txBody>
      </p:sp>
      <p:sp>
        <p:nvSpPr>
          <p:cNvPr id="2" name="text-1">
            <a:extLst>
              <a:ext uri="{FF2B5EF4-FFF2-40B4-BE49-F238E27FC236}">
                <a16:creationId xmlns:a16="http://schemas.microsoft.com/office/drawing/2014/main" id="{125AA110-B454-0C4A-2F72-0FE96F667FA7}"/>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lang="es-ES" sz="3150" b="1" dirty="0">
                <a:solidFill>
                  <a:srgbClr val="102B46"/>
                </a:solidFill>
                <a:latin typeface="DejaVu Sans"/>
                <a:ea typeface="DejaVu Sans"/>
                <a:cs typeface="DejaVu Sans"/>
              </a:rPr>
              <a:t>SOA</a:t>
            </a:r>
            <a:endParaRPr sz="3150" b="1" dirty="0">
              <a:solidFill>
                <a:srgbClr val="102B46"/>
              </a:solidFill>
              <a:latin typeface="DejaVu Sans"/>
              <a:ea typeface="DejaVu Sans"/>
              <a:cs typeface="DejaVu Sans"/>
            </a:endParaRPr>
          </a:p>
        </p:txBody>
      </p:sp>
      <p:sp>
        <p:nvSpPr>
          <p:cNvPr id="3" name="text-2">
            <a:extLst>
              <a:ext uri="{FF2B5EF4-FFF2-40B4-BE49-F238E27FC236}">
                <a16:creationId xmlns:a16="http://schemas.microsoft.com/office/drawing/2014/main" id="{20EE4B7A-94E8-B727-B555-AECA3675C695}"/>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dirty="0">
                <a:solidFill>
                  <a:srgbClr val="536575"/>
                </a:solidFill>
                <a:latin typeface="DejaVu Sans"/>
                <a:ea typeface="DejaVu Sans"/>
                <a:cs typeface="DejaVu Sans"/>
              </a:rPr>
              <a:t>0</a:t>
            </a:r>
            <a:r>
              <a:rPr lang="es-ES" sz="1125" b="0" dirty="0">
                <a:solidFill>
                  <a:srgbClr val="536575"/>
                </a:solidFill>
                <a:latin typeface="DejaVu Sans"/>
                <a:ea typeface="DejaVu Sans"/>
                <a:cs typeface="DejaVu Sans"/>
              </a:rPr>
              <a:t>7</a:t>
            </a:r>
            <a:endParaRPr sz="1125" b="0" dirty="0">
              <a:solidFill>
                <a:srgbClr val="536575"/>
              </a:solidFill>
              <a:latin typeface="DejaVu Sans"/>
              <a:ea typeface="DejaVu Sans"/>
              <a:cs typeface="DejaVu Sans"/>
            </a:endParaRPr>
          </a:p>
        </p:txBody>
      </p:sp>
      <p:pic>
        <p:nvPicPr>
          <p:cNvPr id="9" name="Imagen 8">
            <a:extLst>
              <a:ext uri="{FF2B5EF4-FFF2-40B4-BE49-F238E27FC236}">
                <a16:creationId xmlns:a16="http://schemas.microsoft.com/office/drawing/2014/main" id="{1B915472-23A5-100D-24E8-10BDAD4C137E}"/>
              </a:ext>
            </a:extLst>
          </p:cNvPr>
          <p:cNvPicPr>
            <a:picLocks noChangeAspect="1"/>
          </p:cNvPicPr>
          <p:nvPr/>
        </p:nvPicPr>
        <p:blipFill>
          <a:blip r:embed="rId3"/>
          <a:stretch>
            <a:fillRect/>
          </a:stretch>
        </p:blipFill>
        <p:spPr>
          <a:xfrm>
            <a:off x="2209800" y="656988"/>
            <a:ext cx="7772400" cy="5544024"/>
          </a:xfrm>
          <a:prstGeom prst="rect">
            <a:avLst/>
          </a:prstGeom>
        </p:spPr>
      </p:pic>
    </p:spTree>
    <p:extLst>
      <p:ext uri="{BB962C8B-B14F-4D97-AF65-F5344CB8AC3E}">
        <p14:creationId xmlns:p14="http://schemas.microsoft.com/office/powerpoint/2010/main" val="1895771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4536B78D-9761-4CA3-8C52-83847D5A7278}"/>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CONTEXTO INSTITUCIONAL</a:t>
            </a:r>
          </a:p>
        </p:txBody>
      </p:sp>
      <p:sp>
        <p:nvSpPr>
          <p:cNvPr id="2" name="text-1">
            <a:extLst>
              <a:ext uri="{FF2B5EF4-FFF2-40B4-BE49-F238E27FC236}">
                <a16:creationId xmlns:a16="http://schemas.microsoft.com/office/drawing/2014/main" id="{99E2EA91-4EDA-4517-B0F6-AD46684924BA}"/>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Un antecedente de la EPN: graduados FIEE, 2009</a:t>
            </a:r>
          </a:p>
        </p:txBody>
      </p:sp>
      <p:sp>
        <p:nvSpPr>
          <p:cNvPr id="3" name="text-2">
            <a:extLst>
              <a:ext uri="{FF2B5EF4-FFF2-40B4-BE49-F238E27FC236}">
                <a16:creationId xmlns:a16="http://schemas.microsoft.com/office/drawing/2014/main" id="{9182170D-269B-4F49-8110-23789E61024B}"/>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dirty="0">
                <a:solidFill>
                  <a:srgbClr val="536575"/>
                </a:solidFill>
                <a:latin typeface="DejaVu Sans"/>
                <a:ea typeface="DejaVu Sans"/>
                <a:cs typeface="DejaVu Sans"/>
              </a:rPr>
              <a:t>0</a:t>
            </a:r>
            <a:r>
              <a:rPr lang="es-ES" sz="1125" b="0" dirty="0">
                <a:solidFill>
                  <a:srgbClr val="536575"/>
                </a:solidFill>
                <a:latin typeface="DejaVu Sans"/>
                <a:ea typeface="DejaVu Sans"/>
                <a:cs typeface="DejaVu Sans"/>
              </a:rPr>
              <a:t>8</a:t>
            </a:r>
            <a:endParaRPr sz="1125" b="0" dirty="0">
              <a:solidFill>
                <a:srgbClr val="536575"/>
              </a:solidFill>
              <a:latin typeface="DejaVu Sans"/>
              <a:ea typeface="DejaVu Sans"/>
              <a:cs typeface="DejaVu Sans"/>
            </a:endParaRPr>
          </a:p>
        </p:txBody>
      </p:sp>
      <p:sp>
        <p:nvSpPr>
          <p:cNvPr id="4" name="text-3">
            <a:extLst>
              <a:ext uri="{FF2B5EF4-FFF2-40B4-BE49-F238E27FC236}">
                <a16:creationId xmlns:a16="http://schemas.microsoft.com/office/drawing/2014/main" id="{06A6B433-BFBC-459D-9F8B-3BA32F8A0076}"/>
              </a:ext>
            </a:extLst>
          </p:cNvPr>
          <p:cNvSpPr>
            <a:spLocks noGrp="1"/>
          </p:cNvSpPr>
          <p:nvPr/>
        </p:nvSpPr>
        <p:spPr>
          <a:xfrm>
            <a:off x="609600" y="1933575"/>
            <a:ext cx="10763250" cy="762000"/>
          </a:xfrm>
          <a:prstGeom prst="rect">
            <a:avLst/>
          </a:prstGeom>
          <a:noFill/>
          <a:ln w="0">
            <a:noFill/>
            <a:prstDash val="solid"/>
          </a:ln>
        </p:spPr>
        <p:txBody>
          <a:bodyPr lIns="0" tIns="0" rIns="0" bIns="0" anchor="t"/>
          <a:lstStyle>
            <a:defPPr>
              <a:defRPr sz="2175" b="1">
                <a:solidFill>
                  <a:srgbClr val="007F7B"/>
                </a:solidFill>
                <a:latin typeface="DejaVu Sans"/>
                <a:ea typeface="DejaVu Sans"/>
                <a:cs typeface="DejaVu Sans"/>
              </a:defRPr>
            </a:defPPr>
            <a:lvl1pPr>
              <a:defRPr sz="2175" b="1">
                <a:solidFill>
                  <a:srgbClr val="007F7B"/>
                </a:solidFill>
                <a:latin typeface="DejaVu Sans"/>
                <a:ea typeface="DejaVu Sans"/>
                <a:cs typeface="DejaVu Sans"/>
              </a:defRPr>
            </a:lvl1pPr>
            <a:lvl2pPr>
              <a:defRPr sz="2175" b="1">
                <a:solidFill>
                  <a:srgbClr val="007F7B"/>
                </a:solidFill>
                <a:latin typeface="DejaVu Sans"/>
                <a:ea typeface="DejaVu Sans"/>
                <a:cs typeface="DejaVu Sans"/>
              </a:defRPr>
            </a:lvl2pPr>
            <a:lvl3pPr>
              <a:defRPr sz="2175" b="1">
                <a:solidFill>
                  <a:srgbClr val="007F7B"/>
                </a:solidFill>
                <a:latin typeface="DejaVu Sans"/>
                <a:ea typeface="DejaVu Sans"/>
                <a:cs typeface="DejaVu Sans"/>
              </a:defRPr>
            </a:lvl3pPr>
            <a:lvl4pPr>
              <a:defRPr sz="2175" b="1">
                <a:solidFill>
                  <a:srgbClr val="007F7B"/>
                </a:solidFill>
                <a:latin typeface="DejaVu Sans"/>
                <a:ea typeface="DejaVu Sans"/>
                <a:cs typeface="DejaVu Sans"/>
              </a:defRPr>
            </a:lvl4pPr>
            <a:lvl5pPr>
              <a:defRPr sz="2175" b="1">
                <a:solidFill>
                  <a:srgbClr val="007F7B"/>
                </a:solidFill>
                <a:latin typeface="DejaVu Sans"/>
                <a:ea typeface="DejaVu Sans"/>
                <a:cs typeface="DejaVu Sans"/>
              </a:defRPr>
            </a:lvl5pPr>
            <a:lvl6pPr>
              <a:defRPr sz="2175" b="1">
                <a:solidFill>
                  <a:srgbClr val="007F7B"/>
                </a:solidFill>
                <a:latin typeface="DejaVu Sans"/>
                <a:ea typeface="DejaVu Sans"/>
                <a:cs typeface="DejaVu Sans"/>
              </a:defRPr>
            </a:lvl6pPr>
            <a:lvl7pPr>
              <a:defRPr sz="2175" b="1">
                <a:solidFill>
                  <a:srgbClr val="007F7B"/>
                </a:solidFill>
                <a:latin typeface="DejaVu Sans"/>
                <a:ea typeface="DejaVu Sans"/>
                <a:cs typeface="DejaVu Sans"/>
              </a:defRPr>
            </a:lvl7pPr>
            <a:lvl8pPr>
              <a:defRPr sz="2175" b="1">
                <a:solidFill>
                  <a:srgbClr val="007F7B"/>
                </a:solidFill>
                <a:latin typeface="DejaVu Sans"/>
                <a:ea typeface="DejaVu Sans"/>
                <a:cs typeface="DejaVu Sans"/>
              </a:defRPr>
            </a:lvl8pPr>
            <a:lvl9pPr>
              <a:defRPr sz="2175" b="1">
                <a:solidFill>
                  <a:srgbClr val="007F7B"/>
                </a:solidFill>
                <a:latin typeface="DejaVu Sans"/>
                <a:ea typeface="DejaVu Sans"/>
                <a:cs typeface="DejaVu Sans"/>
              </a:defRPr>
            </a:lvl9pPr>
          </a:lstStyle>
          <a:p>
            <a:pPr>
              <a:defRPr sz="2175" b="1">
                <a:solidFill>
                  <a:srgbClr val="007F7B"/>
                </a:solidFill>
                <a:latin typeface="DejaVu Sans"/>
                <a:ea typeface="DejaVu Sans"/>
                <a:cs typeface="DejaVu Sans"/>
              </a:defRPr>
            </a:pPr>
            <a:r>
              <a:rPr sz="2175" b="1">
                <a:solidFill>
                  <a:srgbClr val="007F7B"/>
                </a:solidFill>
                <a:latin typeface="DejaVu Sans"/>
                <a:ea typeface="DejaVu Sans"/>
                <a:cs typeface="DejaVu Sans"/>
              </a:rPr>
              <a:t>147 graduados de cuatro carreras. Comparación entre competencias requeridas y desarrolladas.</a:t>
            </a:r>
          </a:p>
        </p:txBody>
      </p:sp>
      <p:graphicFrame>
        <p:nvGraphicFramePr>
          <p:cNvPr id="5" name="Chart">
            <a:extLst>
              <a:ext uri="{FF2B5EF4-FFF2-40B4-BE49-F238E27FC236}">
                <a16:creationId xmlns:a16="http://schemas.microsoft.com/office/drawing/2014/main" id="{7CB18715-DEC0-4A48-9784-0409FB2C7E7A}"/>
              </a:ext>
            </a:extLst>
          </p:cNvPr>
          <p:cNvGraphicFramePr/>
          <p:nvPr/>
        </p:nvGraphicFramePr>
        <p:xfrm>
          <a:off x="609600" y="2943225"/>
          <a:ext cx="10668000" cy="2667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
            <a:extLst>
              <a:ext uri="{FF2B5EF4-FFF2-40B4-BE49-F238E27FC236}">
                <a16:creationId xmlns:a16="http://schemas.microsoft.com/office/drawing/2014/main" id="{F231A5C8-376B-492C-B5C8-51E1A23A0993}"/>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Fuente: Molina, J. y Sánchez, T. (2009). Encuesta a graduados de la FIEE, EPN. Figura 105, p. 61.</a:t>
            </a:r>
          </a:p>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Valores: conteos de selección según graduados.</a:t>
            </a:r>
          </a:p>
        </p:txBody>
      </p:sp>
    </p:spTree>
    <p:extLst>
      <p:ext uri="{BB962C8B-B14F-4D97-AF65-F5344CB8AC3E}">
        <p14:creationId xmlns:p14="http://schemas.microsoft.com/office/powerpoint/2010/main" val="308109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9F20F370-CF22-44DE-96B4-F09C79706403}"/>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ENFOQUE ACTUALIZADO</a:t>
            </a:r>
          </a:p>
        </p:txBody>
      </p:sp>
      <p:sp>
        <p:nvSpPr>
          <p:cNvPr id="2" name="text-1">
            <a:extLst>
              <a:ext uri="{FF2B5EF4-FFF2-40B4-BE49-F238E27FC236}">
                <a16:creationId xmlns:a16="http://schemas.microsoft.com/office/drawing/2014/main" id="{AA8D9978-093D-4509-BC09-7EEC10941B03}"/>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Estudiantes como población principal</a:t>
            </a:r>
          </a:p>
        </p:txBody>
      </p:sp>
      <p:sp>
        <p:nvSpPr>
          <p:cNvPr id="3" name="text-2">
            <a:extLst>
              <a:ext uri="{FF2B5EF4-FFF2-40B4-BE49-F238E27FC236}">
                <a16:creationId xmlns:a16="http://schemas.microsoft.com/office/drawing/2014/main" id="{4B365CBF-3BBE-43AA-AB47-E4F9A4EC1284}"/>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sz="1125" b="0" dirty="0">
                <a:solidFill>
                  <a:srgbClr val="536575"/>
                </a:solidFill>
                <a:latin typeface="DejaVu Sans"/>
                <a:ea typeface="DejaVu Sans"/>
                <a:cs typeface="DejaVu Sans"/>
              </a:rPr>
              <a:t>0</a:t>
            </a:r>
            <a:r>
              <a:rPr lang="es-ES" sz="1125" b="0" dirty="0">
                <a:solidFill>
                  <a:srgbClr val="536575"/>
                </a:solidFill>
                <a:latin typeface="DejaVu Sans"/>
                <a:ea typeface="DejaVu Sans"/>
                <a:cs typeface="DejaVu Sans"/>
              </a:rPr>
              <a:t>9</a:t>
            </a:r>
          </a:p>
          <a:p>
            <a:pPr>
              <a:defRPr sz="1125" b="0">
                <a:solidFill>
                  <a:srgbClr val="536575"/>
                </a:solidFill>
                <a:latin typeface="DejaVu Sans"/>
                <a:ea typeface="DejaVu Sans"/>
                <a:cs typeface="DejaVu Sans"/>
              </a:defRPr>
            </a:pPr>
            <a:endParaRPr sz="1125" b="0" dirty="0">
              <a:solidFill>
                <a:srgbClr val="536575"/>
              </a:solidFill>
              <a:latin typeface="DejaVu Sans"/>
              <a:ea typeface="DejaVu Sans"/>
              <a:cs typeface="DejaVu Sans"/>
            </a:endParaRPr>
          </a:p>
        </p:txBody>
      </p:sp>
      <p:sp>
        <p:nvSpPr>
          <p:cNvPr id="4" name="text-3">
            <a:extLst>
              <a:ext uri="{FF2B5EF4-FFF2-40B4-BE49-F238E27FC236}">
                <a16:creationId xmlns:a16="http://schemas.microsoft.com/office/drawing/2014/main" id="{EC2DDD91-4CB2-48BB-9E1B-99F3A7A2D7A7}"/>
              </a:ext>
            </a:extLst>
          </p:cNvPr>
          <p:cNvSpPr>
            <a:spLocks noGrp="1"/>
          </p:cNvSpPr>
          <p:nvPr/>
        </p:nvSpPr>
        <p:spPr>
          <a:xfrm>
            <a:off x="609600" y="1952625"/>
            <a:ext cx="10810875" cy="1114425"/>
          </a:xfrm>
          <a:prstGeom prst="rect">
            <a:avLst/>
          </a:prstGeom>
          <a:noFill/>
          <a:ln w="0">
            <a:noFill/>
            <a:prstDash val="solid"/>
          </a:ln>
        </p:spPr>
        <p:txBody>
          <a:bodyPr lIns="0" tIns="0" rIns="0" bIns="0" anchor="t"/>
          <a:lstStyle>
            <a:defPPr>
              <a:defRPr sz="2700" b="1">
                <a:solidFill>
                  <a:srgbClr val="007F7B"/>
                </a:solidFill>
                <a:latin typeface="DejaVu Sans"/>
                <a:ea typeface="DejaVu Sans"/>
                <a:cs typeface="DejaVu Sans"/>
              </a:defRPr>
            </a:defPPr>
            <a:lvl1pPr>
              <a:defRPr sz="2700" b="1">
                <a:solidFill>
                  <a:srgbClr val="007F7B"/>
                </a:solidFill>
                <a:latin typeface="DejaVu Sans"/>
                <a:ea typeface="DejaVu Sans"/>
                <a:cs typeface="DejaVu Sans"/>
              </a:defRPr>
            </a:lvl1pPr>
            <a:lvl2pPr>
              <a:defRPr sz="2700" b="1">
                <a:solidFill>
                  <a:srgbClr val="007F7B"/>
                </a:solidFill>
                <a:latin typeface="DejaVu Sans"/>
                <a:ea typeface="DejaVu Sans"/>
                <a:cs typeface="DejaVu Sans"/>
              </a:defRPr>
            </a:lvl2pPr>
            <a:lvl3pPr>
              <a:defRPr sz="2700" b="1">
                <a:solidFill>
                  <a:srgbClr val="007F7B"/>
                </a:solidFill>
                <a:latin typeface="DejaVu Sans"/>
                <a:ea typeface="DejaVu Sans"/>
                <a:cs typeface="DejaVu Sans"/>
              </a:defRPr>
            </a:lvl3pPr>
            <a:lvl4pPr>
              <a:defRPr sz="2700" b="1">
                <a:solidFill>
                  <a:srgbClr val="007F7B"/>
                </a:solidFill>
                <a:latin typeface="DejaVu Sans"/>
                <a:ea typeface="DejaVu Sans"/>
                <a:cs typeface="DejaVu Sans"/>
              </a:defRPr>
            </a:lvl4pPr>
            <a:lvl5pPr>
              <a:defRPr sz="2700" b="1">
                <a:solidFill>
                  <a:srgbClr val="007F7B"/>
                </a:solidFill>
                <a:latin typeface="DejaVu Sans"/>
                <a:ea typeface="DejaVu Sans"/>
                <a:cs typeface="DejaVu Sans"/>
              </a:defRPr>
            </a:lvl5pPr>
            <a:lvl6pPr>
              <a:defRPr sz="2700" b="1">
                <a:solidFill>
                  <a:srgbClr val="007F7B"/>
                </a:solidFill>
                <a:latin typeface="DejaVu Sans"/>
                <a:ea typeface="DejaVu Sans"/>
                <a:cs typeface="DejaVu Sans"/>
              </a:defRPr>
            </a:lvl6pPr>
            <a:lvl7pPr>
              <a:defRPr sz="2700" b="1">
                <a:solidFill>
                  <a:srgbClr val="007F7B"/>
                </a:solidFill>
                <a:latin typeface="DejaVu Sans"/>
                <a:ea typeface="DejaVu Sans"/>
                <a:cs typeface="DejaVu Sans"/>
              </a:defRPr>
            </a:lvl7pPr>
            <a:lvl8pPr>
              <a:defRPr sz="2700" b="1">
                <a:solidFill>
                  <a:srgbClr val="007F7B"/>
                </a:solidFill>
                <a:latin typeface="DejaVu Sans"/>
                <a:ea typeface="DejaVu Sans"/>
                <a:cs typeface="DejaVu Sans"/>
              </a:defRPr>
            </a:lvl8pPr>
            <a:lvl9pPr>
              <a:defRPr sz="2700" b="1">
                <a:solidFill>
                  <a:srgbClr val="007F7B"/>
                </a:solidFill>
                <a:latin typeface="DejaVu Sans"/>
                <a:ea typeface="DejaVu Sans"/>
                <a:cs typeface="DejaVu Sans"/>
              </a:defRPr>
            </a:lvl9pPr>
          </a:lstStyle>
          <a:p>
            <a:pPr>
              <a:defRPr sz="2700" b="1">
                <a:solidFill>
                  <a:srgbClr val="007F7B"/>
                </a:solidFill>
                <a:latin typeface="DejaVu Sans"/>
                <a:ea typeface="DejaVu Sans"/>
                <a:cs typeface="DejaVu Sans"/>
              </a:defRPr>
            </a:pPr>
            <a:r>
              <a:rPr sz="2700" b="1">
                <a:solidFill>
                  <a:srgbClr val="007F7B"/>
                </a:solidFill>
                <a:latin typeface="DejaVu Sans"/>
                <a:ea typeface="DejaVu Sans"/>
                <a:cs typeface="DejaVu Sans"/>
              </a:rPr>
              <a:t>Estudiantes actualmente matriculados en la EPN que hayan realizado prácticas en los últimos 12 meses.</a:t>
            </a:r>
          </a:p>
        </p:txBody>
      </p:sp>
      <p:graphicFrame>
        <p:nvGraphicFramePr>
          <p:cNvPr id="5" name="Tabla 4">
            <a:extLst>
              <a:ext uri="{FF2B5EF4-FFF2-40B4-BE49-F238E27FC236}">
                <a16:creationId xmlns:a16="http://schemas.microsoft.com/office/drawing/2014/main" id="{98C641F6-B0D2-41C7-B6D6-A08382E58178}"/>
              </a:ext>
            </a:extLst>
          </p:cNvPr>
          <p:cNvGraphicFramePr/>
          <p:nvPr/>
        </p:nvGraphicFramePr>
        <p:xfrm>
          <a:off x="609600" y="3524250"/>
          <a:ext cx="10953750" cy="2143124"/>
        </p:xfrm>
        <a:graphic>
          <a:graphicData uri="http://schemas.openxmlformats.org/drawingml/2006/table">
            <a:tbl>
              <a:tblPr/>
              <a:tblGrid>
                <a:gridCol w="314325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535781">
                <a:tc>
                  <a:txBody>
                    <a:bodyPr/>
                    <a:lstStyle/>
                    <a:p>
                      <a:r>
                        <a:rPr sz="1800" b="1">
                          <a:solidFill>
                            <a:srgbClr val="FFFFFF"/>
                          </a:solidFill>
                          <a:latin typeface="DejaVu Sans"/>
                          <a:ea typeface="DejaVu Sans"/>
                          <a:cs typeface="DejaVu Sans"/>
                        </a:rPr>
                        <a:t>Decisión pendiente</a:t>
                      </a:r>
                    </a:p>
                  </a:txBody>
                  <a:tcPr>
                    <a:lnL w="9525">
                      <a:solidFill>
                        <a:srgbClr val="D7DED9"/>
                      </a:solidFill>
                      <a:prstDash val="soli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tc>
                  <a:txBody>
                    <a:bodyPr/>
                    <a:lstStyle/>
                    <a:p>
                      <a:r>
                        <a:rPr sz="1800" b="1">
                          <a:solidFill>
                            <a:srgbClr val="FFFFFF"/>
                          </a:solidFill>
                          <a:latin typeface="DejaVu Sans"/>
                          <a:ea typeface="DejaVu Sans"/>
                          <a:cs typeface="DejaVu Sans"/>
                        </a:rPr>
                        <a:t>Qué debemos precisar</a:t>
                      </a:r>
                    </a:p>
                  </a:txBody>
                  <a:tcPr>
                    <a:lnL w="9525" cap="flat" cmpd="sng" algn="ctr">
                      <a:solidFill>
                        <a:srgbClr val="D7DED9"/>
                      </a:solidFill>
                      <a:prstDash val="solid"/>
                      <a:round/>
                      <a:headEnd type="none" w="med" len="med"/>
                      <a:tailEnd type="none" w="med" len="me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extLst>
                  <a:ext uri="{0D108BD9-81ED-4DB2-BD59-A6C34878D82A}">
                    <a16:rowId xmlns:a16="http://schemas.microsoft.com/office/drawing/2014/main" val="10000"/>
                  </a:ext>
                </a:extLst>
              </a:tr>
              <a:tr h="535781">
                <a:tc>
                  <a:txBody>
                    <a:bodyPr/>
                    <a:lstStyle/>
                    <a:p>
                      <a:r>
                        <a:rPr sz="1800" b="0">
                          <a:solidFill>
                            <a:srgbClr val="102B46"/>
                          </a:solidFill>
                          <a:latin typeface="DejaVu Sans"/>
                          <a:ea typeface="DejaVu Sans"/>
                          <a:cs typeface="DejaVu Sans"/>
                        </a:rPr>
                        <a:t>Periodo y experiencia</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00" b="0">
                          <a:solidFill>
                            <a:srgbClr val="102B46"/>
                          </a:solidFill>
                          <a:latin typeface="DejaVu Sans"/>
                          <a:ea typeface="DejaVu Sans"/>
                          <a:cs typeface="DejaVu Sans"/>
                        </a:rPr>
                        <a:t>Fecha de corte y prácticas finalizadas o en curso</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1"/>
                  </a:ext>
                </a:extLst>
              </a:tr>
              <a:tr h="535781">
                <a:tc>
                  <a:txBody>
                    <a:bodyPr/>
                    <a:lstStyle/>
                    <a:p>
                      <a:r>
                        <a:rPr sz="1800" b="0">
                          <a:solidFill>
                            <a:srgbClr val="102B46"/>
                          </a:solidFill>
                          <a:latin typeface="DejaVu Sans"/>
                          <a:ea typeface="DejaVu Sans"/>
                          <a:cs typeface="DejaVu Sans"/>
                        </a:rPr>
                        <a:t>Cobertura</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tc>
                  <a:txBody>
                    <a:bodyPr/>
                    <a:lstStyle/>
                    <a:p>
                      <a:r>
                        <a:rPr sz="1800" b="0">
                          <a:solidFill>
                            <a:srgbClr val="102B46"/>
                          </a:solidFill>
                          <a:latin typeface="DejaVu Sans"/>
                          <a:ea typeface="DejaVu Sans"/>
                          <a:cs typeface="DejaVu Sans"/>
                        </a:rPr>
                        <a:t>Carreras y estudiantes incluidos en el marco</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extLst>
                  <a:ext uri="{0D108BD9-81ED-4DB2-BD59-A6C34878D82A}">
                    <a16:rowId xmlns:a16="http://schemas.microsoft.com/office/drawing/2014/main" val="10002"/>
                  </a:ext>
                </a:extLst>
              </a:tr>
              <a:tr h="535781">
                <a:tc>
                  <a:txBody>
                    <a:bodyPr/>
                    <a:lstStyle/>
                    <a:p>
                      <a:r>
                        <a:rPr sz="1800" b="0">
                          <a:solidFill>
                            <a:srgbClr val="102B46"/>
                          </a:solidFill>
                          <a:latin typeface="DejaVu Sans"/>
                          <a:ea typeface="DejaVu Sans"/>
                          <a:cs typeface="DejaVu Sans"/>
                        </a:rPr>
                        <a:t>Unidad de estudio</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00" b="0">
                          <a:solidFill>
                            <a:srgbClr val="102B46"/>
                          </a:solidFill>
                          <a:latin typeface="DejaVu Sans"/>
                          <a:ea typeface="DejaVu Sans"/>
                          <a:cs typeface="DejaVu Sans"/>
                        </a:rPr>
                        <a:t>Una encuesta por estudiante y una experiencia de referencia</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text-4">
            <a:extLst>
              <a:ext uri="{FF2B5EF4-FFF2-40B4-BE49-F238E27FC236}">
                <a16:creationId xmlns:a16="http://schemas.microsoft.com/office/drawing/2014/main" id="{5254649E-4068-4DA4-99BB-2FCFA3C83E50}"/>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Para extender los resultados a esta población, necesitamos selección al azar y seguimiento de quienes no respondan.</a:t>
            </a:r>
          </a:p>
        </p:txBody>
      </p:sp>
    </p:spTree>
    <p:extLst>
      <p:ext uri="{BB962C8B-B14F-4D97-AF65-F5344CB8AC3E}">
        <p14:creationId xmlns:p14="http://schemas.microsoft.com/office/powerpoint/2010/main" val="1739749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E049AA07-1DC7-469D-8BBD-4F0AED8712B7}"/>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ALCANCE DE LOS OTROS COMPONENTES</a:t>
            </a:r>
          </a:p>
        </p:txBody>
      </p:sp>
      <p:sp>
        <p:nvSpPr>
          <p:cNvPr id="2" name="text-1">
            <a:extLst>
              <a:ext uri="{FF2B5EF4-FFF2-40B4-BE49-F238E27FC236}">
                <a16:creationId xmlns:a16="http://schemas.microsoft.com/office/drawing/2014/main" id="{ED6B1FEB-BF81-4426-8A7A-61396AE08864}"/>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Graduados y supervisores: evidencia complementaria</a:t>
            </a:r>
          </a:p>
        </p:txBody>
      </p:sp>
      <p:sp>
        <p:nvSpPr>
          <p:cNvPr id="3" name="text-2">
            <a:extLst>
              <a:ext uri="{FF2B5EF4-FFF2-40B4-BE49-F238E27FC236}">
                <a16:creationId xmlns:a16="http://schemas.microsoft.com/office/drawing/2014/main" id="{B28B6AA6-5A3D-45B3-A412-6FBD32258282}"/>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lang="es-ES" dirty="0"/>
              <a:t>10</a:t>
            </a:r>
            <a:endParaRPr sz="1125" b="0" dirty="0">
              <a:solidFill>
                <a:srgbClr val="536575"/>
              </a:solidFill>
              <a:latin typeface="DejaVu Sans"/>
              <a:ea typeface="DejaVu Sans"/>
              <a:cs typeface="DejaVu Sans"/>
            </a:endParaRPr>
          </a:p>
        </p:txBody>
      </p:sp>
      <p:sp>
        <p:nvSpPr>
          <p:cNvPr id="4" name="text-3">
            <a:extLst>
              <a:ext uri="{FF2B5EF4-FFF2-40B4-BE49-F238E27FC236}">
                <a16:creationId xmlns:a16="http://schemas.microsoft.com/office/drawing/2014/main" id="{67C9F986-D00F-4889-A470-8A1345EF3F58}"/>
              </a:ext>
            </a:extLst>
          </p:cNvPr>
          <p:cNvSpPr>
            <a:spLocks noGrp="1"/>
          </p:cNvSpPr>
          <p:nvPr/>
        </p:nvSpPr>
        <p:spPr>
          <a:xfrm>
            <a:off x="609600" y="2076450"/>
            <a:ext cx="5048250" cy="447675"/>
          </a:xfrm>
          <a:prstGeom prst="rect">
            <a:avLst/>
          </a:prstGeom>
          <a:noFill/>
          <a:ln w="0">
            <a:noFill/>
            <a:prstDash val="solid"/>
          </a:ln>
        </p:spPr>
        <p:txBody>
          <a:bodyPr lIns="0" tIns="0" rIns="0" bIns="0" anchor="t"/>
          <a:lstStyle>
            <a:defPPr>
              <a:defRPr sz="2250" b="1">
                <a:solidFill>
                  <a:srgbClr val="007F7B"/>
                </a:solidFill>
                <a:latin typeface="DejaVu Sans"/>
                <a:ea typeface="DejaVu Sans"/>
                <a:cs typeface="DejaVu Sans"/>
              </a:defRPr>
            </a:defPPr>
            <a:lvl1pPr>
              <a:defRPr sz="2250" b="1">
                <a:solidFill>
                  <a:srgbClr val="007F7B"/>
                </a:solidFill>
                <a:latin typeface="DejaVu Sans"/>
                <a:ea typeface="DejaVu Sans"/>
                <a:cs typeface="DejaVu Sans"/>
              </a:defRPr>
            </a:lvl1pPr>
            <a:lvl2pPr>
              <a:defRPr sz="2250" b="1">
                <a:solidFill>
                  <a:srgbClr val="007F7B"/>
                </a:solidFill>
                <a:latin typeface="DejaVu Sans"/>
                <a:ea typeface="DejaVu Sans"/>
                <a:cs typeface="DejaVu Sans"/>
              </a:defRPr>
            </a:lvl2pPr>
            <a:lvl3pPr>
              <a:defRPr sz="2250" b="1">
                <a:solidFill>
                  <a:srgbClr val="007F7B"/>
                </a:solidFill>
                <a:latin typeface="DejaVu Sans"/>
                <a:ea typeface="DejaVu Sans"/>
                <a:cs typeface="DejaVu Sans"/>
              </a:defRPr>
            </a:lvl3pPr>
            <a:lvl4pPr>
              <a:defRPr sz="2250" b="1">
                <a:solidFill>
                  <a:srgbClr val="007F7B"/>
                </a:solidFill>
                <a:latin typeface="DejaVu Sans"/>
                <a:ea typeface="DejaVu Sans"/>
                <a:cs typeface="DejaVu Sans"/>
              </a:defRPr>
            </a:lvl4pPr>
            <a:lvl5pPr>
              <a:defRPr sz="2250" b="1">
                <a:solidFill>
                  <a:srgbClr val="007F7B"/>
                </a:solidFill>
                <a:latin typeface="DejaVu Sans"/>
                <a:ea typeface="DejaVu Sans"/>
                <a:cs typeface="DejaVu Sans"/>
              </a:defRPr>
            </a:lvl5pPr>
            <a:lvl6pPr>
              <a:defRPr sz="2250" b="1">
                <a:solidFill>
                  <a:srgbClr val="007F7B"/>
                </a:solidFill>
                <a:latin typeface="DejaVu Sans"/>
                <a:ea typeface="DejaVu Sans"/>
                <a:cs typeface="DejaVu Sans"/>
              </a:defRPr>
            </a:lvl6pPr>
            <a:lvl7pPr>
              <a:defRPr sz="2250" b="1">
                <a:solidFill>
                  <a:srgbClr val="007F7B"/>
                </a:solidFill>
                <a:latin typeface="DejaVu Sans"/>
                <a:ea typeface="DejaVu Sans"/>
                <a:cs typeface="DejaVu Sans"/>
              </a:defRPr>
            </a:lvl7pPr>
            <a:lvl8pPr>
              <a:defRPr sz="2250" b="1">
                <a:solidFill>
                  <a:srgbClr val="007F7B"/>
                </a:solidFill>
                <a:latin typeface="DejaVu Sans"/>
                <a:ea typeface="DejaVu Sans"/>
                <a:cs typeface="DejaVu Sans"/>
              </a:defRPr>
            </a:lvl8pPr>
            <a:lvl9pPr>
              <a:defRPr sz="2250" b="1">
                <a:solidFill>
                  <a:srgbClr val="007F7B"/>
                </a:solidFill>
                <a:latin typeface="DejaVu Sans"/>
                <a:ea typeface="DejaVu Sans"/>
                <a:cs typeface="DejaVu Sans"/>
              </a:defRPr>
            </a:lvl9pPr>
          </a:lstStyle>
          <a:p>
            <a:pPr>
              <a:defRPr sz="2250" b="1">
                <a:solidFill>
                  <a:srgbClr val="007F7B"/>
                </a:solidFill>
                <a:latin typeface="DejaVu Sans"/>
                <a:ea typeface="DejaVu Sans"/>
                <a:cs typeface="DejaVu Sans"/>
              </a:defRPr>
            </a:pPr>
            <a:r>
              <a:rPr sz="2250" b="1">
                <a:solidFill>
                  <a:srgbClr val="007F7B"/>
                </a:solidFill>
                <a:latin typeface="DejaVu Sans"/>
                <a:ea typeface="DejaVu Sans"/>
                <a:cs typeface="DejaVu Sans"/>
              </a:rPr>
              <a:t>Graduados</a:t>
            </a:r>
          </a:p>
        </p:txBody>
      </p:sp>
      <p:sp>
        <p:nvSpPr>
          <p:cNvPr id="5" name="text-4">
            <a:extLst>
              <a:ext uri="{FF2B5EF4-FFF2-40B4-BE49-F238E27FC236}">
                <a16:creationId xmlns:a16="http://schemas.microsoft.com/office/drawing/2014/main" id="{0424C38D-2964-4811-9FB2-9A07C1432FE1}"/>
              </a:ext>
            </a:extLst>
          </p:cNvPr>
          <p:cNvSpPr>
            <a:spLocks noGrp="1"/>
          </p:cNvSpPr>
          <p:nvPr/>
        </p:nvSpPr>
        <p:spPr>
          <a:xfrm>
            <a:off x="609600" y="2686050"/>
            <a:ext cx="5048250" cy="2667000"/>
          </a:xfrm>
          <a:prstGeom prst="rect">
            <a:avLst/>
          </a:prstGeom>
          <a:noFill/>
          <a:ln w="0">
            <a:noFill/>
            <a:prstDash val="solid"/>
          </a:ln>
        </p:spPr>
        <p:txBody>
          <a:bodyPr lIns="0" tIns="0" rIns="0" bIns="0" anchor="t"/>
          <a:lstStyle>
            <a:defPPr>
              <a:defRPr sz="2025" b="0">
                <a:solidFill>
                  <a:srgbClr val="102B46"/>
                </a:solidFill>
                <a:latin typeface="DejaVu Sans"/>
                <a:ea typeface="DejaVu Sans"/>
                <a:cs typeface="DejaVu Sans"/>
              </a:defRPr>
            </a:defPPr>
            <a:lvl1pPr>
              <a:defRPr sz="2025" b="0">
                <a:solidFill>
                  <a:srgbClr val="102B46"/>
                </a:solidFill>
                <a:latin typeface="DejaVu Sans"/>
                <a:ea typeface="DejaVu Sans"/>
                <a:cs typeface="DejaVu Sans"/>
              </a:defRPr>
            </a:lvl1pPr>
            <a:lvl2pPr>
              <a:defRPr sz="2025" b="0">
                <a:solidFill>
                  <a:srgbClr val="102B46"/>
                </a:solidFill>
                <a:latin typeface="DejaVu Sans"/>
                <a:ea typeface="DejaVu Sans"/>
                <a:cs typeface="DejaVu Sans"/>
              </a:defRPr>
            </a:lvl2pPr>
            <a:lvl3pPr>
              <a:defRPr sz="2025" b="0">
                <a:solidFill>
                  <a:srgbClr val="102B46"/>
                </a:solidFill>
                <a:latin typeface="DejaVu Sans"/>
                <a:ea typeface="DejaVu Sans"/>
                <a:cs typeface="DejaVu Sans"/>
              </a:defRPr>
            </a:lvl3pPr>
            <a:lvl4pPr>
              <a:defRPr sz="2025" b="0">
                <a:solidFill>
                  <a:srgbClr val="102B46"/>
                </a:solidFill>
                <a:latin typeface="DejaVu Sans"/>
                <a:ea typeface="DejaVu Sans"/>
                <a:cs typeface="DejaVu Sans"/>
              </a:defRPr>
            </a:lvl4pPr>
            <a:lvl5pPr>
              <a:defRPr sz="2025" b="0">
                <a:solidFill>
                  <a:srgbClr val="102B46"/>
                </a:solidFill>
                <a:latin typeface="DejaVu Sans"/>
                <a:ea typeface="DejaVu Sans"/>
                <a:cs typeface="DejaVu Sans"/>
              </a:defRPr>
            </a:lvl5pPr>
            <a:lvl6pPr>
              <a:defRPr sz="2025" b="0">
                <a:solidFill>
                  <a:srgbClr val="102B46"/>
                </a:solidFill>
                <a:latin typeface="DejaVu Sans"/>
                <a:ea typeface="DejaVu Sans"/>
                <a:cs typeface="DejaVu Sans"/>
              </a:defRPr>
            </a:lvl6pPr>
            <a:lvl7pPr>
              <a:defRPr sz="2025" b="0">
                <a:solidFill>
                  <a:srgbClr val="102B46"/>
                </a:solidFill>
                <a:latin typeface="DejaVu Sans"/>
                <a:ea typeface="DejaVu Sans"/>
                <a:cs typeface="DejaVu Sans"/>
              </a:defRPr>
            </a:lvl7pPr>
            <a:lvl8pPr>
              <a:defRPr sz="2025" b="0">
                <a:solidFill>
                  <a:srgbClr val="102B46"/>
                </a:solidFill>
                <a:latin typeface="DejaVu Sans"/>
                <a:ea typeface="DejaVu Sans"/>
                <a:cs typeface="DejaVu Sans"/>
              </a:defRPr>
            </a:lvl8pPr>
            <a:lvl9pPr>
              <a:defRPr sz="2025" b="0">
                <a:solidFill>
                  <a:srgbClr val="102B46"/>
                </a:solidFill>
                <a:latin typeface="DejaVu Sans"/>
                <a:ea typeface="DejaVu Sans"/>
                <a:cs typeface="DejaVu Sans"/>
              </a:defRPr>
            </a:lvl9pPr>
          </a:lstStyle>
          <a:p>
            <a:pPr>
              <a:defRPr sz="2025" b="0">
                <a:solidFill>
                  <a:srgbClr val="102B46"/>
                </a:solidFill>
                <a:latin typeface="DejaVu Sans"/>
                <a:ea typeface="DejaVu Sans"/>
                <a:cs typeface="DejaVu Sans"/>
              </a:defRPr>
            </a:pPr>
            <a:r>
              <a:rPr sz="2025" b="0">
                <a:solidFill>
                  <a:srgbClr val="102B46"/>
                </a:solidFill>
                <a:latin typeface="DejaVu Sans"/>
                <a:ea typeface="DejaVu Sans"/>
                <a:cs typeface="DejaVu Sans"/>
              </a:rPr>
              <a:t>Invitación por canales institucionales.</a:t>
            </a:r>
          </a:p>
          <a:p>
            <a:endParaRPr sz="2025" b="0">
              <a:solidFill>
                <a:srgbClr val="102B46"/>
              </a:solidFill>
              <a:latin typeface="DejaVu Sans"/>
              <a:ea typeface="DejaVu Sans"/>
              <a:cs typeface="DejaVu Sans"/>
            </a:endParaRPr>
          </a:p>
          <a:p>
            <a:pPr>
              <a:defRPr sz="2025" b="0">
                <a:solidFill>
                  <a:srgbClr val="102B46"/>
                </a:solidFill>
                <a:latin typeface="DejaVu Sans"/>
                <a:ea typeface="DejaVu Sans"/>
                <a:cs typeface="DejaVu Sans"/>
              </a:defRPr>
            </a:pPr>
            <a:r>
              <a:rPr sz="2025" b="0">
                <a:solidFill>
                  <a:srgbClr val="102B46"/>
                </a:solidFill>
                <a:latin typeface="DejaVu Sans"/>
                <a:ea typeface="DejaVu Sans"/>
                <a:cs typeface="DejaVu Sans"/>
              </a:rPr>
              <a:t>Descripción de quienes respondan, sin generalizar a todos los graduados.</a:t>
            </a:r>
          </a:p>
        </p:txBody>
      </p:sp>
      <p:sp>
        <p:nvSpPr>
          <p:cNvPr id="6" name="text-5">
            <a:extLst>
              <a:ext uri="{FF2B5EF4-FFF2-40B4-BE49-F238E27FC236}">
                <a16:creationId xmlns:a16="http://schemas.microsoft.com/office/drawing/2014/main" id="{1B7B2923-5988-49C0-927E-A3BFED1A4A71}"/>
              </a:ext>
            </a:extLst>
          </p:cNvPr>
          <p:cNvSpPr>
            <a:spLocks noGrp="1"/>
          </p:cNvSpPr>
          <p:nvPr/>
        </p:nvSpPr>
        <p:spPr>
          <a:xfrm>
            <a:off x="6477000" y="2076450"/>
            <a:ext cx="5048250" cy="447675"/>
          </a:xfrm>
          <a:prstGeom prst="rect">
            <a:avLst/>
          </a:prstGeom>
          <a:noFill/>
          <a:ln w="0">
            <a:noFill/>
            <a:prstDash val="solid"/>
          </a:ln>
        </p:spPr>
        <p:txBody>
          <a:bodyPr lIns="0" tIns="0" rIns="0" bIns="0" anchor="t"/>
          <a:lstStyle>
            <a:defPPr>
              <a:defRPr sz="2250" b="1">
                <a:solidFill>
                  <a:srgbClr val="007F7B"/>
                </a:solidFill>
                <a:latin typeface="DejaVu Sans"/>
                <a:ea typeface="DejaVu Sans"/>
                <a:cs typeface="DejaVu Sans"/>
              </a:defRPr>
            </a:defPPr>
            <a:lvl1pPr>
              <a:defRPr sz="2250" b="1">
                <a:solidFill>
                  <a:srgbClr val="007F7B"/>
                </a:solidFill>
                <a:latin typeface="DejaVu Sans"/>
                <a:ea typeface="DejaVu Sans"/>
                <a:cs typeface="DejaVu Sans"/>
              </a:defRPr>
            </a:lvl1pPr>
            <a:lvl2pPr>
              <a:defRPr sz="2250" b="1">
                <a:solidFill>
                  <a:srgbClr val="007F7B"/>
                </a:solidFill>
                <a:latin typeface="DejaVu Sans"/>
                <a:ea typeface="DejaVu Sans"/>
                <a:cs typeface="DejaVu Sans"/>
              </a:defRPr>
            </a:lvl2pPr>
            <a:lvl3pPr>
              <a:defRPr sz="2250" b="1">
                <a:solidFill>
                  <a:srgbClr val="007F7B"/>
                </a:solidFill>
                <a:latin typeface="DejaVu Sans"/>
                <a:ea typeface="DejaVu Sans"/>
                <a:cs typeface="DejaVu Sans"/>
              </a:defRPr>
            </a:lvl3pPr>
            <a:lvl4pPr>
              <a:defRPr sz="2250" b="1">
                <a:solidFill>
                  <a:srgbClr val="007F7B"/>
                </a:solidFill>
                <a:latin typeface="DejaVu Sans"/>
                <a:ea typeface="DejaVu Sans"/>
                <a:cs typeface="DejaVu Sans"/>
              </a:defRPr>
            </a:lvl4pPr>
            <a:lvl5pPr>
              <a:defRPr sz="2250" b="1">
                <a:solidFill>
                  <a:srgbClr val="007F7B"/>
                </a:solidFill>
                <a:latin typeface="DejaVu Sans"/>
                <a:ea typeface="DejaVu Sans"/>
                <a:cs typeface="DejaVu Sans"/>
              </a:defRPr>
            </a:lvl5pPr>
            <a:lvl6pPr>
              <a:defRPr sz="2250" b="1">
                <a:solidFill>
                  <a:srgbClr val="007F7B"/>
                </a:solidFill>
                <a:latin typeface="DejaVu Sans"/>
                <a:ea typeface="DejaVu Sans"/>
                <a:cs typeface="DejaVu Sans"/>
              </a:defRPr>
            </a:lvl6pPr>
            <a:lvl7pPr>
              <a:defRPr sz="2250" b="1">
                <a:solidFill>
                  <a:srgbClr val="007F7B"/>
                </a:solidFill>
                <a:latin typeface="DejaVu Sans"/>
                <a:ea typeface="DejaVu Sans"/>
                <a:cs typeface="DejaVu Sans"/>
              </a:defRPr>
            </a:lvl7pPr>
            <a:lvl8pPr>
              <a:defRPr sz="2250" b="1">
                <a:solidFill>
                  <a:srgbClr val="007F7B"/>
                </a:solidFill>
                <a:latin typeface="DejaVu Sans"/>
                <a:ea typeface="DejaVu Sans"/>
                <a:cs typeface="DejaVu Sans"/>
              </a:defRPr>
            </a:lvl8pPr>
            <a:lvl9pPr>
              <a:defRPr sz="2250" b="1">
                <a:solidFill>
                  <a:srgbClr val="007F7B"/>
                </a:solidFill>
                <a:latin typeface="DejaVu Sans"/>
                <a:ea typeface="DejaVu Sans"/>
                <a:cs typeface="DejaVu Sans"/>
              </a:defRPr>
            </a:lvl9pPr>
          </a:lstStyle>
          <a:p>
            <a:pPr>
              <a:defRPr sz="2250" b="1">
                <a:solidFill>
                  <a:srgbClr val="007F7B"/>
                </a:solidFill>
                <a:latin typeface="DejaVu Sans"/>
                <a:ea typeface="DejaVu Sans"/>
                <a:cs typeface="DejaVu Sans"/>
              </a:defRPr>
            </a:pPr>
            <a:r>
              <a:rPr sz="2250" b="1">
                <a:solidFill>
                  <a:srgbClr val="007F7B"/>
                </a:solidFill>
                <a:latin typeface="DejaVu Sans"/>
                <a:ea typeface="DejaVu Sans"/>
                <a:cs typeface="DejaVu Sans"/>
              </a:rPr>
              <a:t>Supervisores</a:t>
            </a:r>
          </a:p>
        </p:txBody>
      </p:sp>
      <p:sp>
        <p:nvSpPr>
          <p:cNvPr id="7" name="text-6">
            <a:extLst>
              <a:ext uri="{FF2B5EF4-FFF2-40B4-BE49-F238E27FC236}">
                <a16:creationId xmlns:a16="http://schemas.microsoft.com/office/drawing/2014/main" id="{270969E2-14E8-4699-91C6-51FFD62C0FB3}"/>
              </a:ext>
            </a:extLst>
          </p:cNvPr>
          <p:cNvSpPr>
            <a:spLocks noGrp="1"/>
          </p:cNvSpPr>
          <p:nvPr/>
        </p:nvSpPr>
        <p:spPr>
          <a:xfrm>
            <a:off x="6477000" y="2686050"/>
            <a:ext cx="5048250" cy="2667000"/>
          </a:xfrm>
          <a:prstGeom prst="rect">
            <a:avLst/>
          </a:prstGeom>
          <a:noFill/>
          <a:ln w="0">
            <a:noFill/>
            <a:prstDash val="solid"/>
          </a:ln>
        </p:spPr>
        <p:txBody>
          <a:bodyPr lIns="0" tIns="0" rIns="0" bIns="0" anchor="t"/>
          <a:lstStyle>
            <a:defPPr>
              <a:defRPr sz="2025" b="0">
                <a:solidFill>
                  <a:srgbClr val="102B46"/>
                </a:solidFill>
                <a:latin typeface="DejaVu Sans"/>
                <a:ea typeface="DejaVu Sans"/>
                <a:cs typeface="DejaVu Sans"/>
              </a:defRPr>
            </a:defPPr>
            <a:lvl1pPr>
              <a:defRPr sz="2025" b="0">
                <a:solidFill>
                  <a:srgbClr val="102B46"/>
                </a:solidFill>
                <a:latin typeface="DejaVu Sans"/>
                <a:ea typeface="DejaVu Sans"/>
                <a:cs typeface="DejaVu Sans"/>
              </a:defRPr>
            </a:lvl1pPr>
            <a:lvl2pPr>
              <a:defRPr sz="2025" b="0">
                <a:solidFill>
                  <a:srgbClr val="102B46"/>
                </a:solidFill>
                <a:latin typeface="DejaVu Sans"/>
                <a:ea typeface="DejaVu Sans"/>
                <a:cs typeface="DejaVu Sans"/>
              </a:defRPr>
            </a:lvl2pPr>
            <a:lvl3pPr>
              <a:defRPr sz="2025" b="0">
                <a:solidFill>
                  <a:srgbClr val="102B46"/>
                </a:solidFill>
                <a:latin typeface="DejaVu Sans"/>
                <a:ea typeface="DejaVu Sans"/>
                <a:cs typeface="DejaVu Sans"/>
              </a:defRPr>
            </a:lvl3pPr>
            <a:lvl4pPr>
              <a:defRPr sz="2025" b="0">
                <a:solidFill>
                  <a:srgbClr val="102B46"/>
                </a:solidFill>
                <a:latin typeface="DejaVu Sans"/>
                <a:ea typeface="DejaVu Sans"/>
                <a:cs typeface="DejaVu Sans"/>
              </a:defRPr>
            </a:lvl4pPr>
            <a:lvl5pPr>
              <a:defRPr sz="2025" b="0">
                <a:solidFill>
                  <a:srgbClr val="102B46"/>
                </a:solidFill>
                <a:latin typeface="DejaVu Sans"/>
                <a:ea typeface="DejaVu Sans"/>
                <a:cs typeface="DejaVu Sans"/>
              </a:defRPr>
            </a:lvl5pPr>
            <a:lvl6pPr>
              <a:defRPr sz="2025" b="0">
                <a:solidFill>
                  <a:srgbClr val="102B46"/>
                </a:solidFill>
                <a:latin typeface="DejaVu Sans"/>
                <a:ea typeface="DejaVu Sans"/>
                <a:cs typeface="DejaVu Sans"/>
              </a:defRPr>
            </a:lvl6pPr>
            <a:lvl7pPr>
              <a:defRPr sz="2025" b="0">
                <a:solidFill>
                  <a:srgbClr val="102B46"/>
                </a:solidFill>
                <a:latin typeface="DejaVu Sans"/>
                <a:ea typeface="DejaVu Sans"/>
                <a:cs typeface="DejaVu Sans"/>
              </a:defRPr>
            </a:lvl7pPr>
            <a:lvl8pPr>
              <a:defRPr sz="2025" b="0">
                <a:solidFill>
                  <a:srgbClr val="102B46"/>
                </a:solidFill>
                <a:latin typeface="DejaVu Sans"/>
                <a:ea typeface="DejaVu Sans"/>
                <a:cs typeface="DejaVu Sans"/>
              </a:defRPr>
            </a:lvl8pPr>
            <a:lvl9pPr>
              <a:defRPr sz="2025" b="0">
                <a:solidFill>
                  <a:srgbClr val="102B46"/>
                </a:solidFill>
                <a:latin typeface="DejaVu Sans"/>
                <a:ea typeface="DejaVu Sans"/>
                <a:cs typeface="DejaVu Sans"/>
              </a:defRPr>
            </a:lvl9pPr>
          </a:lstStyle>
          <a:p>
            <a:pPr>
              <a:defRPr sz="2025" b="0">
                <a:solidFill>
                  <a:srgbClr val="102B46"/>
                </a:solidFill>
                <a:latin typeface="DejaVu Sans"/>
                <a:ea typeface="DejaVu Sans"/>
                <a:cs typeface="DejaVu Sans"/>
              </a:defRPr>
            </a:pPr>
            <a:r>
              <a:rPr sz="2025" b="0">
                <a:solidFill>
                  <a:srgbClr val="102B46"/>
                </a:solidFill>
                <a:latin typeface="DejaVu Sans"/>
                <a:ea typeface="DejaVu Sans"/>
                <a:cs typeface="DejaVu Sans"/>
              </a:rPr>
              <a:t>Contacto mediante colegios profesionales.</a:t>
            </a:r>
          </a:p>
          <a:p>
            <a:endParaRPr sz="2025" b="0">
              <a:solidFill>
                <a:srgbClr val="102B46"/>
              </a:solidFill>
              <a:latin typeface="DejaVu Sans"/>
              <a:ea typeface="DejaVu Sans"/>
              <a:cs typeface="DejaVu Sans"/>
            </a:endParaRPr>
          </a:p>
          <a:p>
            <a:pPr>
              <a:defRPr sz="2025" b="0">
                <a:solidFill>
                  <a:srgbClr val="102B46"/>
                </a:solidFill>
                <a:latin typeface="DejaVu Sans"/>
                <a:ea typeface="DejaVu Sans"/>
                <a:cs typeface="DejaVu Sans"/>
              </a:defRPr>
            </a:pPr>
            <a:r>
              <a:rPr sz="2025" b="0">
                <a:solidFill>
                  <a:srgbClr val="102B46"/>
                </a:solidFill>
                <a:latin typeface="DejaVu Sans"/>
                <a:ea typeface="DejaVu Sans"/>
                <a:cs typeface="DejaVu Sans"/>
              </a:rPr>
              <a:t>Filtro: haber supervisado prácticas de estudiantes de la EPN.</a:t>
            </a:r>
          </a:p>
        </p:txBody>
      </p:sp>
      <p:sp>
        <p:nvSpPr>
          <p:cNvPr id="8" name="text-7">
            <a:extLst>
              <a:ext uri="{FF2B5EF4-FFF2-40B4-BE49-F238E27FC236}">
                <a16:creationId xmlns:a16="http://schemas.microsoft.com/office/drawing/2014/main" id="{5465A454-1019-460A-91EC-A42A84B69907}"/>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Una evaluación no vinculada al estudiante encuestado aporta contexto, pero no permite contraste individual.</a:t>
            </a:r>
          </a:p>
        </p:txBody>
      </p:sp>
    </p:spTree>
    <p:extLst>
      <p:ext uri="{BB962C8B-B14F-4D97-AF65-F5344CB8AC3E}">
        <p14:creationId xmlns:p14="http://schemas.microsoft.com/office/powerpoint/2010/main" val="1377469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51DB2189-3362-4832-9B3D-BD530FF8036C}"/>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ANÁLISIS PROPUESTO</a:t>
            </a:r>
          </a:p>
        </p:txBody>
      </p:sp>
      <p:sp>
        <p:nvSpPr>
          <p:cNvPr id="2" name="text-1">
            <a:extLst>
              <a:ext uri="{FF2B5EF4-FFF2-40B4-BE49-F238E27FC236}">
                <a16:creationId xmlns:a16="http://schemas.microsoft.com/office/drawing/2014/main" id="{FC184199-760D-47FE-8BB4-FAC1FE0DA9BB}"/>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Datos y relación con los antecedentes académicos</a:t>
            </a:r>
          </a:p>
        </p:txBody>
      </p:sp>
      <p:sp>
        <p:nvSpPr>
          <p:cNvPr id="3" name="text-2">
            <a:extLst>
              <a:ext uri="{FF2B5EF4-FFF2-40B4-BE49-F238E27FC236}">
                <a16:creationId xmlns:a16="http://schemas.microsoft.com/office/drawing/2014/main" id="{93E75958-C9FC-4C79-A116-820FD940E635}"/>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lang="es-ES" sz="1125" b="0" dirty="0">
                <a:solidFill>
                  <a:srgbClr val="536575"/>
                </a:solidFill>
                <a:latin typeface="DejaVu Sans"/>
                <a:ea typeface="DejaVu Sans"/>
                <a:cs typeface="DejaVu Sans"/>
              </a:rPr>
              <a:t>11</a:t>
            </a:r>
          </a:p>
          <a:p>
            <a:pPr>
              <a:defRPr sz="1125" b="0">
                <a:solidFill>
                  <a:srgbClr val="536575"/>
                </a:solidFill>
                <a:latin typeface="DejaVu Sans"/>
                <a:ea typeface="DejaVu Sans"/>
                <a:cs typeface="DejaVu Sans"/>
              </a:defRPr>
            </a:pPr>
            <a:endParaRPr sz="1125" b="0" dirty="0">
              <a:solidFill>
                <a:srgbClr val="536575"/>
              </a:solidFill>
              <a:latin typeface="DejaVu Sans"/>
              <a:ea typeface="DejaVu Sans"/>
              <a:cs typeface="DejaVu Sans"/>
            </a:endParaRPr>
          </a:p>
        </p:txBody>
      </p:sp>
      <p:graphicFrame>
        <p:nvGraphicFramePr>
          <p:cNvPr id="4" name="Tabla 3">
            <a:extLst>
              <a:ext uri="{FF2B5EF4-FFF2-40B4-BE49-F238E27FC236}">
                <a16:creationId xmlns:a16="http://schemas.microsoft.com/office/drawing/2014/main" id="{59F20C91-F075-4E69-81BE-0AC5D0A72F2D}"/>
              </a:ext>
            </a:extLst>
          </p:cNvPr>
          <p:cNvGraphicFramePr/>
          <p:nvPr/>
        </p:nvGraphicFramePr>
        <p:xfrm>
          <a:off x="609600" y="1952625"/>
          <a:ext cx="10953750" cy="2381252"/>
        </p:xfrm>
        <a:graphic>
          <a:graphicData uri="http://schemas.openxmlformats.org/drawingml/2006/table">
            <a:tbl>
              <a:tblPr/>
              <a:tblGrid>
                <a:gridCol w="314325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595313">
                <a:tc>
                  <a:txBody>
                    <a:bodyPr/>
                    <a:lstStyle/>
                    <a:p>
                      <a:r>
                        <a:rPr sz="1875" b="1">
                          <a:solidFill>
                            <a:srgbClr val="FFFFFF"/>
                          </a:solidFill>
                          <a:latin typeface="DejaVu Sans"/>
                          <a:ea typeface="DejaVu Sans"/>
                          <a:cs typeface="DejaVu Sans"/>
                        </a:rPr>
                        <a:t>Fuente</a:t>
                      </a:r>
                    </a:p>
                  </a:txBody>
                  <a:tcPr>
                    <a:lnL w="9525">
                      <a:solidFill>
                        <a:srgbClr val="D7DED9"/>
                      </a:solidFill>
                      <a:prstDash val="soli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tc>
                  <a:txBody>
                    <a:bodyPr/>
                    <a:lstStyle/>
                    <a:p>
                      <a:r>
                        <a:rPr sz="1875" b="1">
                          <a:solidFill>
                            <a:srgbClr val="FFFFFF"/>
                          </a:solidFill>
                          <a:latin typeface="DejaVu Sans"/>
                          <a:ea typeface="DejaVu Sans"/>
                          <a:cs typeface="DejaVu Sans"/>
                        </a:rPr>
                        <a:t>Información</a:t>
                      </a:r>
                    </a:p>
                  </a:txBody>
                  <a:tcPr>
                    <a:lnL w="9525" cap="flat" cmpd="sng" algn="ctr">
                      <a:solidFill>
                        <a:srgbClr val="D7DED9"/>
                      </a:solidFill>
                      <a:prstDash val="solid"/>
                      <a:round/>
                      <a:headEnd type="none" w="med" len="med"/>
                      <a:tailEnd type="none" w="med" len="me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extLst>
                  <a:ext uri="{0D108BD9-81ED-4DB2-BD59-A6C34878D82A}">
                    <a16:rowId xmlns:a16="http://schemas.microsoft.com/office/drawing/2014/main" val="10000"/>
                  </a:ext>
                </a:extLst>
              </a:tr>
              <a:tr h="595313">
                <a:tc>
                  <a:txBody>
                    <a:bodyPr/>
                    <a:lstStyle/>
                    <a:p>
                      <a:r>
                        <a:rPr sz="1875" b="0">
                          <a:solidFill>
                            <a:srgbClr val="102B46"/>
                          </a:solidFill>
                          <a:latin typeface="DejaVu Sans"/>
                          <a:ea typeface="DejaVu Sans"/>
                          <a:cs typeface="DejaVu Sans"/>
                        </a:rPr>
                        <a:t>Encuesta estudiantil</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75" b="0">
                          <a:solidFill>
                            <a:srgbClr val="102B46"/>
                          </a:solidFill>
                          <a:latin typeface="DejaVu Sans"/>
                          <a:ea typeface="DejaVu Sans"/>
                          <a:cs typeface="DejaVu Sans"/>
                        </a:rPr>
                        <a:t>Puntuaciones CECTGRA, carrera y experiencia de prácticas</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1"/>
                  </a:ext>
                </a:extLst>
              </a:tr>
              <a:tr h="595313">
                <a:tc>
                  <a:txBody>
                    <a:bodyPr/>
                    <a:lstStyle/>
                    <a:p>
                      <a:r>
                        <a:rPr sz="1875" b="0">
                          <a:solidFill>
                            <a:srgbClr val="102B46"/>
                          </a:solidFill>
                          <a:latin typeface="DejaVu Sans"/>
                          <a:ea typeface="DejaVu Sans"/>
                          <a:cs typeface="DejaVu Sans"/>
                        </a:rPr>
                        <a:t>Registros autorizados</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tc>
                  <a:txBody>
                    <a:bodyPr/>
                    <a:lstStyle/>
                    <a:p>
                      <a:r>
                        <a:rPr sz="1875" b="0">
                          <a:solidFill>
                            <a:srgbClr val="102B46"/>
                          </a:solidFill>
                          <a:latin typeface="DejaVu Sans"/>
                          <a:ea typeface="DejaVu Sans"/>
                          <a:cs typeface="DejaVu Sans"/>
                        </a:rPr>
                        <a:t>Notas de Comunicación y del examen de media carrera</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extLst>
                  <a:ext uri="{0D108BD9-81ED-4DB2-BD59-A6C34878D82A}">
                    <a16:rowId xmlns:a16="http://schemas.microsoft.com/office/drawing/2014/main" val="10002"/>
                  </a:ext>
                </a:extLst>
              </a:tr>
              <a:tr h="595313">
                <a:tc>
                  <a:txBody>
                    <a:bodyPr/>
                    <a:lstStyle/>
                    <a:p>
                      <a:r>
                        <a:rPr sz="1875" b="0">
                          <a:solidFill>
                            <a:srgbClr val="102B46"/>
                          </a:solidFill>
                          <a:latin typeface="DejaVu Sans"/>
                          <a:ea typeface="DejaVu Sans"/>
                          <a:cs typeface="DejaVu Sans"/>
                        </a:rPr>
                        <a:t>Vinculación</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75" b="0">
                          <a:solidFill>
                            <a:srgbClr val="102B46"/>
                          </a:solidFill>
                          <a:latin typeface="DejaVu Sans"/>
                          <a:ea typeface="DejaVu Sans"/>
                          <a:cs typeface="DejaVu Sans"/>
                        </a:rPr>
                        <a:t>Código que permita unir ambas fuentes por estudiante</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text-3">
            <a:extLst>
              <a:ext uri="{FF2B5EF4-FFF2-40B4-BE49-F238E27FC236}">
                <a16:creationId xmlns:a16="http://schemas.microsoft.com/office/drawing/2014/main" id="{18C6B98E-8672-4E21-B4F2-C345D6100E12}"/>
              </a:ext>
            </a:extLst>
          </p:cNvPr>
          <p:cNvSpPr>
            <a:spLocks noGrp="1"/>
          </p:cNvSpPr>
          <p:nvPr/>
        </p:nvSpPr>
        <p:spPr>
          <a:xfrm>
            <a:off x="609600" y="4714875"/>
            <a:ext cx="10810875" cy="904875"/>
          </a:xfrm>
          <a:prstGeom prst="rect">
            <a:avLst/>
          </a:prstGeom>
          <a:noFill/>
          <a:ln w="0">
            <a:noFill/>
            <a:prstDash val="solid"/>
          </a:ln>
        </p:spPr>
        <p:txBody>
          <a:bodyPr lIns="0" tIns="0" rIns="0" bIns="0" anchor="t"/>
          <a:lstStyle>
            <a:defPPr>
              <a:defRPr sz="2250" b="1">
                <a:solidFill>
                  <a:srgbClr val="007F7B"/>
                </a:solidFill>
                <a:latin typeface="DejaVu Sans"/>
                <a:ea typeface="DejaVu Sans"/>
                <a:cs typeface="DejaVu Sans"/>
              </a:defRPr>
            </a:defPPr>
            <a:lvl1pPr>
              <a:defRPr sz="2250" b="1">
                <a:solidFill>
                  <a:srgbClr val="007F7B"/>
                </a:solidFill>
                <a:latin typeface="DejaVu Sans"/>
                <a:ea typeface="DejaVu Sans"/>
                <a:cs typeface="DejaVu Sans"/>
              </a:defRPr>
            </a:lvl1pPr>
            <a:lvl2pPr>
              <a:defRPr sz="2250" b="1">
                <a:solidFill>
                  <a:srgbClr val="007F7B"/>
                </a:solidFill>
                <a:latin typeface="DejaVu Sans"/>
                <a:ea typeface="DejaVu Sans"/>
                <a:cs typeface="DejaVu Sans"/>
              </a:defRPr>
            </a:lvl2pPr>
            <a:lvl3pPr>
              <a:defRPr sz="2250" b="1">
                <a:solidFill>
                  <a:srgbClr val="007F7B"/>
                </a:solidFill>
                <a:latin typeface="DejaVu Sans"/>
                <a:ea typeface="DejaVu Sans"/>
                <a:cs typeface="DejaVu Sans"/>
              </a:defRPr>
            </a:lvl3pPr>
            <a:lvl4pPr>
              <a:defRPr sz="2250" b="1">
                <a:solidFill>
                  <a:srgbClr val="007F7B"/>
                </a:solidFill>
                <a:latin typeface="DejaVu Sans"/>
                <a:ea typeface="DejaVu Sans"/>
                <a:cs typeface="DejaVu Sans"/>
              </a:defRPr>
            </a:lvl4pPr>
            <a:lvl5pPr>
              <a:defRPr sz="2250" b="1">
                <a:solidFill>
                  <a:srgbClr val="007F7B"/>
                </a:solidFill>
                <a:latin typeface="DejaVu Sans"/>
                <a:ea typeface="DejaVu Sans"/>
                <a:cs typeface="DejaVu Sans"/>
              </a:defRPr>
            </a:lvl5pPr>
            <a:lvl6pPr>
              <a:defRPr sz="2250" b="1">
                <a:solidFill>
                  <a:srgbClr val="007F7B"/>
                </a:solidFill>
                <a:latin typeface="DejaVu Sans"/>
                <a:ea typeface="DejaVu Sans"/>
                <a:cs typeface="DejaVu Sans"/>
              </a:defRPr>
            </a:lvl6pPr>
            <a:lvl7pPr>
              <a:defRPr sz="2250" b="1">
                <a:solidFill>
                  <a:srgbClr val="007F7B"/>
                </a:solidFill>
                <a:latin typeface="DejaVu Sans"/>
                <a:ea typeface="DejaVu Sans"/>
                <a:cs typeface="DejaVu Sans"/>
              </a:defRPr>
            </a:lvl7pPr>
            <a:lvl8pPr>
              <a:defRPr sz="2250" b="1">
                <a:solidFill>
                  <a:srgbClr val="007F7B"/>
                </a:solidFill>
                <a:latin typeface="DejaVu Sans"/>
                <a:ea typeface="DejaVu Sans"/>
                <a:cs typeface="DejaVu Sans"/>
              </a:defRPr>
            </a:lvl8pPr>
            <a:lvl9pPr>
              <a:defRPr sz="2250" b="1">
                <a:solidFill>
                  <a:srgbClr val="007F7B"/>
                </a:solidFill>
                <a:latin typeface="DejaVu Sans"/>
                <a:ea typeface="DejaVu Sans"/>
                <a:cs typeface="DejaVu Sans"/>
              </a:defRPr>
            </a:lvl9pPr>
          </a:lstStyle>
          <a:p>
            <a:pPr>
              <a:defRPr sz="2250" b="1">
                <a:solidFill>
                  <a:srgbClr val="007F7B"/>
                </a:solidFill>
                <a:latin typeface="DejaVu Sans"/>
                <a:ea typeface="DejaVu Sans"/>
                <a:cs typeface="DejaVu Sans"/>
              </a:defRPr>
            </a:pPr>
            <a:r>
              <a:rPr sz="2250" b="1">
                <a:solidFill>
                  <a:srgbClr val="007F7B"/>
                </a:solidFill>
                <a:latin typeface="DejaVu Sans"/>
                <a:ea typeface="DejaVu Sans"/>
                <a:cs typeface="DejaVu Sans"/>
              </a:rPr>
              <a:t>¿Quienes obtienen mejores notas también consideran que tienen mayor dominio de estas competencias?</a:t>
            </a:r>
          </a:p>
        </p:txBody>
      </p:sp>
      <p:sp>
        <p:nvSpPr>
          <p:cNvPr id="6" name="text-4">
            <a:extLst>
              <a:ext uri="{FF2B5EF4-FFF2-40B4-BE49-F238E27FC236}">
                <a16:creationId xmlns:a16="http://schemas.microsoft.com/office/drawing/2014/main" id="{0C027B14-9342-4488-9D37-6ADD94F63B18}"/>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La regresión permitirá estudiar esta relación considerando ambas notas y otras características relevantes.</a:t>
            </a:r>
          </a:p>
        </p:txBody>
      </p:sp>
    </p:spTree>
    <p:extLst>
      <p:ext uri="{BB962C8B-B14F-4D97-AF65-F5344CB8AC3E}">
        <p14:creationId xmlns:p14="http://schemas.microsoft.com/office/powerpoint/2010/main" val="591150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727D3DDF-A612-4429-A5CD-D18B26C34170}"/>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METODOLOGÍA POR ACORDAR</a:t>
            </a:r>
          </a:p>
        </p:txBody>
      </p:sp>
      <p:sp>
        <p:nvSpPr>
          <p:cNvPr id="2" name="text-1">
            <a:extLst>
              <a:ext uri="{FF2B5EF4-FFF2-40B4-BE49-F238E27FC236}">
                <a16:creationId xmlns:a16="http://schemas.microsoft.com/office/drawing/2014/main" id="{C21EEDB9-5841-46F3-9BB8-B6111FAA7420}"/>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Aplicación por aulas y selección de la muestra</a:t>
            </a:r>
          </a:p>
        </p:txBody>
      </p:sp>
      <p:sp>
        <p:nvSpPr>
          <p:cNvPr id="3" name="text-2">
            <a:extLst>
              <a:ext uri="{FF2B5EF4-FFF2-40B4-BE49-F238E27FC236}">
                <a16:creationId xmlns:a16="http://schemas.microsoft.com/office/drawing/2014/main" id="{134F3BA9-05AD-49A3-9DD4-ED250F3D7934}"/>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lang="es-ES" sz="1125" b="0" dirty="0">
                <a:solidFill>
                  <a:srgbClr val="536575"/>
                </a:solidFill>
                <a:latin typeface="DejaVu Sans"/>
                <a:ea typeface="DejaVu Sans"/>
                <a:cs typeface="DejaVu Sans"/>
              </a:rPr>
              <a:t>12</a:t>
            </a:r>
          </a:p>
          <a:p>
            <a:pPr>
              <a:defRPr sz="1125" b="0">
                <a:solidFill>
                  <a:srgbClr val="536575"/>
                </a:solidFill>
                <a:latin typeface="DejaVu Sans"/>
                <a:ea typeface="DejaVu Sans"/>
                <a:cs typeface="DejaVu Sans"/>
              </a:defRPr>
            </a:pPr>
            <a:endParaRPr sz="1125" b="0" dirty="0">
              <a:solidFill>
                <a:srgbClr val="536575"/>
              </a:solidFill>
              <a:latin typeface="DejaVu Sans"/>
              <a:ea typeface="DejaVu Sans"/>
              <a:cs typeface="DejaVu Sans"/>
            </a:endParaRPr>
          </a:p>
        </p:txBody>
      </p:sp>
      <p:graphicFrame>
        <p:nvGraphicFramePr>
          <p:cNvPr id="4" name="Tabla 3">
            <a:extLst>
              <a:ext uri="{FF2B5EF4-FFF2-40B4-BE49-F238E27FC236}">
                <a16:creationId xmlns:a16="http://schemas.microsoft.com/office/drawing/2014/main" id="{038EAD48-2021-4599-889C-2714408CA806}"/>
              </a:ext>
            </a:extLst>
          </p:cNvPr>
          <p:cNvGraphicFramePr/>
          <p:nvPr/>
        </p:nvGraphicFramePr>
        <p:xfrm>
          <a:off x="609600" y="2009775"/>
          <a:ext cx="10953750" cy="3009900"/>
        </p:xfrm>
        <a:graphic>
          <a:graphicData uri="http://schemas.openxmlformats.org/drawingml/2006/table">
            <a:tbl>
              <a:tblPr/>
              <a:tblGrid>
                <a:gridCol w="68580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Cómo elegimos</a:t>
                      </a:r>
                    </a:p>
                  </a:txBody>
                  <a:tcPr>
                    <a:lnL w="9525">
                      <a:solidFill>
                        <a:srgbClr val="D7DED9"/>
                      </a:solidFill>
                      <a:prstDash val="soli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tc>
                  <a:txBody>
                    <a:bodyPr/>
                    <a:lstStyle/>
                    <a:p>
                      <a:r>
                        <a:rPr sz="1875" b="1">
                          <a:solidFill>
                            <a:srgbClr val="FFFFFF"/>
                          </a:solidFill>
                          <a:latin typeface="DejaVu Sans"/>
                          <a:ea typeface="DejaVu Sans"/>
                          <a:cs typeface="DejaVu Sans"/>
                        </a:rPr>
                        <a:t>Qué implica</a:t>
                      </a:r>
                    </a:p>
                  </a:txBody>
                  <a:tcPr>
                    <a:lnL w="9525" cap="flat" cmpd="sng" algn="ctr">
                      <a:solidFill>
                        <a:srgbClr val="D7DED9"/>
                      </a:solidFill>
                      <a:prstDash val="solid"/>
                      <a:round/>
                      <a:headEnd type="none" w="med" len="med"/>
                      <a:tailEnd type="none" w="med" len="med"/>
                    </a:lnL>
                    <a:lnR w="9525">
                      <a:solidFill>
                        <a:srgbClr val="D7DED9"/>
                      </a:solidFill>
                      <a:prstDash val="solid"/>
                    </a:lnR>
                    <a:lnT w="9525">
                      <a:solidFill>
                        <a:srgbClr val="D7DED9"/>
                      </a:solidFill>
                      <a:prstDash val="solid"/>
                    </a:lnT>
                    <a:lnB w="9525">
                      <a:solidFill>
                        <a:srgbClr val="D7DED9"/>
                      </a:solidFill>
                      <a:prstDash val="solid"/>
                    </a:lnB>
                    <a:solidFill>
                      <a:srgbClr val="102B46"/>
                    </a:solidFill>
                  </a:tcPr>
                </a:tc>
                <a:extLst>
                  <a:ext uri="{0D108BD9-81ED-4DB2-BD59-A6C34878D82A}">
                    <a16:rowId xmlns:a16="http://schemas.microsoft.com/office/drawing/2014/main" val="10000"/>
                  </a:ext>
                </a:extLst>
              </a:tr>
              <a:tr h="752475">
                <a:tc>
                  <a:txBody>
                    <a:bodyPr/>
                    <a:lstStyle/>
                    <a:p>
                      <a:r>
                        <a:rPr sz="1875" b="0">
                          <a:solidFill>
                            <a:srgbClr val="102B46"/>
                          </a:solidFill>
                          <a:latin typeface="DejaVu Sans"/>
                          <a:ea typeface="DejaVu Sans"/>
                          <a:cs typeface="DejaVu Sans"/>
                        </a:rPr>
                        <a:t>Aulas disponibles y estudiantes presentes</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75" b="0">
                          <a:solidFill>
                            <a:srgbClr val="102B46"/>
                          </a:solidFill>
                          <a:latin typeface="DejaVu Sans"/>
                          <a:ea typeface="DejaVu Sans"/>
                          <a:cs typeface="DejaVu Sans"/>
                        </a:rPr>
                        <a:t>Muestreo por conveniencia</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1"/>
                  </a:ext>
                </a:extLst>
              </a:tr>
              <a:tr h="752475">
                <a:tc>
                  <a:txBody>
                    <a:bodyPr/>
                    <a:lstStyle/>
                    <a:p>
                      <a:r>
                        <a:rPr sz="1875" b="0">
                          <a:solidFill>
                            <a:srgbClr val="102B46"/>
                          </a:solidFill>
                          <a:latin typeface="DejaVu Sans"/>
                          <a:ea typeface="DejaVu Sans"/>
                          <a:cs typeface="DejaVu Sans"/>
                        </a:rPr>
                        <a:t>Estudiantes sorteados, contactados en aulas</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tc>
                  <a:txBody>
                    <a:bodyPr/>
                    <a:lstStyle/>
                    <a:p>
                      <a:r>
                        <a:rPr sz="1875" b="0">
                          <a:solidFill>
                            <a:srgbClr val="102B46"/>
                          </a:solidFill>
                          <a:latin typeface="DejaVu Sans"/>
                          <a:ea typeface="DejaVu Sans"/>
                          <a:cs typeface="DejaVu Sans"/>
                        </a:rPr>
                        <a:t>Aleatorio simple o estratificado por carrera</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6F5F0"/>
                    </a:solidFill>
                  </a:tcPr>
                </a:tc>
                <a:extLst>
                  <a:ext uri="{0D108BD9-81ED-4DB2-BD59-A6C34878D82A}">
                    <a16:rowId xmlns:a16="http://schemas.microsoft.com/office/drawing/2014/main" val="10002"/>
                  </a:ext>
                </a:extLst>
              </a:tr>
              <a:tr h="752475">
                <a:tc>
                  <a:txBody>
                    <a:bodyPr/>
                    <a:lstStyle/>
                    <a:p>
                      <a:r>
                        <a:rPr sz="1875" b="0">
                          <a:solidFill>
                            <a:srgbClr val="102B46"/>
                          </a:solidFill>
                          <a:latin typeface="DejaVu Sans"/>
                          <a:ea typeface="DejaVu Sans"/>
                          <a:cs typeface="DejaVu Sans"/>
                        </a:rPr>
                        <a:t>Grupos sorteados y encuesta a elegibles</a:t>
                      </a:r>
                    </a:p>
                  </a:txBody>
                  <a:tcPr>
                    <a:lnL w="9525">
                      <a:solidFill>
                        <a:srgbClr val="D7DED9"/>
                      </a:solidFill>
                      <a:prstDash val="soli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tc>
                  <a:txBody>
                    <a:bodyPr/>
                    <a:lstStyle/>
                    <a:p>
                      <a:r>
                        <a:rPr sz="1875" b="0">
                          <a:solidFill>
                            <a:srgbClr val="102B46"/>
                          </a:solidFill>
                          <a:latin typeface="DejaVu Sans"/>
                          <a:ea typeface="DejaVu Sans"/>
                          <a:cs typeface="DejaVu Sans"/>
                        </a:rPr>
                        <a:t>Conglomerados o selección en etapas</a:t>
                      </a:r>
                    </a:p>
                  </a:txBody>
                  <a:tcPr>
                    <a:lnL w="9525" cap="flat" cmpd="sng" algn="ctr">
                      <a:solidFill>
                        <a:srgbClr val="D7DED9"/>
                      </a:solidFill>
                      <a:prstDash val="solid"/>
                      <a:round/>
                      <a:headEnd type="none" w="med" len="med"/>
                      <a:tailEnd type="none" w="med" len="med"/>
                    </a:lnL>
                    <a:lnR w="9525">
                      <a:solidFill>
                        <a:srgbClr val="D7DED9"/>
                      </a:solidFill>
                      <a:prstDash val="solid"/>
                    </a:lnR>
                    <a:lnT w="9525" cap="flat" cmpd="sng" algn="ctr">
                      <a:solidFill>
                        <a:srgbClr val="D7DED9"/>
                      </a:solidFill>
                      <a:prstDash val="solid"/>
                      <a:round/>
                      <a:headEnd type="none" w="med" len="med"/>
                      <a:tailEnd type="none" w="med" len="med"/>
                    </a:lnT>
                    <a:lnB w="9525">
                      <a:solidFill>
                        <a:srgbClr val="D7DE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text-3">
            <a:extLst>
              <a:ext uri="{FF2B5EF4-FFF2-40B4-BE49-F238E27FC236}">
                <a16:creationId xmlns:a16="http://schemas.microsoft.com/office/drawing/2014/main" id="{78971627-333E-41A7-B011-844F5EBBBA5E}"/>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Antes del sorteo: cobertura de elegibles, estudiantes en varias aulas y seguimiento de ausentes.</a:t>
            </a:r>
          </a:p>
        </p:txBody>
      </p:sp>
    </p:spTree>
    <p:extLst>
      <p:ext uri="{BB962C8B-B14F-4D97-AF65-F5344CB8AC3E}">
        <p14:creationId xmlns:p14="http://schemas.microsoft.com/office/powerpoint/2010/main" val="674849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5CF6825F-8182-48E1-A5FA-123671FE0DB9}"/>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TAMAÑO DE MUESTRA</a:t>
            </a:r>
          </a:p>
        </p:txBody>
      </p:sp>
      <p:sp>
        <p:nvSpPr>
          <p:cNvPr id="2" name="text-1">
            <a:extLst>
              <a:ext uri="{FF2B5EF4-FFF2-40B4-BE49-F238E27FC236}">
                <a16:creationId xmlns:a16="http://schemas.microsoft.com/office/drawing/2014/main" id="{2B76DCCC-2A01-4E12-8EAE-BD1BE2017735}"/>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273 casos como referencia provisional</a:t>
            </a:r>
          </a:p>
        </p:txBody>
      </p:sp>
      <p:sp>
        <p:nvSpPr>
          <p:cNvPr id="3" name="text-2">
            <a:extLst>
              <a:ext uri="{FF2B5EF4-FFF2-40B4-BE49-F238E27FC236}">
                <a16:creationId xmlns:a16="http://schemas.microsoft.com/office/drawing/2014/main" id="{03AC339F-A0A6-4920-A5DF-D50C6CB4C010}"/>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lang="es-ES" sz="1125" b="0" dirty="0">
                <a:solidFill>
                  <a:srgbClr val="536575"/>
                </a:solidFill>
                <a:latin typeface="DejaVu Sans"/>
                <a:ea typeface="DejaVu Sans"/>
                <a:cs typeface="DejaVu Sans"/>
              </a:rPr>
              <a:t>13</a:t>
            </a:r>
          </a:p>
          <a:p>
            <a:pPr>
              <a:defRPr sz="1125" b="0">
                <a:solidFill>
                  <a:srgbClr val="536575"/>
                </a:solidFill>
                <a:latin typeface="DejaVu Sans"/>
                <a:ea typeface="DejaVu Sans"/>
                <a:cs typeface="DejaVu Sans"/>
              </a:defRPr>
            </a:pPr>
            <a:endParaRPr sz="1125" b="0" dirty="0">
              <a:solidFill>
                <a:srgbClr val="536575"/>
              </a:solidFill>
              <a:latin typeface="DejaVu Sans"/>
              <a:ea typeface="DejaVu Sans"/>
              <a:cs typeface="DejaVu Sans"/>
            </a:endParaRPr>
          </a:p>
        </p:txBody>
      </p:sp>
      <p:sp>
        <p:nvSpPr>
          <p:cNvPr id="4" name="text-3">
            <a:extLst>
              <a:ext uri="{FF2B5EF4-FFF2-40B4-BE49-F238E27FC236}">
                <a16:creationId xmlns:a16="http://schemas.microsoft.com/office/drawing/2014/main" id="{B52E2C4B-E0D6-4A00-8708-5C6288AC7D56}"/>
              </a:ext>
            </a:extLst>
          </p:cNvPr>
          <p:cNvSpPr>
            <a:spLocks noGrp="1"/>
          </p:cNvSpPr>
          <p:nvPr/>
        </p:nvSpPr>
        <p:spPr>
          <a:xfrm>
            <a:off x="609600" y="2000250"/>
            <a:ext cx="4381500" cy="1333500"/>
          </a:xfrm>
          <a:prstGeom prst="rect">
            <a:avLst/>
          </a:prstGeom>
          <a:noFill/>
          <a:ln w="0">
            <a:noFill/>
            <a:prstDash val="solid"/>
          </a:ln>
        </p:spPr>
        <p:txBody>
          <a:bodyPr lIns="0" tIns="0" rIns="0" bIns="0" anchor="t"/>
          <a:lstStyle>
            <a:defPPr>
              <a:defRPr sz="7500" b="1">
                <a:solidFill>
                  <a:srgbClr val="007F7B"/>
                </a:solidFill>
                <a:latin typeface="DejaVu Sans"/>
                <a:ea typeface="DejaVu Sans"/>
                <a:cs typeface="DejaVu Sans"/>
              </a:defRPr>
            </a:defPPr>
            <a:lvl1pPr>
              <a:defRPr sz="7500" b="1">
                <a:solidFill>
                  <a:srgbClr val="007F7B"/>
                </a:solidFill>
                <a:latin typeface="DejaVu Sans"/>
                <a:ea typeface="DejaVu Sans"/>
                <a:cs typeface="DejaVu Sans"/>
              </a:defRPr>
            </a:lvl1pPr>
            <a:lvl2pPr>
              <a:defRPr sz="7500" b="1">
                <a:solidFill>
                  <a:srgbClr val="007F7B"/>
                </a:solidFill>
                <a:latin typeface="DejaVu Sans"/>
                <a:ea typeface="DejaVu Sans"/>
                <a:cs typeface="DejaVu Sans"/>
              </a:defRPr>
            </a:lvl2pPr>
            <a:lvl3pPr>
              <a:defRPr sz="7500" b="1">
                <a:solidFill>
                  <a:srgbClr val="007F7B"/>
                </a:solidFill>
                <a:latin typeface="DejaVu Sans"/>
                <a:ea typeface="DejaVu Sans"/>
                <a:cs typeface="DejaVu Sans"/>
              </a:defRPr>
            </a:lvl3pPr>
            <a:lvl4pPr>
              <a:defRPr sz="7500" b="1">
                <a:solidFill>
                  <a:srgbClr val="007F7B"/>
                </a:solidFill>
                <a:latin typeface="DejaVu Sans"/>
                <a:ea typeface="DejaVu Sans"/>
                <a:cs typeface="DejaVu Sans"/>
              </a:defRPr>
            </a:lvl4pPr>
            <a:lvl5pPr>
              <a:defRPr sz="7500" b="1">
                <a:solidFill>
                  <a:srgbClr val="007F7B"/>
                </a:solidFill>
                <a:latin typeface="DejaVu Sans"/>
                <a:ea typeface="DejaVu Sans"/>
                <a:cs typeface="DejaVu Sans"/>
              </a:defRPr>
            </a:lvl5pPr>
            <a:lvl6pPr>
              <a:defRPr sz="7500" b="1">
                <a:solidFill>
                  <a:srgbClr val="007F7B"/>
                </a:solidFill>
                <a:latin typeface="DejaVu Sans"/>
                <a:ea typeface="DejaVu Sans"/>
                <a:cs typeface="DejaVu Sans"/>
              </a:defRPr>
            </a:lvl6pPr>
            <a:lvl7pPr>
              <a:defRPr sz="7500" b="1">
                <a:solidFill>
                  <a:srgbClr val="007F7B"/>
                </a:solidFill>
                <a:latin typeface="DejaVu Sans"/>
                <a:ea typeface="DejaVu Sans"/>
                <a:cs typeface="DejaVu Sans"/>
              </a:defRPr>
            </a:lvl7pPr>
            <a:lvl8pPr>
              <a:defRPr sz="7500" b="1">
                <a:solidFill>
                  <a:srgbClr val="007F7B"/>
                </a:solidFill>
                <a:latin typeface="DejaVu Sans"/>
                <a:ea typeface="DejaVu Sans"/>
                <a:cs typeface="DejaVu Sans"/>
              </a:defRPr>
            </a:lvl8pPr>
            <a:lvl9pPr>
              <a:defRPr sz="7500" b="1">
                <a:solidFill>
                  <a:srgbClr val="007F7B"/>
                </a:solidFill>
                <a:latin typeface="DejaVu Sans"/>
                <a:ea typeface="DejaVu Sans"/>
                <a:cs typeface="DejaVu Sans"/>
              </a:defRPr>
            </a:lvl9pPr>
          </a:lstStyle>
          <a:p>
            <a:pPr>
              <a:defRPr sz="7500" b="1">
                <a:solidFill>
                  <a:srgbClr val="007F7B"/>
                </a:solidFill>
                <a:latin typeface="DejaVu Sans"/>
                <a:ea typeface="DejaVu Sans"/>
                <a:cs typeface="DejaVu Sans"/>
              </a:defRPr>
            </a:pPr>
            <a:r>
              <a:rPr sz="7500" b="1">
                <a:solidFill>
                  <a:srgbClr val="007F7B"/>
                </a:solidFill>
                <a:latin typeface="DejaVu Sans"/>
                <a:ea typeface="DejaVu Sans"/>
                <a:cs typeface="DejaVu Sans"/>
              </a:rPr>
              <a:t>273</a:t>
            </a:r>
          </a:p>
        </p:txBody>
      </p:sp>
      <p:sp>
        <p:nvSpPr>
          <p:cNvPr id="5" name="text-4">
            <a:extLst>
              <a:ext uri="{FF2B5EF4-FFF2-40B4-BE49-F238E27FC236}">
                <a16:creationId xmlns:a16="http://schemas.microsoft.com/office/drawing/2014/main" id="{A191A404-02DB-465D-9DB8-C76819435331}"/>
              </a:ext>
            </a:extLst>
          </p:cNvPr>
          <p:cNvSpPr>
            <a:spLocks noGrp="1"/>
          </p:cNvSpPr>
          <p:nvPr/>
        </p:nvSpPr>
        <p:spPr>
          <a:xfrm>
            <a:off x="609600" y="3590925"/>
            <a:ext cx="4953000" cy="952500"/>
          </a:xfrm>
          <a:prstGeom prst="rect">
            <a:avLst/>
          </a:prstGeom>
          <a:noFill/>
          <a:ln w="0">
            <a:noFill/>
            <a:prstDash val="solid"/>
          </a:ln>
        </p:spPr>
        <p:txBody>
          <a:bodyPr lIns="0" tIns="0" rIns="0" bIns="0" anchor="t"/>
          <a:lstStyle>
            <a:defPPr>
              <a:defRPr sz="2175" b="0">
                <a:solidFill>
                  <a:srgbClr val="102B46"/>
                </a:solidFill>
                <a:latin typeface="DejaVu Sans"/>
                <a:ea typeface="DejaVu Sans"/>
                <a:cs typeface="DejaVu Sans"/>
              </a:defRPr>
            </a:defPPr>
            <a:lvl1pPr>
              <a:defRPr sz="2175" b="0">
                <a:solidFill>
                  <a:srgbClr val="102B46"/>
                </a:solidFill>
                <a:latin typeface="DejaVu Sans"/>
                <a:ea typeface="DejaVu Sans"/>
                <a:cs typeface="DejaVu Sans"/>
              </a:defRPr>
            </a:lvl1pPr>
            <a:lvl2pPr>
              <a:defRPr sz="2175" b="0">
                <a:solidFill>
                  <a:srgbClr val="102B46"/>
                </a:solidFill>
                <a:latin typeface="DejaVu Sans"/>
                <a:ea typeface="DejaVu Sans"/>
                <a:cs typeface="DejaVu Sans"/>
              </a:defRPr>
            </a:lvl2pPr>
            <a:lvl3pPr>
              <a:defRPr sz="2175" b="0">
                <a:solidFill>
                  <a:srgbClr val="102B46"/>
                </a:solidFill>
                <a:latin typeface="DejaVu Sans"/>
                <a:ea typeface="DejaVu Sans"/>
                <a:cs typeface="DejaVu Sans"/>
              </a:defRPr>
            </a:lvl3pPr>
            <a:lvl4pPr>
              <a:defRPr sz="2175" b="0">
                <a:solidFill>
                  <a:srgbClr val="102B46"/>
                </a:solidFill>
                <a:latin typeface="DejaVu Sans"/>
                <a:ea typeface="DejaVu Sans"/>
                <a:cs typeface="DejaVu Sans"/>
              </a:defRPr>
            </a:lvl4pPr>
            <a:lvl5pPr>
              <a:defRPr sz="2175" b="0">
                <a:solidFill>
                  <a:srgbClr val="102B46"/>
                </a:solidFill>
                <a:latin typeface="DejaVu Sans"/>
                <a:ea typeface="DejaVu Sans"/>
                <a:cs typeface="DejaVu Sans"/>
              </a:defRPr>
            </a:lvl5pPr>
            <a:lvl6pPr>
              <a:defRPr sz="2175" b="0">
                <a:solidFill>
                  <a:srgbClr val="102B46"/>
                </a:solidFill>
                <a:latin typeface="DejaVu Sans"/>
                <a:ea typeface="DejaVu Sans"/>
                <a:cs typeface="DejaVu Sans"/>
              </a:defRPr>
            </a:lvl6pPr>
            <a:lvl7pPr>
              <a:defRPr sz="2175" b="0">
                <a:solidFill>
                  <a:srgbClr val="102B46"/>
                </a:solidFill>
                <a:latin typeface="DejaVu Sans"/>
                <a:ea typeface="DejaVu Sans"/>
                <a:cs typeface="DejaVu Sans"/>
              </a:defRPr>
            </a:lvl7pPr>
            <a:lvl8pPr>
              <a:defRPr sz="2175" b="0">
                <a:solidFill>
                  <a:srgbClr val="102B46"/>
                </a:solidFill>
                <a:latin typeface="DejaVu Sans"/>
                <a:ea typeface="DejaVu Sans"/>
                <a:cs typeface="DejaVu Sans"/>
              </a:defRPr>
            </a:lvl8pPr>
            <a:lvl9pPr>
              <a:defRPr sz="2175" b="0">
                <a:solidFill>
                  <a:srgbClr val="102B46"/>
                </a:solidFill>
                <a:latin typeface="DejaVu Sans"/>
                <a:ea typeface="DejaVu Sans"/>
                <a:cs typeface="DejaVu Sans"/>
              </a:defRPr>
            </a:lvl9pPr>
          </a:lstStyle>
          <a:p>
            <a:pPr>
              <a:defRPr sz="2175" b="0">
                <a:solidFill>
                  <a:srgbClr val="102B46"/>
                </a:solidFill>
                <a:latin typeface="DejaVu Sans"/>
                <a:ea typeface="DejaVu Sans"/>
                <a:cs typeface="DejaVu Sans"/>
              </a:defRPr>
            </a:pPr>
            <a:r>
              <a:rPr sz="2175" b="0">
                <a:solidFill>
                  <a:srgbClr val="102B46"/>
                </a:solidFill>
                <a:latin typeface="DejaVu Sans"/>
                <a:ea typeface="DejaVu Sans"/>
                <a:cs typeface="DejaVu Sans"/>
              </a:rPr>
              <a:t>respuestas completas bajo</a:t>
            </a:r>
          </a:p>
          <a:p>
            <a:pPr>
              <a:defRPr sz="2175" b="0">
                <a:solidFill>
                  <a:srgbClr val="102B46"/>
                </a:solidFill>
                <a:latin typeface="DejaVu Sans"/>
                <a:ea typeface="DejaVu Sans"/>
                <a:cs typeface="DejaVu Sans"/>
              </a:defRPr>
            </a:pPr>
            <a:r>
              <a:rPr sz="2175" b="0">
                <a:solidFill>
                  <a:srgbClr val="102B46"/>
                </a:solidFill>
                <a:latin typeface="DejaVu Sans"/>
                <a:ea typeface="DejaVu Sans"/>
                <a:cs typeface="DejaVu Sans"/>
              </a:rPr>
              <a:t>muestreo aleatorio simple</a:t>
            </a:r>
          </a:p>
        </p:txBody>
      </p:sp>
      <p:sp>
        <p:nvSpPr>
          <p:cNvPr id="6" name="text-5">
            <a:extLst>
              <a:ext uri="{FF2B5EF4-FFF2-40B4-BE49-F238E27FC236}">
                <a16:creationId xmlns:a16="http://schemas.microsoft.com/office/drawing/2014/main" id="{4B49F03B-4B8A-4020-8144-BC8E24189F3A}"/>
              </a:ext>
            </a:extLst>
          </p:cNvPr>
          <p:cNvSpPr>
            <a:spLocks noGrp="1"/>
          </p:cNvSpPr>
          <p:nvPr/>
        </p:nvSpPr>
        <p:spPr>
          <a:xfrm>
            <a:off x="6334125" y="2019300"/>
            <a:ext cx="5095875" cy="3190875"/>
          </a:xfrm>
          <a:prstGeom prst="rect">
            <a:avLst/>
          </a:prstGeom>
          <a:noFill/>
          <a:ln w="0">
            <a:noFill/>
            <a:prstDash val="solid"/>
          </a:ln>
        </p:spPr>
        <p:txBody>
          <a:bodyPr lIns="0" tIns="0" rIns="0" bIns="0" anchor="t"/>
          <a:lstStyle>
            <a:defPPr>
              <a:defRPr sz="1950" b="0">
                <a:solidFill>
                  <a:srgbClr val="102B46"/>
                </a:solidFill>
                <a:latin typeface="DejaVu Sans"/>
                <a:ea typeface="DejaVu Sans"/>
                <a:cs typeface="DejaVu Sans"/>
              </a:defRPr>
            </a:defPPr>
            <a:lvl1pPr>
              <a:defRPr sz="1950" b="0">
                <a:solidFill>
                  <a:srgbClr val="102B46"/>
                </a:solidFill>
                <a:latin typeface="DejaVu Sans"/>
                <a:ea typeface="DejaVu Sans"/>
                <a:cs typeface="DejaVu Sans"/>
              </a:defRPr>
            </a:lvl1pPr>
            <a:lvl2pPr>
              <a:defRPr sz="1950" b="0">
                <a:solidFill>
                  <a:srgbClr val="102B46"/>
                </a:solidFill>
                <a:latin typeface="DejaVu Sans"/>
                <a:ea typeface="DejaVu Sans"/>
                <a:cs typeface="DejaVu Sans"/>
              </a:defRPr>
            </a:lvl2pPr>
            <a:lvl3pPr>
              <a:defRPr sz="1950" b="0">
                <a:solidFill>
                  <a:srgbClr val="102B46"/>
                </a:solidFill>
                <a:latin typeface="DejaVu Sans"/>
                <a:ea typeface="DejaVu Sans"/>
                <a:cs typeface="DejaVu Sans"/>
              </a:defRPr>
            </a:lvl3pPr>
            <a:lvl4pPr>
              <a:defRPr sz="1950" b="0">
                <a:solidFill>
                  <a:srgbClr val="102B46"/>
                </a:solidFill>
                <a:latin typeface="DejaVu Sans"/>
                <a:ea typeface="DejaVu Sans"/>
                <a:cs typeface="DejaVu Sans"/>
              </a:defRPr>
            </a:lvl4pPr>
            <a:lvl5pPr>
              <a:defRPr sz="1950" b="0">
                <a:solidFill>
                  <a:srgbClr val="102B46"/>
                </a:solidFill>
                <a:latin typeface="DejaVu Sans"/>
                <a:ea typeface="DejaVu Sans"/>
                <a:cs typeface="DejaVu Sans"/>
              </a:defRPr>
            </a:lvl5pPr>
            <a:lvl6pPr>
              <a:defRPr sz="1950" b="0">
                <a:solidFill>
                  <a:srgbClr val="102B46"/>
                </a:solidFill>
                <a:latin typeface="DejaVu Sans"/>
                <a:ea typeface="DejaVu Sans"/>
                <a:cs typeface="DejaVu Sans"/>
              </a:defRPr>
            </a:lvl6pPr>
            <a:lvl7pPr>
              <a:defRPr sz="1950" b="0">
                <a:solidFill>
                  <a:srgbClr val="102B46"/>
                </a:solidFill>
                <a:latin typeface="DejaVu Sans"/>
                <a:ea typeface="DejaVu Sans"/>
                <a:cs typeface="DejaVu Sans"/>
              </a:defRPr>
            </a:lvl7pPr>
            <a:lvl8pPr>
              <a:defRPr sz="1950" b="0">
                <a:solidFill>
                  <a:srgbClr val="102B46"/>
                </a:solidFill>
                <a:latin typeface="DejaVu Sans"/>
                <a:ea typeface="DejaVu Sans"/>
                <a:cs typeface="DejaVu Sans"/>
              </a:defRPr>
            </a:lvl8pPr>
            <a:lvl9pPr>
              <a:defRPr sz="1950" b="0">
                <a:solidFill>
                  <a:srgbClr val="102B46"/>
                </a:solidFill>
                <a:latin typeface="DejaVu Sans"/>
                <a:ea typeface="DejaVu Sans"/>
                <a:cs typeface="DejaVu Sans"/>
              </a:defRPr>
            </a:lvl9pPr>
          </a:lstStyle>
          <a:p>
            <a:pPr>
              <a:defRPr sz="1950" b="0">
                <a:solidFill>
                  <a:srgbClr val="102B46"/>
                </a:solidFill>
                <a:latin typeface="DejaVu Sans"/>
                <a:ea typeface="DejaVu Sans"/>
                <a:cs typeface="DejaVu Sans"/>
              </a:defRPr>
            </a:pPr>
            <a:r>
              <a:rPr sz="1950" b="0">
                <a:solidFill>
                  <a:srgbClr val="102B46"/>
                </a:solidFill>
                <a:latin typeface="DejaVu Sans"/>
                <a:ea typeface="DejaVu Sans"/>
                <a:cs typeface="DejaVu Sans"/>
              </a:rPr>
              <a:t>N = 935 como referencia de graduados/año</a:t>
            </a:r>
          </a:p>
          <a:p>
            <a:endParaRPr sz="1950" b="0">
              <a:solidFill>
                <a:srgbClr val="102B46"/>
              </a:solidFill>
              <a:latin typeface="DejaVu Sans"/>
              <a:ea typeface="DejaVu Sans"/>
              <a:cs typeface="DejaVu Sans"/>
            </a:endParaRPr>
          </a:p>
          <a:p>
            <a:pPr>
              <a:defRPr sz="1950" b="0">
                <a:solidFill>
                  <a:srgbClr val="102B46"/>
                </a:solidFill>
                <a:latin typeface="DejaVu Sans"/>
                <a:ea typeface="DejaVu Sans"/>
                <a:cs typeface="DejaVu Sans"/>
              </a:defRPr>
            </a:pPr>
            <a:r>
              <a:rPr sz="1950" b="0">
                <a:solidFill>
                  <a:srgbClr val="102B46"/>
                </a:solidFill>
                <a:latin typeface="DejaVu Sans"/>
                <a:ea typeface="DejaVu Sans"/>
                <a:cs typeface="DejaVu Sans"/>
              </a:rPr>
              <a:t>95 % de confianza</a:t>
            </a:r>
          </a:p>
          <a:p>
            <a:pPr>
              <a:defRPr sz="1950" b="0">
                <a:solidFill>
                  <a:srgbClr val="102B46"/>
                </a:solidFill>
                <a:latin typeface="DejaVu Sans"/>
                <a:ea typeface="DejaVu Sans"/>
                <a:cs typeface="DejaVu Sans"/>
              </a:defRPr>
            </a:pPr>
            <a:r>
              <a:rPr sz="1950" b="0">
                <a:solidFill>
                  <a:srgbClr val="102B46"/>
                </a:solidFill>
                <a:latin typeface="DejaVu Sans"/>
                <a:ea typeface="DejaVu Sans"/>
                <a:cs typeface="DejaVu Sans"/>
              </a:rPr>
              <a:t>Margen de error de ±5 puntos porcentuales</a:t>
            </a:r>
          </a:p>
        </p:txBody>
      </p:sp>
      <p:sp>
        <p:nvSpPr>
          <p:cNvPr id="7" name="text-6">
            <a:extLst>
              <a:ext uri="{FF2B5EF4-FFF2-40B4-BE49-F238E27FC236}">
                <a16:creationId xmlns:a16="http://schemas.microsoft.com/office/drawing/2014/main" id="{4EF41505-CC73-47E5-A86F-AD4386DF28E8}"/>
              </a:ext>
            </a:extLst>
          </p:cNvPr>
          <p:cNvSpPr>
            <a:spLocks noGrp="1"/>
          </p:cNvSpPr>
          <p:nvPr/>
        </p:nvSpPr>
        <p:spPr>
          <a:xfrm>
            <a:off x="609600" y="5962650"/>
            <a:ext cx="10572750" cy="381000"/>
          </a:xfrm>
          <a:prstGeom prst="rect">
            <a:avLst/>
          </a:prstGeom>
          <a:noFill/>
          <a:ln w="0">
            <a:noFill/>
            <a:prstDash val="solid"/>
          </a:ln>
        </p:spPr>
        <p:txBody>
          <a:bodyPr lIns="0" tIns="0" rIns="0" bIns="0" anchor="t"/>
          <a:lstStyle>
            <a:defPPr>
              <a:defRPr sz="1275" b="0">
                <a:solidFill>
                  <a:srgbClr val="536575"/>
                </a:solidFill>
                <a:latin typeface="DejaVu Sans"/>
                <a:ea typeface="DejaVu Sans"/>
                <a:cs typeface="DejaVu Sans"/>
              </a:defRPr>
            </a:defPPr>
            <a:lvl1pPr>
              <a:defRPr sz="1275" b="0">
                <a:solidFill>
                  <a:srgbClr val="536575"/>
                </a:solidFill>
                <a:latin typeface="DejaVu Sans"/>
                <a:ea typeface="DejaVu Sans"/>
                <a:cs typeface="DejaVu Sans"/>
              </a:defRPr>
            </a:lvl1pPr>
            <a:lvl2pPr>
              <a:defRPr sz="1275" b="0">
                <a:solidFill>
                  <a:srgbClr val="536575"/>
                </a:solidFill>
                <a:latin typeface="DejaVu Sans"/>
                <a:ea typeface="DejaVu Sans"/>
                <a:cs typeface="DejaVu Sans"/>
              </a:defRPr>
            </a:lvl2pPr>
            <a:lvl3pPr>
              <a:defRPr sz="1275" b="0">
                <a:solidFill>
                  <a:srgbClr val="536575"/>
                </a:solidFill>
                <a:latin typeface="DejaVu Sans"/>
                <a:ea typeface="DejaVu Sans"/>
                <a:cs typeface="DejaVu Sans"/>
              </a:defRPr>
            </a:lvl3pPr>
            <a:lvl4pPr>
              <a:defRPr sz="1275" b="0">
                <a:solidFill>
                  <a:srgbClr val="536575"/>
                </a:solidFill>
                <a:latin typeface="DejaVu Sans"/>
                <a:ea typeface="DejaVu Sans"/>
                <a:cs typeface="DejaVu Sans"/>
              </a:defRPr>
            </a:lvl4pPr>
            <a:lvl5pPr>
              <a:defRPr sz="1275" b="0">
                <a:solidFill>
                  <a:srgbClr val="536575"/>
                </a:solidFill>
                <a:latin typeface="DejaVu Sans"/>
                <a:ea typeface="DejaVu Sans"/>
                <a:cs typeface="DejaVu Sans"/>
              </a:defRPr>
            </a:lvl5pPr>
            <a:lvl6pPr>
              <a:defRPr sz="1275" b="0">
                <a:solidFill>
                  <a:srgbClr val="536575"/>
                </a:solidFill>
                <a:latin typeface="DejaVu Sans"/>
                <a:ea typeface="DejaVu Sans"/>
                <a:cs typeface="DejaVu Sans"/>
              </a:defRPr>
            </a:lvl6pPr>
            <a:lvl7pPr>
              <a:defRPr sz="1275" b="0">
                <a:solidFill>
                  <a:srgbClr val="536575"/>
                </a:solidFill>
                <a:latin typeface="DejaVu Sans"/>
                <a:ea typeface="DejaVu Sans"/>
                <a:cs typeface="DejaVu Sans"/>
              </a:defRPr>
            </a:lvl7pPr>
            <a:lvl8pPr>
              <a:defRPr sz="1275" b="0">
                <a:solidFill>
                  <a:srgbClr val="536575"/>
                </a:solidFill>
                <a:latin typeface="DejaVu Sans"/>
                <a:ea typeface="DejaVu Sans"/>
                <a:cs typeface="DejaVu Sans"/>
              </a:defRPr>
            </a:lvl8pPr>
            <a:lvl9pPr>
              <a:defRPr sz="1275" b="0">
                <a:solidFill>
                  <a:srgbClr val="536575"/>
                </a:solidFill>
                <a:latin typeface="DejaVu Sans"/>
                <a:ea typeface="DejaVu Sans"/>
                <a:cs typeface="DejaVu Sans"/>
              </a:defRPr>
            </a:lvl9pPr>
          </a:lstStyle>
          <a:p>
            <a:pPr>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El diseño por aulas, la no respuesta y las necesidades de la regresión pueden modificar la meta.</a:t>
            </a:r>
          </a:p>
        </p:txBody>
      </p:sp>
    </p:spTree>
    <p:extLst>
      <p:ext uri="{BB962C8B-B14F-4D97-AF65-F5344CB8AC3E}">
        <p14:creationId xmlns:p14="http://schemas.microsoft.com/office/powerpoint/2010/main" val="2086669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2843E069-CA3A-41BB-AA04-58CDCC2702AF}"/>
              </a:ext>
            </a:extLst>
          </p:cNvPr>
          <p:cNvSpPr>
            <a:spLocks noGrp="1"/>
          </p:cNvSpPr>
          <p:nvPr/>
        </p:nvSpPr>
        <p:spPr>
          <a:xfrm>
            <a:off x="609600" y="323850"/>
            <a:ext cx="10477500" cy="238125"/>
          </a:xfrm>
          <a:prstGeom prst="rect">
            <a:avLst/>
          </a:prstGeom>
          <a:noFill/>
          <a:ln w="0">
            <a:noFill/>
            <a:prstDash val="solid"/>
          </a:ln>
        </p:spPr>
        <p:txBody>
          <a:bodyPr lIns="0" tIns="0" rIns="0" bIns="0" anchor="t"/>
          <a:lstStyle>
            <a:defPPr>
              <a:defRPr sz="1200" b="1">
                <a:solidFill>
                  <a:srgbClr val="007F7B"/>
                </a:solidFill>
                <a:latin typeface="DejaVu Sans"/>
                <a:ea typeface="DejaVu Sans"/>
                <a:cs typeface="DejaVu Sans"/>
              </a:defRPr>
            </a:defPPr>
            <a:lvl1pPr>
              <a:defRPr sz="1200" b="1">
                <a:solidFill>
                  <a:srgbClr val="007F7B"/>
                </a:solidFill>
                <a:latin typeface="DejaVu Sans"/>
                <a:ea typeface="DejaVu Sans"/>
                <a:cs typeface="DejaVu Sans"/>
              </a:defRPr>
            </a:lvl1pPr>
            <a:lvl2pPr>
              <a:defRPr sz="1200" b="1">
                <a:solidFill>
                  <a:srgbClr val="007F7B"/>
                </a:solidFill>
                <a:latin typeface="DejaVu Sans"/>
                <a:ea typeface="DejaVu Sans"/>
                <a:cs typeface="DejaVu Sans"/>
              </a:defRPr>
            </a:lvl2pPr>
            <a:lvl3pPr>
              <a:defRPr sz="1200" b="1">
                <a:solidFill>
                  <a:srgbClr val="007F7B"/>
                </a:solidFill>
                <a:latin typeface="DejaVu Sans"/>
                <a:ea typeface="DejaVu Sans"/>
                <a:cs typeface="DejaVu Sans"/>
              </a:defRPr>
            </a:lvl3pPr>
            <a:lvl4pPr>
              <a:defRPr sz="1200" b="1">
                <a:solidFill>
                  <a:srgbClr val="007F7B"/>
                </a:solidFill>
                <a:latin typeface="DejaVu Sans"/>
                <a:ea typeface="DejaVu Sans"/>
                <a:cs typeface="DejaVu Sans"/>
              </a:defRPr>
            </a:lvl4pPr>
            <a:lvl5pPr>
              <a:defRPr sz="1200" b="1">
                <a:solidFill>
                  <a:srgbClr val="007F7B"/>
                </a:solidFill>
                <a:latin typeface="DejaVu Sans"/>
                <a:ea typeface="DejaVu Sans"/>
                <a:cs typeface="DejaVu Sans"/>
              </a:defRPr>
            </a:lvl5pPr>
            <a:lvl6pPr>
              <a:defRPr sz="1200" b="1">
                <a:solidFill>
                  <a:srgbClr val="007F7B"/>
                </a:solidFill>
                <a:latin typeface="DejaVu Sans"/>
                <a:ea typeface="DejaVu Sans"/>
                <a:cs typeface="DejaVu Sans"/>
              </a:defRPr>
            </a:lvl6pPr>
            <a:lvl7pPr>
              <a:defRPr sz="1200" b="1">
                <a:solidFill>
                  <a:srgbClr val="007F7B"/>
                </a:solidFill>
                <a:latin typeface="DejaVu Sans"/>
                <a:ea typeface="DejaVu Sans"/>
                <a:cs typeface="DejaVu Sans"/>
              </a:defRPr>
            </a:lvl7pPr>
            <a:lvl8pPr>
              <a:defRPr sz="1200" b="1">
                <a:solidFill>
                  <a:srgbClr val="007F7B"/>
                </a:solidFill>
                <a:latin typeface="DejaVu Sans"/>
                <a:ea typeface="DejaVu Sans"/>
                <a:cs typeface="DejaVu Sans"/>
              </a:defRPr>
            </a:lvl8pPr>
            <a:lvl9pPr>
              <a:defRPr sz="1200" b="1">
                <a:solidFill>
                  <a:srgbClr val="007F7B"/>
                </a:solidFill>
                <a:latin typeface="DejaVu Sans"/>
                <a:ea typeface="DejaVu Sans"/>
                <a:cs typeface="DejaVu Sans"/>
              </a:defRPr>
            </a:lvl9pPr>
          </a:lstStyle>
          <a:p>
            <a:pPr>
              <a:defRPr sz="1200" b="1">
                <a:solidFill>
                  <a:srgbClr val="007F7B"/>
                </a:solidFill>
                <a:latin typeface="DejaVu Sans"/>
                <a:ea typeface="DejaVu Sans"/>
                <a:cs typeface="DejaVu Sans"/>
              </a:defRPr>
            </a:pPr>
            <a:r>
              <a:rPr sz="1200" b="1">
                <a:solidFill>
                  <a:srgbClr val="007F7B"/>
                </a:solidFill>
                <a:latin typeface="DejaVu Sans"/>
                <a:ea typeface="DejaVu Sans"/>
                <a:cs typeface="DejaVu Sans"/>
              </a:rPr>
              <a:t>CIERRE DE LA EXPOSICIÓN</a:t>
            </a:r>
          </a:p>
        </p:txBody>
      </p:sp>
      <p:sp>
        <p:nvSpPr>
          <p:cNvPr id="2" name="text-1">
            <a:extLst>
              <a:ext uri="{FF2B5EF4-FFF2-40B4-BE49-F238E27FC236}">
                <a16:creationId xmlns:a16="http://schemas.microsoft.com/office/drawing/2014/main" id="{7A69B850-8D0A-4C19-9FD8-6E18B717D8C7}"/>
              </a:ext>
            </a:extLst>
          </p:cNvPr>
          <p:cNvSpPr>
            <a:spLocks noGrp="1"/>
          </p:cNvSpPr>
          <p:nvPr/>
        </p:nvSpPr>
        <p:spPr>
          <a:xfrm>
            <a:off x="609600" y="838200"/>
            <a:ext cx="10953750" cy="952500"/>
          </a:xfrm>
          <a:prstGeom prst="rect">
            <a:avLst/>
          </a:prstGeom>
          <a:noFill/>
          <a:ln w="0">
            <a:noFill/>
            <a:prstDash val="solid"/>
          </a:ln>
        </p:spPr>
        <p:txBody>
          <a:bodyPr lIns="0" tIns="0" rIns="0" bIns="0" anchor="t"/>
          <a:lstStyle>
            <a:defPPr>
              <a:defRPr sz="3150" b="1">
                <a:solidFill>
                  <a:srgbClr val="102B46"/>
                </a:solidFill>
                <a:latin typeface="DejaVu Sans"/>
                <a:ea typeface="DejaVu Sans"/>
                <a:cs typeface="DejaVu Sans"/>
              </a:defRPr>
            </a:defPPr>
            <a:lvl1pPr>
              <a:defRPr sz="3150" b="1">
                <a:solidFill>
                  <a:srgbClr val="102B46"/>
                </a:solidFill>
                <a:latin typeface="DejaVu Sans"/>
                <a:ea typeface="DejaVu Sans"/>
                <a:cs typeface="DejaVu Sans"/>
              </a:defRPr>
            </a:lvl1pPr>
            <a:lvl2pPr>
              <a:defRPr sz="3150" b="1">
                <a:solidFill>
                  <a:srgbClr val="102B46"/>
                </a:solidFill>
                <a:latin typeface="DejaVu Sans"/>
                <a:ea typeface="DejaVu Sans"/>
                <a:cs typeface="DejaVu Sans"/>
              </a:defRPr>
            </a:lvl2pPr>
            <a:lvl3pPr>
              <a:defRPr sz="3150" b="1">
                <a:solidFill>
                  <a:srgbClr val="102B46"/>
                </a:solidFill>
                <a:latin typeface="DejaVu Sans"/>
                <a:ea typeface="DejaVu Sans"/>
                <a:cs typeface="DejaVu Sans"/>
              </a:defRPr>
            </a:lvl3pPr>
            <a:lvl4pPr>
              <a:defRPr sz="3150" b="1">
                <a:solidFill>
                  <a:srgbClr val="102B46"/>
                </a:solidFill>
                <a:latin typeface="DejaVu Sans"/>
                <a:ea typeface="DejaVu Sans"/>
                <a:cs typeface="DejaVu Sans"/>
              </a:defRPr>
            </a:lvl4pPr>
            <a:lvl5pPr>
              <a:defRPr sz="3150" b="1">
                <a:solidFill>
                  <a:srgbClr val="102B46"/>
                </a:solidFill>
                <a:latin typeface="DejaVu Sans"/>
                <a:ea typeface="DejaVu Sans"/>
                <a:cs typeface="DejaVu Sans"/>
              </a:defRPr>
            </a:lvl5pPr>
            <a:lvl6pPr>
              <a:defRPr sz="3150" b="1">
                <a:solidFill>
                  <a:srgbClr val="102B46"/>
                </a:solidFill>
                <a:latin typeface="DejaVu Sans"/>
                <a:ea typeface="DejaVu Sans"/>
                <a:cs typeface="DejaVu Sans"/>
              </a:defRPr>
            </a:lvl6pPr>
            <a:lvl7pPr>
              <a:defRPr sz="3150" b="1">
                <a:solidFill>
                  <a:srgbClr val="102B46"/>
                </a:solidFill>
                <a:latin typeface="DejaVu Sans"/>
                <a:ea typeface="DejaVu Sans"/>
                <a:cs typeface="DejaVu Sans"/>
              </a:defRPr>
            </a:lvl7pPr>
            <a:lvl8pPr>
              <a:defRPr sz="3150" b="1">
                <a:solidFill>
                  <a:srgbClr val="102B46"/>
                </a:solidFill>
                <a:latin typeface="DejaVu Sans"/>
                <a:ea typeface="DejaVu Sans"/>
                <a:cs typeface="DejaVu Sans"/>
              </a:defRPr>
            </a:lvl8pPr>
            <a:lvl9pPr>
              <a:defRPr sz="3150" b="1">
                <a:solidFill>
                  <a:srgbClr val="102B46"/>
                </a:solidFill>
                <a:latin typeface="DejaVu Sans"/>
                <a:ea typeface="DejaVu Sans"/>
                <a:cs typeface="DejaVu Sans"/>
              </a:defRPr>
            </a:lvl9pPr>
          </a:lstStyle>
          <a:p>
            <a:pPr>
              <a:defRPr sz="3150" b="1">
                <a:solidFill>
                  <a:srgbClr val="102B46"/>
                </a:solidFill>
                <a:latin typeface="DejaVu Sans"/>
                <a:ea typeface="DejaVu Sans"/>
                <a:cs typeface="DejaVu Sans"/>
              </a:defRPr>
            </a:pPr>
            <a:r>
              <a:rPr sz="3150" b="1">
                <a:solidFill>
                  <a:srgbClr val="102B46"/>
                </a:solidFill>
                <a:latin typeface="DejaVu Sans"/>
                <a:ea typeface="DejaVu Sans"/>
                <a:cs typeface="DejaVu Sans"/>
              </a:rPr>
              <a:t>Decisiones para la discusión del equipo</a:t>
            </a:r>
          </a:p>
        </p:txBody>
      </p:sp>
      <p:sp>
        <p:nvSpPr>
          <p:cNvPr id="3" name="text-2">
            <a:extLst>
              <a:ext uri="{FF2B5EF4-FFF2-40B4-BE49-F238E27FC236}">
                <a16:creationId xmlns:a16="http://schemas.microsoft.com/office/drawing/2014/main" id="{5FF63056-94CC-452F-B5FF-9C8E932E4DEA}"/>
              </a:ext>
            </a:extLst>
          </p:cNvPr>
          <p:cNvSpPr>
            <a:spLocks noGrp="1"/>
          </p:cNvSpPr>
          <p:nvPr/>
        </p:nvSpPr>
        <p:spPr>
          <a:xfrm>
            <a:off x="10953750" y="6419850"/>
            <a:ext cx="628650" cy="209550"/>
          </a:xfrm>
          <a:prstGeom prst="rect">
            <a:avLst/>
          </a:prstGeom>
          <a:noFill/>
          <a:ln w="0">
            <a:noFill/>
            <a:prstDash val="solid"/>
          </a:ln>
        </p:spPr>
        <p:txBody>
          <a:bodyPr lIns="0" tIns="0" rIns="0" bIns="0" anchor="t"/>
          <a:lstStyle>
            <a:defPPr>
              <a:defRPr sz="1125" b="0">
                <a:solidFill>
                  <a:srgbClr val="536575"/>
                </a:solidFill>
                <a:latin typeface="DejaVu Sans"/>
                <a:ea typeface="DejaVu Sans"/>
                <a:cs typeface="DejaVu Sans"/>
              </a:defRPr>
            </a:defPPr>
            <a:lvl1pPr>
              <a:defRPr sz="1125" b="0">
                <a:solidFill>
                  <a:srgbClr val="536575"/>
                </a:solidFill>
                <a:latin typeface="DejaVu Sans"/>
                <a:ea typeface="DejaVu Sans"/>
                <a:cs typeface="DejaVu Sans"/>
              </a:defRPr>
            </a:lvl1pPr>
            <a:lvl2pPr>
              <a:defRPr sz="1125" b="0">
                <a:solidFill>
                  <a:srgbClr val="536575"/>
                </a:solidFill>
                <a:latin typeface="DejaVu Sans"/>
                <a:ea typeface="DejaVu Sans"/>
                <a:cs typeface="DejaVu Sans"/>
              </a:defRPr>
            </a:lvl2pPr>
            <a:lvl3pPr>
              <a:defRPr sz="1125" b="0">
                <a:solidFill>
                  <a:srgbClr val="536575"/>
                </a:solidFill>
                <a:latin typeface="DejaVu Sans"/>
                <a:ea typeface="DejaVu Sans"/>
                <a:cs typeface="DejaVu Sans"/>
              </a:defRPr>
            </a:lvl3pPr>
            <a:lvl4pPr>
              <a:defRPr sz="1125" b="0">
                <a:solidFill>
                  <a:srgbClr val="536575"/>
                </a:solidFill>
                <a:latin typeface="DejaVu Sans"/>
                <a:ea typeface="DejaVu Sans"/>
                <a:cs typeface="DejaVu Sans"/>
              </a:defRPr>
            </a:lvl4pPr>
            <a:lvl5pPr>
              <a:defRPr sz="1125" b="0">
                <a:solidFill>
                  <a:srgbClr val="536575"/>
                </a:solidFill>
                <a:latin typeface="DejaVu Sans"/>
                <a:ea typeface="DejaVu Sans"/>
                <a:cs typeface="DejaVu Sans"/>
              </a:defRPr>
            </a:lvl5pPr>
            <a:lvl6pPr>
              <a:defRPr sz="1125" b="0">
                <a:solidFill>
                  <a:srgbClr val="536575"/>
                </a:solidFill>
                <a:latin typeface="DejaVu Sans"/>
                <a:ea typeface="DejaVu Sans"/>
                <a:cs typeface="DejaVu Sans"/>
              </a:defRPr>
            </a:lvl6pPr>
            <a:lvl7pPr>
              <a:defRPr sz="1125" b="0">
                <a:solidFill>
                  <a:srgbClr val="536575"/>
                </a:solidFill>
                <a:latin typeface="DejaVu Sans"/>
                <a:ea typeface="DejaVu Sans"/>
                <a:cs typeface="DejaVu Sans"/>
              </a:defRPr>
            </a:lvl7pPr>
            <a:lvl8pPr>
              <a:defRPr sz="1125" b="0">
                <a:solidFill>
                  <a:srgbClr val="536575"/>
                </a:solidFill>
                <a:latin typeface="DejaVu Sans"/>
                <a:ea typeface="DejaVu Sans"/>
                <a:cs typeface="DejaVu Sans"/>
              </a:defRPr>
            </a:lvl8pPr>
            <a:lvl9pPr>
              <a:defRPr sz="1125" b="0">
                <a:solidFill>
                  <a:srgbClr val="536575"/>
                </a:solidFill>
                <a:latin typeface="DejaVu Sans"/>
                <a:ea typeface="DejaVu Sans"/>
                <a:cs typeface="DejaVu Sans"/>
              </a:defRPr>
            </a:lvl9pPr>
          </a:lstStyle>
          <a:p>
            <a:pPr>
              <a:defRPr sz="1125" b="0">
                <a:solidFill>
                  <a:srgbClr val="536575"/>
                </a:solidFill>
                <a:latin typeface="DejaVu Sans"/>
                <a:ea typeface="DejaVu Sans"/>
                <a:cs typeface="DejaVu Sans"/>
              </a:defRPr>
            </a:pPr>
            <a:r>
              <a:rPr lang="es-ES" sz="1125" b="0" dirty="0">
                <a:solidFill>
                  <a:srgbClr val="536575"/>
                </a:solidFill>
                <a:latin typeface="DejaVu Sans"/>
                <a:ea typeface="DejaVu Sans"/>
                <a:cs typeface="DejaVu Sans"/>
              </a:rPr>
              <a:t>14</a:t>
            </a:r>
            <a:endParaRPr sz="1125" b="0" dirty="0">
              <a:solidFill>
                <a:srgbClr val="536575"/>
              </a:solidFill>
              <a:latin typeface="DejaVu Sans"/>
              <a:ea typeface="DejaVu Sans"/>
              <a:cs typeface="DejaVu Sans"/>
            </a:endParaRPr>
          </a:p>
        </p:txBody>
      </p:sp>
      <p:sp>
        <p:nvSpPr>
          <p:cNvPr id="4" name="text-3">
            <a:extLst>
              <a:ext uri="{FF2B5EF4-FFF2-40B4-BE49-F238E27FC236}">
                <a16:creationId xmlns:a16="http://schemas.microsoft.com/office/drawing/2014/main" id="{B60CA460-8104-47D7-9E24-912027C5F4B4}"/>
              </a:ext>
            </a:extLst>
          </p:cNvPr>
          <p:cNvSpPr>
            <a:spLocks noGrp="1"/>
          </p:cNvSpPr>
          <p:nvPr/>
        </p:nvSpPr>
        <p:spPr>
          <a:xfrm>
            <a:off x="609600" y="1952625"/>
            <a:ext cx="10820400" cy="323850"/>
          </a:xfrm>
          <a:prstGeom prst="rect">
            <a:avLst/>
          </a:prstGeom>
          <a:noFill/>
          <a:ln w="0">
            <a:noFill/>
            <a:prstDash val="solid"/>
          </a:ln>
        </p:spPr>
        <p:txBody>
          <a:bodyPr lIns="0" tIns="0" rIns="0" bIns="0" anchor="t"/>
          <a:lstStyle>
            <a:defPPr>
              <a:defRPr sz="2100" b="1">
                <a:solidFill>
                  <a:srgbClr val="007F7B"/>
                </a:solidFill>
                <a:latin typeface="DejaVu Sans"/>
                <a:ea typeface="DejaVu Sans"/>
                <a:cs typeface="DejaVu Sans"/>
              </a:defRPr>
            </a:defPPr>
            <a:lvl1pPr>
              <a:defRPr sz="2100" b="1">
                <a:solidFill>
                  <a:srgbClr val="007F7B"/>
                </a:solidFill>
                <a:latin typeface="DejaVu Sans"/>
                <a:ea typeface="DejaVu Sans"/>
                <a:cs typeface="DejaVu Sans"/>
              </a:defRPr>
            </a:lvl1pPr>
            <a:lvl2pPr>
              <a:defRPr sz="2100" b="1">
                <a:solidFill>
                  <a:srgbClr val="007F7B"/>
                </a:solidFill>
                <a:latin typeface="DejaVu Sans"/>
                <a:ea typeface="DejaVu Sans"/>
                <a:cs typeface="DejaVu Sans"/>
              </a:defRPr>
            </a:lvl2pPr>
            <a:lvl3pPr>
              <a:defRPr sz="2100" b="1">
                <a:solidFill>
                  <a:srgbClr val="007F7B"/>
                </a:solidFill>
                <a:latin typeface="DejaVu Sans"/>
                <a:ea typeface="DejaVu Sans"/>
                <a:cs typeface="DejaVu Sans"/>
              </a:defRPr>
            </a:lvl3pPr>
            <a:lvl4pPr>
              <a:defRPr sz="2100" b="1">
                <a:solidFill>
                  <a:srgbClr val="007F7B"/>
                </a:solidFill>
                <a:latin typeface="DejaVu Sans"/>
                <a:ea typeface="DejaVu Sans"/>
                <a:cs typeface="DejaVu Sans"/>
              </a:defRPr>
            </a:lvl4pPr>
            <a:lvl5pPr>
              <a:defRPr sz="2100" b="1">
                <a:solidFill>
                  <a:srgbClr val="007F7B"/>
                </a:solidFill>
                <a:latin typeface="DejaVu Sans"/>
                <a:ea typeface="DejaVu Sans"/>
                <a:cs typeface="DejaVu Sans"/>
              </a:defRPr>
            </a:lvl5pPr>
            <a:lvl6pPr>
              <a:defRPr sz="2100" b="1">
                <a:solidFill>
                  <a:srgbClr val="007F7B"/>
                </a:solidFill>
                <a:latin typeface="DejaVu Sans"/>
                <a:ea typeface="DejaVu Sans"/>
                <a:cs typeface="DejaVu Sans"/>
              </a:defRPr>
            </a:lvl6pPr>
            <a:lvl7pPr>
              <a:defRPr sz="2100" b="1">
                <a:solidFill>
                  <a:srgbClr val="007F7B"/>
                </a:solidFill>
                <a:latin typeface="DejaVu Sans"/>
                <a:ea typeface="DejaVu Sans"/>
                <a:cs typeface="DejaVu Sans"/>
              </a:defRPr>
            </a:lvl7pPr>
            <a:lvl8pPr>
              <a:defRPr sz="2100" b="1">
                <a:solidFill>
                  <a:srgbClr val="007F7B"/>
                </a:solidFill>
                <a:latin typeface="DejaVu Sans"/>
                <a:ea typeface="DejaVu Sans"/>
                <a:cs typeface="DejaVu Sans"/>
              </a:defRPr>
            </a:lvl8pPr>
            <a:lvl9pPr>
              <a:defRPr sz="2100" b="1">
                <a:solidFill>
                  <a:srgbClr val="007F7B"/>
                </a:solidFill>
                <a:latin typeface="DejaVu Sans"/>
                <a:ea typeface="DejaVu Sans"/>
                <a:cs typeface="DejaVu Sans"/>
              </a:defRPr>
            </a:lvl9pPr>
          </a:lstStyle>
          <a:p>
            <a:pPr>
              <a:defRPr sz="2100" b="1">
                <a:solidFill>
                  <a:srgbClr val="007F7B"/>
                </a:solidFill>
                <a:latin typeface="DejaVu Sans"/>
                <a:ea typeface="DejaVu Sans"/>
                <a:cs typeface="DejaVu Sans"/>
              </a:defRPr>
            </a:pPr>
            <a:r>
              <a:rPr sz="2100" b="1">
                <a:solidFill>
                  <a:srgbClr val="007F7B"/>
                </a:solidFill>
                <a:latin typeface="DejaVu Sans"/>
                <a:ea typeface="DejaVu Sans"/>
                <a:cs typeface="DejaVu Sans"/>
              </a:rPr>
              <a:t>Población e instrumento</a:t>
            </a:r>
          </a:p>
        </p:txBody>
      </p:sp>
      <p:sp>
        <p:nvSpPr>
          <p:cNvPr id="5" name="text-4">
            <a:extLst>
              <a:ext uri="{FF2B5EF4-FFF2-40B4-BE49-F238E27FC236}">
                <a16:creationId xmlns:a16="http://schemas.microsoft.com/office/drawing/2014/main" id="{646E355F-E33B-4441-9730-6CB66ED6ACA0}"/>
              </a:ext>
            </a:extLst>
          </p:cNvPr>
          <p:cNvSpPr>
            <a:spLocks noGrp="1"/>
          </p:cNvSpPr>
          <p:nvPr/>
        </p:nvSpPr>
        <p:spPr>
          <a:xfrm>
            <a:off x="609600" y="2324100"/>
            <a:ext cx="10820400" cy="695325"/>
          </a:xfrm>
          <a:prstGeom prst="rect">
            <a:avLst/>
          </a:prstGeom>
          <a:noFill/>
          <a:ln w="0">
            <a:noFill/>
            <a:prstDash val="solid"/>
          </a:ln>
        </p:spPr>
        <p:txBody>
          <a:bodyPr lIns="0" tIns="0" rIns="0" bIns="0" anchor="t"/>
          <a:lstStyle>
            <a:defPPr>
              <a:defRPr sz="1950" b="0">
                <a:solidFill>
                  <a:srgbClr val="102B46"/>
                </a:solidFill>
                <a:latin typeface="DejaVu Sans"/>
                <a:ea typeface="DejaVu Sans"/>
                <a:cs typeface="DejaVu Sans"/>
              </a:defRPr>
            </a:defPPr>
            <a:lvl1pPr>
              <a:defRPr sz="1950" b="0">
                <a:solidFill>
                  <a:srgbClr val="102B46"/>
                </a:solidFill>
                <a:latin typeface="DejaVu Sans"/>
                <a:ea typeface="DejaVu Sans"/>
                <a:cs typeface="DejaVu Sans"/>
              </a:defRPr>
            </a:lvl1pPr>
            <a:lvl2pPr>
              <a:defRPr sz="1950" b="0">
                <a:solidFill>
                  <a:srgbClr val="102B46"/>
                </a:solidFill>
                <a:latin typeface="DejaVu Sans"/>
                <a:ea typeface="DejaVu Sans"/>
                <a:cs typeface="DejaVu Sans"/>
              </a:defRPr>
            </a:lvl2pPr>
            <a:lvl3pPr>
              <a:defRPr sz="1950" b="0">
                <a:solidFill>
                  <a:srgbClr val="102B46"/>
                </a:solidFill>
                <a:latin typeface="DejaVu Sans"/>
                <a:ea typeface="DejaVu Sans"/>
                <a:cs typeface="DejaVu Sans"/>
              </a:defRPr>
            </a:lvl3pPr>
            <a:lvl4pPr>
              <a:defRPr sz="1950" b="0">
                <a:solidFill>
                  <a:srgbClr val="102B46"/>
                </a:solidFill>
                <a:latin typeface="DejaVu Sans"/>
                <a:ea typeface="DejaVu Sans"/>
                <a:cs typeface="DejaVu Sans"/>
              </a:defRPr>
            </a:lvl4pPr>
            <a:lvl5pPr>
              <a:defRPr sz="1950" b="0">
                <a:solidFill>
                  <a:srgbClr val="102B46"/>
                </a:solidFill>
                <a:latin typeface="DejaVu Sans"/>
                <a:ea typeface="DejaVu Sans"/>
                <a:cs typeface="DejaVu Sans"/>
              </a:defRPr>
            </a:lvl5pPr>
            <a:lvl6pPr>
              <a:defRPr sz="1950" b="0">
                <a:solidFill>
                  <a:srgbClr val="102B46"/>
                </a:solidFill>
                <a:latin typeface="DejaVu Sans"/>
                <a:ea typeface="DejaVu Sans"/>
                <a:cs typeface="DejaVu Sans"/>
              </a:defRPr>
            </a:lvl6pPr>
            <a:lvl7pPr>
              <a:defRPr sz="1950" b="0">
                <a:solidFill>
                  <a:srgbClr val="102B46"/>
                </a:solidFill>
                <a:latin typeface="DejaVu Sans"/>
                <a:ea typeface="DejaVu Sans"/>
                <a:cs typeface="DejaVu Sans"/>
              </a:defRPr>
            </a:lvl7pPr>
            <a:lvl8pPr>
              <a:defRPr sz="1950" b="0">
                <a:solidFill>
                  <a:srgbClr val="102B46"/>
                </a:solidFill>
                <a:latin typeface="DejaVu Sans"/>
                <a:ea typeface="DejaVu Sans"/>
                <a:cs typeface="DejaVu Sans"/>
              </a:defRPr>
            </a:lvl8pPr>
            <a:lvl9pPr>
              <a:defRPr sz="1950" b="0">
                <a:solidFill>
                  <a:srgbClr val="102B46"/>
                </a:solidFill>
                <a:latin typeface="DejaVu Sans"/>
                <a:ea typeface="DejaVu Sans"/>
                <a:cs typeface="DejaVu Sans"/>
              </a:defRPr>
            </a:lvl9pPr>
          </a:lstStyle>
          <a:p>
            <a:pPr>
              <a:defRPr sz="1950" b="0">
                <a:solidFill>
                  <a:srgbClr val="102B46"/>
                </a:solidFill>
                <a:latin typeface="DejaVu Sans"/>
                <a:ea typeface="DejaVu Sans"/>
                <a:cs typeface="DejaVu Sans"/>
              </a:defRPr>
            </a:pPr>
            <a:r>
              <a:rPr sz="1950" b="0">
                <a:solidFill>
                  <a:srgbClr val="102B46"/>
                </a:solidFill>
                <a:latin typeface="DejaVu Sans"/>
                <a:ea typeface="DejaVu Sans"/>
                <a:cs typeface="DejaVu Sans"/>
              </a:rPr>
              <a:t>Fijar periodo, elegibilidad, puntuación principal y versión para supervisores.</a:t>
            </a:r>
          </a:p>
        </p:txBody>
      </p:sp>
      <p:sp>
        <p:nvSpPr>
          <p:cNvPr id="6" name="text-5">
            <a:extLst>
              <a:ext uri="{FF2B5EF4-FFF2-40B4-BE49-F238E27FC236}">
                <a16:creationId xmlns:a16="http://schemas.microsoft.com/office/drawing/2014/main" id="{0C0535E8-4F60-453F-8347-089D7A40C73F}"/>
              </a:ext>
            </a:extLst>
          </p:cNvPr>
          <p:cNvSpPr>
            <a:spLocks noGrp="1"/>
          </p:cNvSpPr>
          <p:nvPr/>
        </p:nvSpPr>
        <p:spPr>
          <a:xfrm>
            <a:off x="609600" y="3019425"/>
            <a:ext cx="10820400" cy="323850"/>
          </a:xfrm>
          <a:prstGeom prst="rect">
            <a:avLst/>
          </a:prstGeom>
          <a:noFill/>
          <a:ln w="0">
            <a:noFill/>
            <a:prstDash val="solid"/>
          </a:ln>
        </p:spPr>
        <p:txBody>
          <a:bodyPr lIns="0" tIns="0" rIns="0" bIns="0" anchor="t"/>
          <a:lstStyle>
            <a:defPPr>
              <a:defRPr sz="2100" b="1">
                <a:solidFill>
                  <a:srgbClr val="007F7B"/>
                </a:solidFill>
                <a:latin typeface="DejaVu Sans"/>
                <a:ea typeface="DejaVu Sans"/>
                <a:cs typeface="DejaVu Sans"/>
              </a:defRPr>
            </a:defPPr>
            <a:lvl1pPr>
              <a:defRPr sz="2100" b="1">
                <a:solidFill>
                  <a:srgbClr val="007F7B"/>
                </a:solidFill>
                <a:latin typeface="DejaVu Sans"/>
                <a:ea typeface="DejaVu Sans"/>
                <a:cs typeface="DejaVu Sans"/>
              </a:defRPr>
            </a:lvl1pPr>
            <a:lvl2pPr>
              <a:defRPr sz="2100" b="1">
                <a:solidFill>
                  <a:srgbClr val="007F7B"/>
                </a:solidFill>
                <a:latin typeface="DejaVu Sans"/>
                <a:ea typeface="DejaVu Sans"/>
                <a:cs typeface="DejaVu Sans"/>
              </a:defRPr>
            </a:lvl2pPr>
            <a:lvl3pPr>
              <a:defRPr sz="2100" b="1">
                <a:solidFill>
                  <a:srgbClr val="007F7B"/>
                </a:solidFill>
                <a:latin typeface="DejaVu Sans"/>
                <a:ea typeface="DejaVu Sans"/>
                <a:cs typeface="DejaVu Sans"/>
              </a:defRPr>
            </a:lvl3pPr>
            <a:lvl4pPr>
              <a:defRPr sz="2100" b="1">
                <a:solidFill>
                  <a:srgbClr val="007F7B"/>
                </a:solidFill>
                <a:latin typeface="DejaVu Sans"/>
                <a:ea typeface="DejaVu Sans"/>
                <a:cs typeface="DejaVu Sans"/>
              </a:defRPr>
            </a:lvl4pPr>
            <a:lvl5pPr>
              <a:defRPr sz="2100" b="1">
                <a:solidFill>
                  <a:srgbClr val="007F7B"/>
                </a:solidFill>
                <a:latin typeface="DejaVu Sans"/>
                <a:ea typeface="DejaVu Sans"/>
                <a:cs typeface="DejaVu Sans"/>
              </a:defRPr>
            </a:lvl5pPr>
            <a:lvl6pPr>
              <a:defRPr sz="2100" b="1">
                <a:solidFill>
                  <a:srgbClr val="007F7B"/>
                </a:solidFill>
                <a:latin typeface="DejaVu Sans"/>
                <a:ea typeface="DejaVu Sans"/>
                <a:cs typeface="DejaVu Sans"/>
              </a:defRPr>
            </a:lvl6pPr>
            <a:lvl7pPr>
              <a:defRPr sz="2100" b="1">
                <a:solidFill>
                  <a:srgbClr val="007F7B"/>
                </a:solidFill>
                <a:latin typeface="DejaVu Sans"/>
                <a:ea typeface="DejaVu Sans"/>
                <a:cs typeface="DejaVu Sans"/>
              </a:defRPr>
            </a:lvl7pPr>
            <a:lvl8pPr>
              <a:defRPr sz="2100" b="1">
                <a:solidFill>
                  <a:srgbClr val="007F7B"/>
                </a:solidFill>
                <a:latin typeface="DejaVu Sans"/>
                <a:ea typeface="DejaVu Sans"/>
                <a:cs typeface="DejaVu Sans"/>
              </a:defRPr>
            </a:lvl8pPr>
            <a:lvl9pPr>
              <a:defRPr sz="2100" b="1">
                <a:solidFill>
                  <a:srgbClr val="007F7B"/>
                </a:solidFill>
                <a:latin typeface="DejaVu Sans"/>
                <a:ea typeface="DejaVu Sans"/>
                <a:cs typeface="DejaVu Sans"/>
              </a:defRPr>
            </a:lvl9pPr>
          </a:lstStyle>
          <a:p>
            <a:pPr>
              <a:defRPr sz="2100" b="1">
                <a:solidFill>
                  <a:srgbClr val="007F7B"/>
                </a:solidFill>
                <a:latin typeface="DejaVu Sans"/>
                <a:ea typeface="DejaVu Sans"/>
                <a:cs typeface="DejaVu Sans"/>
              </a:defRPr>
            </a:pPr>
            <a:r>
              <a:rPr sz="2100" b="1">
                <a:solidFill>
                  <a:srgbClr val="007F7B"/>
                </a:solidFill>
                <a:latin typeface="DejaVu Sans"/>
                <a:ea typeface="DejaVu Sans"/>
                <a:cs typeface="DejaVu Sans"/>
              </a:rPr>
              <a:t>Muestra y acceso</a:t>
            </a:r>
          </a:p>
        </p:txBody>
      </p:sp>
      <p:sp>
        <p:nvSpPr>
          <p:cNvPr id="7" name="text-6">
            <a:extLst>
              <a:ext uri="{FF2B5EF4-FFF2-40B4-BE49-F238E27FC236}">
                <a16:creationId xmlns:a16="http://schemas.microsoft.com/office/drawing/2014/main" id="{BF8CC455-CAB3-4149-AE56-BDCBD3662AC4}"/>
              </a:ext>
            </a:extLst>
          </p:cNvPr>
          <p:cNvSpPr>
            <a:spLocks noGrp="1"/>
          </p:cNvSpPr>
          <p:nvPr/>
        </p:nvSpPr>
        <p:spPr>
          <a:xfrm>
            <a:off x="609600" y="3390900"/>
            <a:ext cx="10820400" cy="695325"/>
          </a:xfrm>
          <a:prstGeom prst="rect">
            <a:avLst/>
          </a:prstGeom>
          <a:noFill/>
          <a:ln w="0">
            <a:noFill/>
            <a:prstDash val="solid"/>
          </a:ln>
        </p:spPr>
        <p:txBody>
          <a:bodyPr lIns="0" tIns="0" rIns="0" bIns="0" anchor="t"/>
          <a:lstStyle>
            <a:defPPr>
              <a:defRPr sz="1950" b="0">
                <a:solidFill>
                  <a:srgbClr val="102B46"/>
                </a:solidFill>
                <a:latin typeface="DejaVu Sans"/>
                <a:ea typeface="DejaVu Sans"/>
                <a:cs typeface="DejaVu Sans"/>
              </a:defRPr>
            </a:defPPr>
            <a:lvl1pPr>
              <a:defRPr sz="1950" b="0">
                <a:solidFill>
                  <a:srgbClr val="102B46"/>
                </a:solidFill>
                <a:latin typeface="DejaVu Sans"/>
                <a:ea typeface="DejaVu Sans"/>
                <a:cs typeface="DejaVu Sans"/>
              </a:defRPr>
            </a:lvl1pPr>
            <a:lvl2pPr>
              <a:defRPr sz="1950" b="0">
                <a:solidFill>
                  <a:srgbClr val="102B46"/>
                </a:solidFill>
                <a:latin typeface="DejaVu Sans"/>
                <a:ea typeface="DejaVu Sans"/>
                <a:cs typeface="DejaVu Sans"/>
              </a:defRPr>
            </a:lvl2pPr>
            <a:lvl3pPr>
              <a:defRPr sz="1950" b="0">
                <a:solidFill>
                  <a:srgbClr val="102B46"/>
                </a:solidFill>
                <a:latin typeface="DejaVu Sans"/>
                <a:ea typeface="DejaVu Sans"/>
                <a:cs typeface="DejaVu Sans"/>
              </a:defRPr>
            </a:lvl3pPr>
            <a:lvl4pPr>
              <a:defRPr sz="1950" b="0">
                <a:solidFill>
                  <a:srgbClr val="102B46"/>
                </a:solidFill>
                <a:latin typeface="DejaVu Sans"/>
                <a:ea typeface="DejaVu Sans"/>
                <a:cs typeface="DejaVu Sans"/>
              </a:defRPr>
            </a:lvl4pPr>
            <a:lvl5pPr>
              <a:defRPr sz="1950" b="0">
                <a:solidFill>
                  <a:srgbClr val="102B46"/>
                </a:solidFill>
                <a:latin typeface="DejaVu Sans"/>
                <a:ea typeface="DejaVu Sans"/>
                <a:cs typeface="DejaVu Sans"/>
              </a:defRPr>
            </a:lvl5pPr>
            <a:lvl6pPr>
              <a:defRPr sz="1950" b="0">
                <a:solidFill>
                  <a:srgbClr val="102B46"/>
                </a:solidFill>
                <a:latin typeface="DejaVu Sans"/>
                <a:ea typeface="DejaVu Sans"/>
                <a:cs typeface="DejaVu Sans"/>
              </a:defRPr>
            </a:lvl6pPr>
            <a:lvl7pPr>
              <a:defRPr sz="1950" b="0">
                <a:solidFill>
                  <a:srgbClr val="102B46"/>
                </a:solidFill>
                <a:latin typeface="DejaVu Sans"/>
                <a:ea typeface="DejaVu Sans"/>
                <a:cs typeface="DejaVu Sans"/>
              </a:defRPr>
            </a:lvl7pPr>
            <a:lvl8pPr>
              <a:defRPr sz="1950" b="0">
                <a:solidFill>
                  <a:srgbClr val="102B46"/>
                </a:solidFill>
                <a:latin typeface="DejaVu Sans"/>
                <a:ea typeface="DejaVu Sans"/>
                <a:cs typeface="DejaVu Sans"/>
              </a:defRPr>
            </a:lvl8pPr>
            <a:lvl9pPr>
              <a:defRPr sz="1950" b="0">
                <a:solidFill>
                  <a:srgbClr val="102B46"/>
                </a:solidFill>
                <a:latin typeface="DejaVu Sans"/>
                <a:ea typeface="DejaVu Sans"/>
                <a:cs typeface="DejaVu Sans"/>
              </a:defRPr>
            </a:lvl9pPr>
          </a:lstStyle>
          <a:p>
            <a:pPr>
              <a:defRPr sz="1950" b="0">
                <a:solidFill>
                  <a:srgbClr val="102B46"/>
                </a:solidFill>
                <a:latin typeface="DejaVu Sans"/>
                <a:ea typeface="DejaVu Sans"/>
                <a:cs typeface="DejaVu Sans"/>
              </a:defRPr>
            </a:pPr>
            <a:r>
              <a:rPr sz="1950" b="0">
                <a:solidFill>
                  <a:srgbClr val="102B46"/>
                </a:solidFill>
                <a:latin typeface="DejaVu Sans"/>
                <a:ea typeface="DejaVu Sans"/>
                <a:cs typeface="DejaVu Sans"/>
              </a:rPr>
              <a:t>Acordar marco disponible, selección, permisos y seguimiento.</a:t>
            </a:r>
          </a:p>
        </p:txBody>
      </p:sp>
      <p:sp>
        <p:nvSpPr>
          <p:cNvPr id="8" name="text-7">
            <a:extLst>
              <a:ext uri="{FF2B5EF4-FFF2-40B4-BE49-F238E27FC236}">
                <a16:creationId xmlns:a16="http://schemas.microsoft.com/office/drawing/2014/main" id="{0482E57D-6F42-4BEB-B166-744F608349B6}"/>
              </a:ext>
            </a:extLst>
          </p:cNvPr>
          <p:cNvSpPr>
            <a:spLocks noGrp="1"/>
          </p:cNvSpPr>
          <p:nvPr/>
        </p:nvSpPr>
        <p:spPr>
          <a:xfrm>
            <a:off x="609600" y="4086225"/>
            <a:ext cx="10820400" cy="323850"/>
          </a:xfrm>
          <a:prstGeom prst="rect">
            <a:avLst/>
          </a:prstGeom>
          <a:noFill/>
          <a:ln w="0">
            <a:noFill/>
            <a:prstDash val="solid"/>
          </a:ln>
        </p:spPr>
        <p:txBody>
          <a:bodyPr lIns="0" tIns="0" rIns="0" bIns="0" anchor="t"/>
          <a:lstStyle>
            <a:defPPr>
              <a:defRPr sz="2100" b="1">
                <a:solidFill>
                  <a:srgbClr val="007F7B"/>
                </a:solidFill>
                <a:latin typeface="DejaVu Sans"/>
                <a:ea typeface="DejaVu Sans"/>
                <a:cs typeface="DejaVu Sans"/>
              </a:defRPr>
            </a:defPPr>
            <a:lvl1pPr>
              <a:defRPr sz="2100" b="1">
                <a:solidFill>
                  <a:srgbClr val="007F7B"/>
                </a:solidFill>
                <a:latin typeface="DejaVu Sans"/>
                <a:ea typeface="DejaVu Sans"/>
                <a:cs typeface="DejaVu Sans"/>
              </a:defRPr>
            </a:lvl1pPr>
            <a:lvl2pPr>
              <a:defRPr sz="2100" b="1">
                <a:solidFill>
                  <a:srgbClr val="007F7B"/>
                </a:solidFill>
                <a:latin typeface="DejaVu Sans"/>
                <a:ea typeface="DejaVu Sans"/>
                <a:cs typeface="DejaVu Sans"/>
              </a:defRPr>
            </a:lvl2pPr>
            <a:lvl3pPr>
              <a:defRPr sz="2100" b="1">
                <a:solidFill>
                  <a:srgbClr val="007F7B"/>
                </a:solidFill>
                <a:latin typeface="DejaVu Sans"/>
                <a:ea typeface="DejaVu Sans"/>
                <a:cs typeface="DejaVu Sans"/>
              </a:defRPr>
            </a:lvl3pPr>
            <a:lvl4pPr>
              <a:defRPr sz="2100" b="1">
                <a:solidFill>
                  <a:srgbClr val="007F7B"/>
                </a:solidFill>
                <a:latin typeface="DejaVu Sans"/>
                <a:ea typeface="DejaVu Sans"/>
                <a:cs typeface="DejaVu Sans"/>
              </a:defRPr>
            </a:lvl4pPr>
            <a:lvl5pPr>
              <a:defRPr sz="2100" b="1">
                <a:solidFill>
                  <a:srgbClr val="007F7B"/>
                </a:solidFill>
                <a:latin typeface="DejaVu Sans"/>
                <a:ea typeface="DejaVu Sans"/>
                <a:cs typeface="DejaVu Sans"/>
              </a:defRPr>
            </a:lvl5pPr>
            <a:lvl6pPr>
              <a:defRPr sz="2100" b="1">
                <a:solidFill>
                  <a:srgbClr val="007F7B"/>
                </a:solidFill>
                <a:latin typeface="DejaVu Sans"/>
                <a:ea typeface="DejaVu Sans"/>
                <a:cs typeface="DejaVu Sans"/>
              </a:defRPr>
            </a:lvl6pPr>
            <a:lvl7pPr>
              <a:defRPr sz="2100" b="1">
                <a:solidFill>
                  <a:srgbClr val="007F7B"/>
                </a:solidFill>
                <a:latin typeface="DejaVu Sans"/>
                <a:ea typeface="DejaVu Sans"/>
                <a:cs typeface="DejaVu Sans"/>
              </a:defRPr>
            </a:lvl7pPr>
            <a:lvl8pPr>
              <a:defRPr sz="2100" b="1">
                <a:solidFill>
                  <a:srgbClr val="007F7B"/>
                </a:solidFill>
                <a:latin typeface="DejaVu Sans"/>
                <a:ea typeface="DejaVu Sans"/>
                <a:cs typeface="DejaVu Sans"/>
              </a:defRPr>
            </a:lvl8pPr>
            <a:lvl9pPr>
              <a:defRPr sz="2100" b="1">
                <a:solidFill>
                  <a:srgbClr val="007F7B"/>
                </a:solidFill>
                <a:latin typeface="DejaVu Sans"/>
                <a:ea typeface="DejaVu Sans"/>
                <a:cs typeface="DejaVu Sans"/>
              </a:defRPr>
            </a:lvl9pPr>
          </a:lstStyle>
          <a:p>
            <a:pPr>
              <a:defRPr sz="2100" b="1">
                <a:solidFill>
                  <a:srgbClr val="007F7B"/>
                </a:solidFill>
                <a:latin typeface="DejaVu Sans"/>
                <a:ea typeface="DejaVu Sans"/>
                <a:cs typeface="DejaVu Sans"/>
              </a:defRPr>
            </a:pPr>
            <a:r>
              <a:rPr sz="2100" b="1">
                <a:solidFill>
                  <a:srgbClr val="007F7B"/>
                </a:solidFill>
                <a:latin typeface="DejaVu Sans"/>
                <a:ea typeface="DejaVu Sans"/>
                <a:cs typeface="DejaVu Sans"/>
              </a:rPr>
              <a:t>Organización</a:t>
            </a:r>
          </a:p>
        </p:txBody>
      </p:sp>
      <p:sp>
        <p:nvSpPr>
          <p:cNvPr id="9" name="text-8">
            <a:extLst>
              <a:ext uri="{FF2B5EF4-FFF2-40B4-BE49-F238E27FC236}">
                <a16:creationId xmlns:a16="http://schemas.microsoft.com/office/drawing/2014/main" id="{4824C7B3-DC06-4015-86C2-3EBD6C47C62C}"/>
              </a:ext>
            </a:extLst>
          </p:cNvPr>
          <p:cNvSpPr>
            <a:spLocks noGrp="1"/>
          </p:cNvSpPr>
          <p:nvPr/>
        </p:nvSpPr>
        <p:spPr>
          <a:xfrm>
            <a:off x="609600" y="4457700"/>
            <a:ext cx="10820400" cy="695325"/>
          </a:xfrm>
          <a:prstGeom prst="rect">
            <a:avLst/>
          </a:prstGeom>
          <a:noFill/>
          <a:ln w="0">
            <a:noFill/>
            <a:prstDash val="solid"/>
          </a:ln>
        </p:spPr>
        <p:txBody>
          <a:bodyPr lIns="0" tIns="0" rIns="0" bIns="0" anchor="t"/>
          <a:lstStyle>
            <a:defPPr>
              <a:defRPr sz="1950" b="0">
                <a:solidFill>
                  <a:srgbClr val="102B46"/>
                </a:solidFill>
                <a:latin typeface="DejaVu Sans"/>
                <a:ea typeface="DejaVu Sans"/>
                <a:cs typeface="DejaVu Sans"/>
              </a:defRPr>
            </a:defPPr>
            <a:lvl1pPr>
              <a:defRPr sz="1950" b="0">
                <a:solidFill>
                  <a:srgbClr val="102B46"/>
                </a:solidFill>
                <a:latin typeface="DejaVu Sans"/>
                <a:ea typeface="DejaVu Sans"/>
                <a:cs typeface="DejaVu Sans"/>
              </a:defRPr>
            </a:lvl1pPr>
            <a:lvl2pPr>
              <a:defRPr sz="1950" b="0">
                <a:solidFill>
                  <a:srgbClr val="102B46"/>
                </a:solidFill>
                <a:latin typeface="DejaVu Sans"/>
                <a:ea typeface="DejaVu Sans"/>
                <a:cs typeface="DejaVu Sans"/>
              </a:defRPr>
            </a:lvl2pPr>
            <a:lvl3pPr>
              <a:defRPr sz="1950" b="0">
                <a:solidFill>
                  <a:srgbClr val="102B46"/>
                </a:solidFill>
                <a:latin typeface="DejaVu Sans"/>
                <a:ea typeface="DejaVu Sans"/>
                <a:cs typeface="DejaVu Sans"/>
              </a:defRPr>
            </a:lvl3pPr>
            <a:lvl4pPr>
              <a:defRPr sz="1950" b="0">
                <a:solidFill>
                  <a:srgbClr val="102B46"/>
                </a:solidFill>
                <a:latin typeface="DejaVu Sans"/>
                <a:ea typeface="DejaVu Sans"/>
                <a:cs typeface="DejaVu Sans"/>
              </a:defRPr>
            </a:lvl4pPr>
            <a:lvl5pPr>
              <a:defRPr sz="1950" b="0">
                <a:solidFill>
                  <a:srgbClr val="102B46"/>
                </a:solidFill>
                <a:latin typeface="DejaVu Sans"/>
                <a:ea typeface="DejaVu Sans"/>
                <a:cs typeface="DejaVu Sans"/>
              </a:defRPr>
            </a:lvl5pPr>
            <a:lvl6pPr>
              <a:defRPr sz="1950" b="0">
                <a:solidFill>
                  <a:srgbClr val="102B46"/>
                </a:solidFill>
                <a:latin typeface="DejaVu Sans"/>
                <a:ea typeface="DejaVu Sans"/>
                <a:cs typeface="DejaVu Sans"/>
              </a:defRPr>
            </a:lvl6pPr>
            <a:lvl7pPr>
              <a:defRPr sz="1950" b="0">
                <a:solidFill>
                  <a:srgbClr val="102B46"/>
                </a:solidFill>
                <a:latin typeface="DejaVu Sans"/>
                <a:ea typeface="DejaVu Sans"/>
                <a:cs typeface="DejaVu Sans"/>
              </a:defRPr>
            </a:lvl7pPr>
            <a:lvl8pPr>
              <a:defRPr sz="1950" b="0">
                <a:solidFill>
                  <a:srgbClr val="102B46"/>
                </a:solidFill>
                <a:latin typeface="DejaVu Sans"/>
                <a:ea typeface="DejaVu Sans"/>
                <a:cs typeface="DejaVu Sans"/>
              </a:defRPr>
            </a:lvl8pPr>
            <a:lvl9pPr>
              <a:defRPr sz="1950" b="0">
                <a:solidFill>
                  <a:srgbClr val="102B46"/>
                </a:solidFill>
                <a:latin typeface="DejaVu Sans"/>
                <a:ea typeface="DejaVu Sans"/>
                <a:cs typeface="DejaVu Sans"/>
              </a:defRPr>
            </a:lvl9pPr>
          </a:lstStyle>
          <a:p>
            <a:pPr>
              <a:defRPr sz="1950" b="0">
                <a:solidFill>
                  <a:srgbClr val="102B46"/>
                </a:solidFill>
                <a:latin typeface="DejaVu Sans"/>
                <a:ea typeface="DejaVu Sans"/>
                <a:cs typeface="DejaVu Sans"/>
              </a:defRPr>
            </a:pPr>
            <a:r>
              <a:rPr sz="1950" b="0">
                <a:solidFill>
                  <a:srgbClr val="102B46"/>
                </a:solidFill>
                <a:latin typeface="DejaVu Sans"/>
                <a:ea typeface="DejaVu Sans"/>
                <a:cs typeface="DejaVu Sans"/>
              </a:rPr>
              <a:t>Asignar responsables, metas de los componentes y fechas.</a:t>
            </a:r>
          </a:p>
        </p:txBody>
      </p:sp>
      <p:sp>
        <p:nvSpPr>
          <p:cNvPr id="10" name="text-9">
            <a:extLst>
              <a:ext uri="{FF2B5EF4-FFF2-40B4-BE49-F238E27FC236}">
                <a16:creationId xmlns:a16="http://schemas.microsoft.com/office/drawing/2014/main" id="{7BD48C8A-7A60-4500-AEB5-3BB7A621EC75}"/>
              </a:ext>
            </a:extLst>
          </p:cNvPr>
          <p:cNvSpPr>
            <a:spLocks noGrp="1"/>
          </p:cNvSpPr>
          <p:nvPr/>
        </p:nvSpPr>
        <p:spPr>
          <a:xfrm>
            <a:off x="609600" y="5572125"/>
            <a:ext cx="10763250" cy="571500"/>
          </a:xfrm>
          <a:prstGeom prst="rect">
            <a:avLst/>
          </a:prstGeom>
          <a:noFill/>
          <a:ln w="0">
            <a:noFill/>
            <a:prstDash val="solid"/>
          </a:ln>
        </p:spPr>
        <p:txBody>
          <a:bodyPr lIns="0" tIns="0" rIns="0" bIns="0" anchor="t"/>
          <a:lstStyle>
            <a:defPPr>
              <a:defRPr sz="2025" b="1">
                <a:solidFill>
                  <a:srgbClr val="007F7B"/>
                </a:solidFill>
                <a:latin typeface="DejaVu Sans"/>
                <a:ea typeface="DejaVu Sans"/>
                <a:cs typeface="DejaVu Sans"/>
              </a:defRPr>
            </a:defPPr>
            <a:lvl1pPr>
              <a:defRPr sz="2025" b="1">
                <a:solidFill>
                  <a:srgbClr val="007F7B"/>
                </a:solidFill>
                <a:latin typeface="DejaVu Sans"/>
                <a:ea typeface="DejaVu Sans"/>
                <a:cs typeface="DejaVu Sans"/>
              </a:defRPr>
            </a:lvl1pPr>
            <a:lvl2pPr>
              <a:defRPr sz="2025" b="1">
                <a:solidFill>
                  <a:srgbClr val="007F7B"/>
                </a:solidFill>
                <a:latin typeface="DejaVu Sans"/>
                <a:ea typeface="DejaVu Sans"/>
                <a:cs typeface="DejaVu Sans"/>
              </a:defRPr>
            </a:lvl2pPr>
            <a:lvl3pPr>
              <a:defRPr sz="2025" b="1">
                <a:solidFill>
                  <a:srgbClr val="007F7B"/>
                </a:solidFill>
                <a:latin typeface="DejaVu Sans"/>
                <a:ea typeface="DejaVu Sans"/>
                <a:cs typeface="DejaVu Sans"/>
              </a:defRPr>
            </a:lvl3pPr>
            <a:lvl4pPr>
              <a:defRPr sz="2025" b="1">
                <a:solidFill>
                  <a:srgbClr val="007F7B"/>
                </a:solidFill>
                <a:latin typeface="DejaVu Sans"/>
                <a:ea typeface="DejaVu Sans"/>
                <a:cs typeface="DejaVu Sans"/>
              </a:defRPr>
            </a:lvl4pPr>
            <a:lvl5pPr>
              <a:defRPr sz="2025" b="1">
                <a:solidFill>
                  <a:srgbClr val="007F7B"/>
                </a:solidFill>
                <a:latin typeface="DejaVu Sans"/>
                <a:ea typeface="DejaVu Sans"/>
                <a:cs typeface="DejaVu Sans"/>
              </a:defRPr>
            </a:lvl5pPr>
            <a:lvl6pPr>
              <a:defRPr sz="2025" b="1">
                <a:solidFill>
                  <a:srgbClr val="007F7B"/>
                </a:solidFill>
                <a:latin typeface="DejaVu Sans"/>
                <a:ea typeface="DejaVu Sans"/>
                <a:cs typeface="DejaVu Sans"/>
              </a:defRPr>
            </a:lvl6pPr>
            <a:lvl7pPr>
              <a:defRPr sz="2025" b="1">
                <a:solidFill>
                  <a:srgbClr val="007F7B"/>
                </a:solidFill>
                <a:latin typeface="DejaVu Sans"/>
                <a:ea typeface="DejaVu Sans"/>
                <a:cs typeface="DejaVu Sans"/>
              </a:defRPr>
            </a:lvl7pPr>
            <a:lvl8pPr>
              <a:defRPr sz="2025" b="1">
                <a:solidFill>
                  <a:srgbClr val="007F7B"/>
                </a:solidFill>
                <a:latin typeface="DejaVu Sans"/>
                <a:ea typeface="DejaVu Sans"/>
                <a:cs typeface="DejaVu Sans"/>
              </a:defRPr>
            </a:lvl8pPr>
            <a:lvl9pPr>
              <a:defRPr sz="2025" b="1">
                <a:solidFill>
                  <a:srgbClr val="007F7B"/>
                </a:solidFill>
                <a:latin typeface="DejaVu Sans"/>
                <a:ea typeface="DejaVu Sans"/>
                <a:cs typeface="DejaVu Sans"/>
              </a:defRPr>
            </a:lvl9pPr>
          </a:lstStyle>
          <a:p>
            <a:pPr>
              <a:defRPr sz="2025" b="1">
                <a:solidFill>
                  <a:srgbClr val="007F7B"/>
                </a:solidFill>
                <a:latin typeface="DejaVu Sans"/>
                <a:ea typeface="DejaVu Sans"/>
                <a:cs typeface="DejaVu Sans"/>
              </a:defRPr>
            </a:pPr>
            <a:r>
              <a:rPr sz="2025" b="1">
                <a:solidFill>
                  <a:srgbClr val="007F7B"/>
                </a:solidFill>
                <a:latin typeface="DejaVu Sans"/>
                <a:ea typeface="DejaVu Sans"/>
                <a:cs typeface="DejaVu Sans"/>
              </a:rPr>
              <a:t>Acuerdos esperados: qué haremos, quién lo hará y cuáles serán los próximos pasos</a:t>
            </a:r>
          </a:p>
        </p:txBody>
      </p:sp>
    </p:spTree>
    <p:extLst>
      <p:ext uri="{BB962C8B-B14F-4D97-AF65-F5344CB8AC3E}">
        <p14:creationId xmlns:p14="http://schemas.microsoft.com/office/powerpoint/2010/main" val="184439128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3672</Words>
  <Application>Microsoft Macintosh PowerPoint</Application>
  <DocSecurity>0</DocSecurity>
  <PresentationFormat>Panorámica</PresentationFormat>
  <Paragraphs>232</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Aptos</vt:lpstr>
      <vt:lpstr>Arial</vt:lpstr>
      <vt:lpstr>DejaVu Sans</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ORDONEZ GUISCASHO EZEQUIEL HAFID</cp:lastModifiedBy>
  <cp:revision>1</cp:revision>
  <dcterms:created xsi:type="dcterms:W3CDTF">2026-10-18T18:47:44Z</dcterms:created>
  <dcterms:modified xsi:type="dcterms:W3CDTF">2026-10-19T03:03:32Z</dcterms:modified>
</cp:coreProperties>
</file>
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79" r:id="rId4"/>
    <p:sldId id="280" r:id="rId5"/>
    <p:sldId id="281" r:id="rId6"/>
    <p:sldId id="282" r:id="rId7"/>
    <p:sldId id="283" r:id="rId8"/>
    <p:sldId id="284" r:id="rId9"/>
    <p:sldId id="278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BC3FF9-F488-4FA9-A315-5164FC438641}" v="1" dt="2026-10-05T16:48:28.2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5898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20040" y="6592824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base de competencias profesionales | EPN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104120" y="6592824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operativo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revistas.uned.es/index.php/educacionxx1/article/download/20194/18929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cyt.fecyt.es/index.php/BORDON/article/view/68130/47913" TargetMode="External"/><Relationship Id="rId5" Type="http://schemas.openxmlformats.org/officeDocument/2006/relationships/hyperlink" Target="https://www.scielo.br/j/ep/a/3nvyrGqLggFfdrcmbrGPSbG/?lang=es" TargetMode="External"/><Relationship Id="rId4" Type="http://schemas.openxmlformats.org/officeDocument/2006/relationships/hyperlink" Target="https://revistaseug.ugr.es/index.php/profesorado/es/article/view/15041/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5349240"/>
            <a:ext cx="12191695" cy="121615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9875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Línea base cuantitativa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de competencias profesionales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265176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8F5"/>
                </a:solidFill>
              </a:rPr>
              <a:t>Estrategia muestral + CECTGRA + evaluación de tutores + base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8368" y="5760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49960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¿Qué se quiere construir?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14711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línea base con evidencia de percepción, desempeño observado y antecedentes académicos.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955800"/>
            <a:ext cx="35204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502920" y="1955800"/>
            <a:ext cx="73152" cy="169164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667512" y="2065528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65D"/>
                </a:solidFill>
              </a:rPr>
              <a:t>Fuente 1 — Estudiante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7512" y="2394712"/>
            <a:ext cx="3264408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CECTGRA </a:t>
            </a:r>
            <a:r>
              <a:rPr lang="en-US" sz="1200" dirty="0" err="1">
                <a:solidFill>
                  <a:srgbClr val="1F2937"/>
                </a:solidFill>
              </a:rPr>
              <a:t>enfocado</a:t>
            </a:r>
            <a:r>
              <a:rPr lang="en-US" sz="1200" dirty="0">
                <a:solidFill>
                  <a:srgbClr val="1F2937"/>
                </a:solidFill>
              </a:rPr>
              <a:t> al </a:t>
            </a:r>
            <a:r>
              <a:rPr lang="en-US" sz="1200" dirty="0" err="1">
                <a:solidFill>
                  <a:srgbClr val="1F2937"/>
                </a:solidFill>
              </a:rPr>
              <a:t>estudiante</a:t>
            </a:r>
            <a:r>
              <a:rPr lang="en-US" sz="1200" dirty="0">
                <a:solidFill>
                  <a:srgbClr val="1F2937"/>
                </a:solidFill>
              </a:rPr>
              <a:t>, </a:t>
            </a:r>
            <a:r>
              <a:rPr lang="en-US" sz="1200" dirty="0" err="1">
                <a:solidFill>
                  <a:srgbClr val="1F2937"/>
                </a:solidFill>
              </a:rPr>
              <a:t>filtración</a:t>
            </a:r>
            <a:r>
              <a:rPr lang="en-US" sz="1200" dirty="0">
                <a:solidFill>
                  <a:srgbClr val="1F2937"/>
                </a:solidFill>
              </a:rPr>
              <a:t> de </a:t>
            </a:r>
            <a:r>
              <a:rPr lang="en-US" sz="1200" dirty="0" err="1">
                <a:solidFill>
                  <a:srgbClr val="1F2937"/>
                </a:solidFill>
              </a:rPr>
              <a:t>preguntas</a:t>
            </a:r>
            <a:r>
              <a:rPr lang="en-US" sz="1200" dirty="0">
                <a:solidFill>
                  <a:srgbClr val="1F2937"/>
                </a:solidFill>
              </a:rPr>
              <a:t> </a:t>
            </a:r>
            <a:r>
              <a:rPr lang="en-US" sz="1200" dirty="0" err="1">
                <a:solidFill>
                  <a:srgbClr val="1F2937"/>
                </a:solidFill>
              </a:rPr>
              <a:t>escenciales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955800"/>
            <a:ext cx="35204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Shape 7"/>
          <p:cNvSpPr/>
          <p:nvPr/>
        </p:nvSpPr>
        <p:spPr>
          <a:xfrm>
            <a:off x="4343400" y="1955800"/>
            <a:ext cx="73152" cy="16916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4507992" y="2065528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65D"/>
                </a:solidFill>
              </a:rPr>
              <a:t>Fuente 2 — Tutor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07992" y="2394712"/>
            <a:ext cx="3264408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1F2937"/>
                </a:solidFill>
              </a:rPr>
              <a:t>Preguntas</a:t>
            </a:r>
            <a:r>
              <a:rPr lang="en-US" sz="1200" dirty="0">
                <a:solidFill>
                  <a:srgbClr val="1F2937"/>
                </a:solidFill>
              </a:rPr>
              <a:t> del CECTGRA </a:t>
            </a:r>
            <a:r>
              <a:rPr lang="en-US" sz="1200" dirty="0" err="1">
                <a:solidFill>
                  <a:srgbClr val="1F2937"/>
                </a:solidFill>
              </a:rPr>
              <a:t>aplicadas</a:t>
            </a:r>
            <a:r>
              <a:rPr lang="en-US" sz="1200" dirty="0">
                <a:solidFill>
                  <a:srgbClr val="1F2937"/>
                </a:solidFill>
              </a:rPr>
              <a:t> </a:t>
            </a:r>
            <a:r>
              <a:rPr lang="en-US" sz="1200" dirty="0" err="1">
                <a:solidFill>
                  <a:srgbClr val="1F2937"/>
                </a:solidFill>
              </a:rPr>
              <a:t>en</a:t>
            </a:r>
            <a:r>
              <a:rPr lang="en-US" sz="1200" dirty="0">
                <a:solidFill>
                  <a:srgbClr val="1F2937"/>
                </a:solidFill>
              </a:rPr>
              <a:t> forma de consulta </a:t>
            </a:r>
            <a:r>
              <a:rPr lang="en-US" sz="1200" dirty="0" err="1">
                <a:solidFill>
                  <a:srgbClr val="1F2937"/>
                </a:solidFill>
              </a:rPr>
              <a:t>hacia</a:t>
            </a:r>
            <a:r>
              <a:rPr lang="en-US" sz="1200" dirty="0">
                <a:solidFill>
                  <a:srgbClr val="1F2937"/>
                </a:solidFill>
              </a:rPr>
              <a:t> el tutor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83880" y="1955800"/>
            <a:ext cx="35204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Shape 11"/>
          <p:cNvSpPr/>
          <p:nvPr/>
        </p:nvSpPr>
        <p:spPr>
          <a:xfrm>
            <a:off x="8183880" y="1955800"/>
            <a:ext cx="73152" cy="16916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8348472" y="2065528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65D"/>
                </a:solidFill>
              </a:rPr>
              <a:t>Fuente 3 — Registros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48472" y="2394712"/>
            <a:ext cx="3264408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Notas y variables académicas vinculadas </a:t>
            </a:r>
            <a:r>
              <a:rPr lang="en-US" sz="1200" dirty="0" err="1">
                <a:solidFill>
                  <a:srgbClr val="1F2937"/>
                </a:solidFill>
              </a:rPr>
              <a:t>mediante</a:t>
            </a:r>
            <a:r>
              <a:rPr lang="en-US" sz="1200" dirty="0">
                <a:solidFill>
                  <a:srgbClr val="1F2937"/>
                </a:solidFill>
              </a:rPr>
              <a:t> id’s</a:t>
            </a:r>
            <a:endParaRPr lang="en-US" sz="12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39" name="Shape 5">
            <a:extLst>
              <a:ext uri="{FF2B5EF4-FFF2-40B4-BE49-F238E27FC236}">
                <a16:creationId xmlns:a16="http://schemas.microsoft.com/office/drawing/2014/main" id="{79343A5B-2A2B-C32E-EE88-7999790B4258}"/>
              </a:ext>
            </a:extLst>
          </p:cNvPr>
          <p:cNvSpPr/>
          <p:nvPr/>
        </p:nvSpPr>
        <p:spPr>
          <a:xfrm>
            <a:off x="2223008" y="4897629"/>
            <a:ext cx="1783080" cy="310896"/>
          </a:xfrm>
          <a:prstGeom prst="roundRect">
            <a:avLst>
              <a:gd name="adj" fmla="val 14706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70F97D02-94F9-10A7-5BE8-AE1BA9A4349B}"/>
              </a:ext>
            </a:extLst>
          </p:cNvPr>
          <p:cNvSpPr/>
          <p:nvPr/>
        </p:nvSpPr>
        <p:spPr>
          <a:xfrm>
            <a:off x="2250440" y="4966209"/>
            <a:ext cx="1728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250 estudiantes</a:t>
            </a:r>
            <a:endParaRPr lang="en-US" sz="1000" dirty="0"/>
          </a:p>
        </p:txBody>
      </p:sp>
      <p:sp>
        <p:nvSpPr>
          <p:cNvPr id="41" name="Shape 7">
            <a:extLst>
              <a:ext uri="{FF2B5EF4-FFF2-40B4-BE49-F238E27FC236}">
                <a16:creationId xmlns:a16="http://schemas.microsoft.com/office/drawing/2014/main" id="{19994EC4-EF0D-1724-6B2A-AFB29363924A}"/>
              </a:ext>
            </a:extLst>
          </p:cNvPr>
          <p:cNvSpPr/>
          <p:nvPr/>
        </p:nvSpPr>
        <p:spPr>
          <a:xfrm>
            <a:off x="4143248" y="4897629"/>
            <a:ext cx="1755648" cy="310896"/>
          </a:xfrm>
          <a:prstGeom prst="roundRect">
            <a:avLst>
              <a:gd name="adj" fmla="val 14706"/>
            </a:avLst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" name="Text 8">
            <a:extLst>
              <a:ext uri="{FF2B5EF4-FFF2-40B4-BE49-F238E27FC236}">
                <a16:creationId xmlns:a16="http://schemas.microsoft.com/office/drawing/2014/main" id="{036A05F8-6972-2AFC-6100-3CC11D236EF0}"/>
              </a:ext>
            </a:extLst>
          </p:cNvPr>
          <p:cNvSpPr/>
          <p:nvPr/>
        </p:nvSpPr>
        <p:spPr>
          <a:xfrm>
            <a:off x="4170680" y="4966209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57 unidades</a:t>
            </a:r>
            <a:endParaRPr lang="en-US" sz="1000" dirty="0"/>
          </a:p>
        </p:txBody>
      </p:sp>
      <p:sp>
        <p:nvSpPr>
          <p:cNvPr id="43" name="Shape 9">
            <a:extLst>
              <a:ext uri="{FF2B5EF4-FFF2-40B4-BE49-F238E27FC236}">
                <a16:creationId xmlns:a16="http://schemas.microsoft.com/office/drawing/2014/main" id="{11B2DCA0-F204-A804-ACDD-46141DA4BA2F}"/>
              </a:ext>
            </a:extLst>
          </p:cNvPr>
          <p:cNvSpPr/>
          <p:nvPr/>
        </p:nvSpPr>
        <p:spPr>
          <a:xfrm>
            <a:off x="6045200" y="4897629"/>
            <a:ext cx="1783080" cy="310896"/>
          </a:xfrm>
          <a:prstGeom prst="roundRect">
            <a:avLst>
              <a:gd name="adj" fmla="val 14706"/>
            </a:avLst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F5C6FED-A98C-6761-E72F-89EBDECCF4D7}"/>
              </a:ext>
            </a:extLst>
          </p:cNvPr>
          <p:cNvSpPr/>
          <p:nvPr/>
        </p:nvSpPr>
        <p:spPr>
          <a:xfrm>
            <a:off x="6072632" y="4966209"/>
            <a:ext cx="1728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15 competencias</a:t>
            </a:r>
            <a:endParaRPr lang="en-US" sz="1000" dirty="0"/>
          </a:p>
        </p:txBody>
      </p:sp>
      <p:sp>
        <p:nvSpPr>
          <p:cNvPr id="45" name="Shape 11">
            <a:extLst>
              <a:ext uri="{FF2B5EF4-FFF2-40B4-BE49-F238E27FC236}">
                <a16:creationId xmlns:a16="http://schemas.microsoft.com/office/drawing/2014/main" id="{B04F5CCA-2320-FA25-59B4-BE96B566BA71}"/>
              </a:ext>
            </a:extLst>
          </p:cNvPr>
          <p:cNvSpPr/>
          <p:nvPr/>
        </p:nvSpPr>
        <p:spPr>
          <a:xfrm>
            <a:off x="7983728" y="4897629"/>
            <a:ext cx="1783080" cy="310896"/>
          </a:xfrm>
          <a:prstGeom prst="roundRect">
            <a:avLst>
              <a:gd name="adj" fmla="val 14706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2461376B-1E44-87E0-17C8-1BA902167156}"/>
              </a:ext>
            </a:extLst>
          </p:cNvPr>
          <p:cNvSpPr/>
          <p:nvPr/>
        </p:nvSpPr>
        <p:spPr>
          <a:xfrm>
            <a:off x="8011160" y="4966209"/>
            <a:ext cx="1728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 dimensiones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28206B3-2D16-B010-567A-B75019B6B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19" y="285671"/>
            <a:ext cx="9705859" cy="5871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07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83FF8C9-D072-4EC3-B7C3-138614255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809" y="0"/>
            <a:ext cx="6302111" cy="6381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257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618210B1-A664-B82B-6D6D-00AA488B9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101" y="132080"/>
            <a:ext cx="5635299" cy="610261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DB688EE4-29EF-7155-E23F-6F5CC086A885}"/>
              </a:ext>
            </a:extLst>
          </p:cNvPr>
          <p:cNvSpPr txBox="1"/>
          <p:nvPr/>
        </p:nvSpPr>
        <p:spPr>
          <a:xfrm>
            <a:off x="416560" y="426720"/>
            <a:ext cx="198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/>
              <a:t>Preguntas CECTGRA:</a:t>
            </a:r>
          </a:p>
        </p:txBody>
      </p:sp>
    </p:spTree>
    <p:extLst>
      <p:ext uri="{BB962C8B-B14F-4D97-AF65-F5344CB8AC3E}">
        <p14:creationId xmlns:p14="http://schemas.microsoft.com/office/powerpoint/2010/main" val="101735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B609A89-774F-6727-8DA4-E779555F6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4843" y="0"/>
            <a:ext cx="4920183" cy="633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512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B15C5D73-1BFE-C284-DCBD-D6A1F9A13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999" y="0"/>
            <a:ext cx="4709201" cy="652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181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B06D0DA-9115-1EA2-CFBB-D7FFF2893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520" y="205671"/>
            <a:ext cx="7772400" cy="5755777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CD46E197-4FFE-4A8D-BF1E-345DFC2A902A}"/>
              </a:ext>
            </a:extLst>
          </p:cNvPr>
          <p:cNvSpPr/>
          <p:nvPr/>
        </p:nvSpPr>
        <p:spPr>
          <a:xfrm>
            <a:off x="330200" y="5737929"/>
            <a:ext cx="107899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El CECTGRA original reporta una estructura de 57 unidades agrupadas en 15 competencias; la evidencia psicométrica original no sustituye la validación de la adaptación EPN ni de la versión Tutor.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133990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107899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285750" indent="-285750">
              <a:buFontTx/>
              <a:buChar char="-"/>
            </a:pPr>
            <a:r>
              <a:rPr lang="en-US" sz="1600" b="1" dirty="0">
                <a:solidFill>
                  <a:srgbClr val="17365D"/>
                </a:solidFill>
              </a:rPr>
              <a:t>Martínez Clares, P. &amp; González Morga, N. (2018). Las competencias transversales en la universidad: propiedades psicométricas de un cuestionario. Educación XX1, 21(1), 231–262.</a:t>
            </a:r>
          </a:p>
          <a:p>
            <a:pPr marL="285750" indent="-285750">
              <a:buFontTx/>
              <a:buChar char="-"/>
            </a:pPr>
            <a:endParaRPr lang="en-US" sz="1600" b="1" dirty="0">
              <a:solidFill>
                <a:srgbClr val="17365D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600" b="1" dirty="0">
                <a:solidFill>
                  <a:srgbClr val="17365D"/>
                </a:solidFill>
              </a:rPr>
              <a:t>Links extras: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2011680"/>
            <a:ext cx="107899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F75B5"/>
                </a:solidFill>
                <a:hlinkClick r:id="rId3"/>
              </a:rPr>
              <a:t>https://revistas.uned.es/index.php/educacionxx1/article/download/20194/18929</a:t>
            </a:r>
            <a:endParaRPr lang="en-US" sz="1300" dirty="0">
              <a:solidFill>
                <a:srgbClr val="2F75B5"/>
              </a:solidFill>
            </a:endParaRPr>
          </a:p>
          <a:p>
            <a:r>
              <a:rPr lang="en-US" sz="1300" dirty="0">
                <a:solidFill>
                  <a:srgbClr val="2F75B5"/>
                </a:solidFill>
                <a:hlinkClick r:id="rId4"/>
              </a:rPr>
              <a:t>https://revistaseug.ugr.es/index.php/profesorado/es/article/view/15041/pdf</a:t>
            </a:r>
            <a:r>
              <a:rPr lang="en-US" sz="1300" dirty="0">
                <a:solidFill>
                  <a:srgbClr val="2F75B5"/>
                </a:solidFill>
              </a:rPr>
              <a:t> </a:t>
            </a:r>
          </a:p>
          <a:p>
            <a:r>
              <a:rPr lang="en-US" sz="1300" dirty="0">
                <a:solidFill>
                  <a:srgbClr val="2F75B5"/>
                </a:solidFill>
                <a:hlinkClick r:id="rId5"/>
              </a:rPr>
              <a:t>https://www.scielo.br/j/ep/a/3nvyrGqLggFfdrcmbrGPSbG/?lang=es</a:t>
            </a:r>
            <a:endParaRPr lang="en-US" sz="1300" dirty="0">
              <a:solidFill>
                <a:srgbClr val="2F75B5"/>
              </a:solidFill>
            </a:endParaRPr>
          </a:p>
          <a:p>
            <a:r>
              <a:rPr lang="en-US" sz="1300" dirty="0">
                <a:solidFill>
                  <a:srgbClr val="2F75B5"/>
                </a:solidFill>
                <a:hlinkClick r:id="rId6"/>
              </a:rPr>
              <a:t>https://recyt.fecyt.es/index.php/BORDON/article/view/68130/47913</a:t>
            </a:r>
            <a:endParaRPr lang="en-US" sz="1300" dirty="0">
              <a:solidFill>
                <a:srgbClr val="2F75B5"/>
              </a:solidFill>
            </a:endParaRPr>
          </a:p>
          <a:p>
            <a:r>
              <a:rPr lang="en-US" sz="1300" dirty="0">
                <a:solidFill>
                  <a:srgbClr val="2F75B5"/>
                </a:solidFill>
              </a:rPr>
              <a:t>  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22192" y="5097780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Instrumento base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62472" y="5097780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Adaptación EPN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302752" y="5097780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Validación propia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250</Words>
  <Application>Microsoft Macintosh PowerPoint</Application>
  <PresentationFormat>Panorámica</PresentationFormat>
  <Paragraphs>35</Paragraphs>
  <Slides>9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Escuela Politécnica Nacional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operativo — Línea base de competencias profesionales</dc:title>
  <dc:subject>Plan operativo de línea base de competencias profesionales EPN</dc:subject>
  <dc:creator>OpenAI</dc:creator>
  <cp:lastModifiedBy>ORDONEZ GUISCASHO EZEQUIEL HAFID</cp:lastModifiedBy>
  <cp:revision>4</cp:revision>
  <dcterms:created xsi:type="dcterms:W3CDTF">2026-10-05T12:44:04Z</dcterms:created>
  <dcterms:modified xsi:type="dcterms:W3CDTF">2026-10-06T04:41:02Z</dcterms:modified>
</cp:coreProperties>
</file>